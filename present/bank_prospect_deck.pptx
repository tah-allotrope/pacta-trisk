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9" r:id="rId1"/>
    <p:sldMasterId id="2147483720" r:id="rId2"/>
    <p:sldMasterId id="2147483721" r:id="rId3"/>
    <p:sldMasterId id="2147483722" r:id="rId4"/>
    <p:sldMasterId id="2147483723" r:id="rId5"/>
  </p:sldMasterIdLst>
  <p:notesMasterIdLst>
    <p:notesMasterId r:id="rId31"/>
  </p:notesMasterIdLst>
  <p:sldIdLst>
    <p:sldId id="256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0" r:id="rId21"/>
    <p:sldId id="281" r:id="rId22"/>
  </p:sldIdLst>
  <p:sldSz cx="9144000" cy="5143500" type="screen16x9"/>
  <p:notesSz cx="6858000" cy="9144000"/>
  <p:embeddedFontLst>
    <p:embeddedFont>
      <p:font typeface="Cabin" panose="020B0604020202020204" charset="0"/>
      <p:regular r:id="rId32"/>
      <p:bold r:id="rId33"/>
      <p:italic r:id="rId34"/>
      <p:boldItalic r:id="rId35"/>
    </p:embeddedFont>
    <p:embeddedFont>
      <p:font typeface="Cabin Medium" panose="020B0604020202020204" charset="0"/>
      <p:regular r:id="rId36"/>
      <p:bold r:id="rId37"/>
      <p:italic r:id="rId38"/>
      <p:boldItalic r:id="rId39"/>
    </p:embeddedFont>
    <p:embeddedFont>
      <p:font typeface="Montserrat" panose="00000500000000000000" pitchFamily="2" charset="0"/>
      <p:regular r:id="rId40"/>
      <p:bold r:id="rId41"/>
      <p:italic r:id="rId42"/>
      <p:boldItalic r:id="rId43"/>
    </p:embeddedFont>
    <p:embeddedFont>
      <p:font typeface="Roboto" panose="02000000000000000000" pitchFamily="2" charset="0"/>
      <p:regular r:id="rId44"/>
      <p:bold r:id="rId45"/>
      <p:italic r:id="rId46"/>
      <p:boldItalic r:id="rId47"/>
    </p:embeddedFont>
    <p:embeddedFont>
      <p:font typeface="Roboto Thin" panose="020F0502020204030204" pitchFamily="2" charset="0"/>
      <p:regular r:id="rId48"/>
      <p:bold r:id="rId49"/>
      <p:italic r:id="rId50"/>
      <p:boldItalic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elle Murphy Rogers" initials="" lastIdx="5" clrIdx="0"/>
  <p:cmAuthor id="1" name="Hang Tran" initials="" lastIdx="4" clrIdx="1"/>
  <p:cmAuthor id="2" name="Tung Ho" initials="" lastIdx="5" clrIdx="2"/>
  <p:cmAuthor id="3" name="Hong Anh Le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5FF242-65BD-4BEC-9965-0DD7952A758F}">
  <a:tblStyle styleId="{875FF242-65BD-4BEC-9965-0DD7952A75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10B0612-A9F4-49DA-BEA1-DD1CF77D77B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font" Target="fonts/font7.fntdata"/><Relationship Id="rId39" Type="http://schemas.openxmlformats.org/officeDocument/2006/relationships/font" Target="fonts/font8.fntdata"/><Relationship Id="rId40" Type="http://schemas.openxmlformats.org/officeDocument/2006/relationships/font" Target="fonts/font9.fntdata"/><Relationship Id="rId41" Type="http://schemas.openxmlformats.org/officeDocument/2006/relationships/font" Target="fonts/font10.fntdata"/><Relationship Id="rId42" Type="http://schemas.openxmlformats.org/officeDocument/2006/relationships/font" Target="fonts/font11.fntdata"/><Relationship Id="rId43" Type="http://schemas.openxmlformats.org/officeDocument/2006/relationships/font" Target="fonts/font12.fntdata"/><Relationship Id="rId44" Type="http://schemas.openxmlformats.org/officeDocument/2006/relationships/font" Target="fonts/font13.fntdata"/><Relationship Id="rId45" Type="http://schemas.openxmlformats.org/officeDocument/2006/relationships/font" Target="fonts/font14.fntdata"/><Relationship Id="rId46" Type="http://schemas.openxmlformats.org/officeDocument/2006/relationships/font" Target="fonts/font15.fntdata"/><Relationship Id="rId47" Type="http://schemas.openxmlformats.org/officeDocument/2006/relationships/font" Target="fonts/font16.fntdata"/><Relationship Id="rId48" Type="http://schemas.openxmlformats.org/officeDocument/2006/relationships/font" Target="fonts/font17.fntdata"/><Relationship Id="rId49" Type="http://schemas.openxmlformats.org/officeDocument/2006/relationships/font" Target="fonts/font18.fntdata"/><Relationship Id="rId50" Type="http://schemas.openxmlformats.org/officeDocument/2006/relationships/font" Target="fonts/font19.fntdata"/><Relationship Id="rId51" Type="http://schemas.openxmlformats.org/officeDocument/2006/relationships/font" Target="fonts/font20.fntdata"/><Relationship Id="rId52" Type="http://schemas.openxmlformats.org/officeDocument/2006/relationships/font" Target="fonts/font21.fntdata"/><Relationship Id="rId53" Type="http://schemas.openxmlformats.org/officeDocument/2006/relationships/font" Target="fonts/font22.fntdata"/><Relationship Id="rId54" Type="http://schemas.openxmlformats.org/officeDocument/2006/relationships/font" Target="fonts/font23.fntdata"/><Relationship Id="rId55" Type="http://schemas.openxmlformats.org/officeDocument/2006/relationships/font" Target="fonts/font24.fntdata"/><Relationship Id="rId56" Type="http://schemas.openxmlformats.org/officeDocument/2006/relationships/commentAuthors" Target="commentAuthors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12-15T17:10:50.712" idx="1">
    <p:pos x="6000" y="0"/>
    <p:text>Old version for reference.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Relationship Id="rId3" Type="http://schemas.openxmlformats.org/officeDocument/2006/relationships/hyperlink" Target="https://docs.google.com/document/d/1lNu75DV_dsuDCatkWwJVwZ9P2aEZFXGAneJqEtYxiqg/edit?usp=drive_web&amp;ouid=110129334967514612996" TargetMode="External"/><Relationship Id="rId4" Type="http://schemas.openxmlformats.org/officeDocument/2006/relationships/hyperlink" Target="https://docs.google.com/document/d/1vjYSWf2AaXVCbPSylEtoetOKLXQMj9b5tsP8fW8z96o/edit?usp=drive_web&amp;ouid=110129334967514612996" TargetMode="External"/><Relationship Id="rId5" Type="http://schemas.openxmlformats.org/officeDocument/2006/relationships/hyperlink" Target="https://docs.google.com/document/d/1tMYTZ2FfYfJdRIqlDjr8YqoAzWhzYb17o7RIIhdDynQ/edit?tab=t.0" TargetMode="External"/><Relationship Id="rId6" Type="http://schemas.openxmlformats.org/officeDocument/2006/relationships/hyperlink" Target="https://docs.google.com/spreadsheets/d/18a7bp3UjUb8URdInX1H4RCImk-Vgo7Il/edit?gid=2002645182#gid=2002645182" TargetMode="External"/><Relationship Id="rId7" Type="http://schemas.openxmlformats.org/officeDocument/2006/relationships/hyperlink" Target="https://docs.google.com/spreadsheets/d/11nW9LrXcM_mSuRHxOyVrIn4Wu0-rCcej/edit?usp=drive_web&amp;ouid=110129334967514612996&amp;rtpof=true" TargetMode="External"/><Relationship Id="rId8" Type="http://schemas.openxmlformats.org/officeDocument/2006/relationships/hyperlink" Target="https://docs.google.com/document/d/1FiCTE8AymsQRhkmPor6S4CtBSLjauuRa4oCbpskTXGw/edit?tab=t.0" TargetMode="External"/><Relationship Id="rId9" Type="http://schemas.openxmlformats.org/officeDocument/2006/relationships/hyperlink" Target="https://docs.google.com/document/d/1ffcBplqD6JFLn95i4aYfDnWSWDNL3njL8PM5qyaYoBk/edit?usp=drive_web&amp;ouid=110129334967514612996" TargetMode="External"/><Relationship Id="rId10" Type="http://schemas.openxmlformats.org/officeDocument/2006/relationships/hyperlink" Target="https://docs.google.com/document/d/1bo-TW5PvIBaRl-rAglnwz3v8at7ORtgOVaxXfDxda5Q/edit?tab=t.0" TargetMode="External"/><Relationship Id="rId11" Type="http://schemas.openxmlformats.org/officeDocument/2006/relationships/hyperlink" Target="https://docs.google.com/document/d/1TOyMDouelzQ7ZwE_c7xdmpuhLcWhGLw71QwABO6-U1U/edit?tab=t.0" TargetMode="Externa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7e9bc3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7e9bc3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Welcome and introductions. This deck presents our PACTA + TRISK analytics stack for Vietnamese banks navigating Decision 263 and transition-risk compliance.</a:t>
            </a:r>
            <a:endParaRPr/>
          </a:p>
          <a:p/>
          <a:p>
            <a:r>
              <a:t>Key message: We offer an integrated, open-source, no-licensing-fee solution that takes a bank from GHG inventory through portfolio alignment to borrower-level stress testing and IFRS S2 disclosure.</a:t>
            </a:r>
          </a:p>
          <a:p/>
          <a:p>
            <a:r>
              <a:t>Synthetic data disclaimer: All case-study results in this deck use illustrative synthetic data — not actual portfolio results.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f7e9bc34a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Walk through the four-part agenda:</a:t>
            </a:r>
            <a:endParaRPr/>
          </a:p>
          <a:p>
            <a:r>
              <a:t>1. The Problem — Decision 263 mandates and the analytical gap</a:t>
            </a:r>
          </a:p>
          <a:p>
            <a:r>
              <a:t>2. Our Approach — Three-layer compliance stack (PCAF, PACTA, TRISK)</a:t>
            </a:r>
          </a:p>
          <a:p>
            <a:r>
              <a:t>3. Case Study — Vietnam bank demo with synthetic data</a:t>
            </a:r>
          </a:p>
          <a:p>
            <a:r>
              <a:t>4. Next Steps — How to engage and timeline</a:t>
            </a:r>
          </a:p>
        </p:txBody>
      </p:sp>
      <p:sp>
        <p:nvSpPr>
          <p:cNvPr id="416" name="Google Shape;416;g3af7e9bc34a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afa97814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afa97814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Frame the challenge: Decision 263/QĐ-TTg (signed July 2024) requires banks to: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Report GHG emissions from financed activities</a:t>
            </a:r>
          </a:p>
          <a:p>
            <a:r>
              <a:t>- Set reduction targets aligned with Vietnam's NDC (43.5% conditional by 2030)</a:t>
            </a:r>
          </a:p>
          <a:p>
            <a:r>
              <a:t>- Develop transition plans for high-carbon borrowers</a:t>
            </a:r>
          </a:p>
          <a:p/>
          <a:p>
            <a:r>
              <a:t>The problem: Most Vietnamese banks lack the analytical tools to quantify portfolio alignment or borrower-level financial stress under transition scenarios.</a:t>
            </a:r>
          </a:p>
          <a:p/>
          <a:p>
            <a:r>
              <a:t>Ask: 'How is your bank currently assessing transition risk for your loan portfolio?'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b081b3d2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3b081b3d2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Present the four-layer stack: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Layer 1 PCAF: Measure — GHG inventory for Scope 1, 2, and 3 (financed and non-financed)</a:t>
            </a:r>
          </a:p>
          <a:p>
            <a:r>
              <a:t>- Layer 2 PACTA: Align — Portfolio alignment against PDP8, NDC, and IEA NZE scenarios</a:t>
            </a:r>
          </a:p>
          <a:p>
            <a:r>
              <a:t>- Layer 3 TRISK: Stress — Borrower-level NPV and PD impact under transition scenarios</a:t>
            </a:r>
          </a:p>
          <a:p>
            <a:r>
              <a:t>- Layer 4 IFRS S2: Disclose — TCFD/ISSB-compliant reporting outputs</a:t>
            </a:r>
          </a:p>
          <a:p/>
          <a:p>
            <a:r>
              <a:t>Key differentiator: All layers use open-source R packages (r2dii.*, pacta.loanbook, trisk.model) with no licensing fees. The stack is modular — banks can adopt one layer or all four.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b00ecbda0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2" name="Google Shape;462;g3b00ecbda0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PACTA deep-dive:</a:t>
            </a:r>
            <a:endParaRPr sz="1050">
              <a:solidFill>
                <a:srgbClr val="444746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t>- Market-share method for power and automotive sectors</a:t>
            </a:r>
          </a:p>
          <a:p>
            <a:r>
              <a:t>- Sectoral Decarbonization Approach (SDA) for cement and steel</a:t>
            </a:r>
          </a:p>
          <a:p>
            <a:r>
              <a:t>- Fuzzy matching with manual review for Vietnamese company names</a:t>
            </a:r>
          </a:p>
          <a:p>
            <a:r>
              <a:t>- Custom PDP8 scenario interpolation from Vietnam's Power Development Plan 8</a:t>
            </a:r>
          </a:p>
          <a:p/>
          <a:p>
            <a:r>
              <a:t>Synthetic demo results: 43-loan portfolio (~$1B USD) shows coal capacity 28% above PDP8 target and renewables 15% below 2030 trajectory.</a:t>
            </a:r>
          </a:p>
          <a:p/>
          <a:p>
            <a:r>
              <a:t>Emphasize: Company-level results enable borrower-specific engagement, not just portfolio-level averages.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b081b3d21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9" name="Google Shape;479;g3b081b3d21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TRISK deep-dive:</a:t>
            </a:r>
            <a:endParaRPr b="1">
              <a:solidFill>
                <a:srgbClr val="222222"/>
              </a:solidFill>
              <a:highlight>
                <a:srgbClr val="FFFFFF"/>
              </a:highlight>
            </a:endParaRPr>
          </a:p>
          <a:p>
            <a:r>
              <a:t>- DCF-based NPV modeling for each borrower's physical assets</a:t>
            </a:r>
          </a:p>
          <a:p>
            <a:r>
              <a:t>- Merton-model PD estimation under transition stress</a:t>
            </a:r>
          </a:p>
          <a:p>
            <a:r>
              <a:t>- Five configurable levers: shock year, discount rate, risk-free rate, market passthrough, carbon-price family</a:t>
            </a:r>
          </a:p>
          <a:p>
            <a:r>
              <a:t>- Sensitivity analysis built into the Scenario Builder dashboard page</a:t>
            </a:r>
          </a:p>
          <a:p/>
          <a:p>
            <a:r>
              <a:t>Key finding: Coal-heavy borrowers show -12% to -18% NPV change under NZE-aligned stress, while renewable-focused borrowers benefit from transition tailwinds (+8% NPV).</a:t>
            </a:r>
          </a:p>
          <a:p/>
          <a:p>
            <a:r>
              <a:t>Emphasize: Results update instantly — no recomputation needed when levers change.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af7e9bc34a_0_10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Case study: Power sector alignment</a:t>
            </a:r>
            <a:endParaRPr/>
          </a:p>
          <a:p>
            <a:r>
              <a:t>- Synthetic MCB portfolio: 43 loans across power, automotive, cement, steel, coal</a:t>
            </a:r>
          </a:p>
          <a:p>
            <a:r>
              <a:t>- Power mix: Coal 28%, Gas 12%, Hydro 10%, Solar 8%, Wind 5%</a:t>
            </a:r>
          </a:p>
          <a:p>
            <a:r>
              <a:t>- PDP8 target: Coal phase-down, renewables must triple by 2030</a:t>
            </a:r>
          </a:p>
          <a:p>
            <a:r>
              <a:t>- Gap: Coal capacity 28% above target; renewables 15% below</a:t>
            </a:r>
          </a:p>
          <a:p/>
          <a:p>
            <a:r>
              <a:t>Point to the alignment overview chart: Red bars = misaligned, green bars = aligned.</a:t>
            </a:r>
          </a:p>
          <a:p/>
          <a:p>
            <a:r>
              <a:t>Disclaimer reminder: This is illustrative synthetic data. Real bank results will differ based on actual loanbook composition.</a:t>
            </a:r>
          </a:p>
        </p:txBody>
      </p:sp>
      <p:sp>
        <p:nvSpPr>
          <p:cNvPr id="503" name="Google Shape;503;g3af7e9bc34a_0_10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af7e9bc34a_0_11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Case study: TRISK borrower stress rankings</a:t>
            </a:r>
            <a:endParaRPr/>
          </a:p>
          <a:p>
            <a:r>
              <a:t>- Priority score combines alignment gap, NPV change, and exposure weight</a:t>
            </a:r>
          </a:p>
          <a:p>
            <a:r>
              <a:t>- Top stressed borrowers: Coal-heavy names (Vinh Tan, Duyen Hai, Mong Duong) show highest NPV decline and PD increase</a:t>
            </a:r>
          </a:p>
          <a:p>
            <a:r>
              <a:t>- Renewable-focused borrowers (Trung Nam, BIM) benefit from transition tailwinds</a:t>
            </a:r>
          </a:p>
          <a:p/>
          <a:p>
            <a:r>
              <a:t>Point to the three charts:</a:t>
            </a:r>
          </a:p>
          <a:p>
            <a:r>
              <a:t>1. Priority score ranking (top 10)</a:t>
            </a:r>
          </a:p>
          <a:p>
            <a:r>
              <a:t>2. PD change by borrower</a:t>
            </a:r>
          </a:p>
          <a:p>
            <a:r>
              <a:t>3. Coal stranded risk visualization</a:t>
            </a:r>
          </a:p>
          <a:p/>
          <a:p>
            <a:r>
              <a:t>Key insight: One-size engagement fails. Borrower-specific data enables targeted transition planning.</a:t>
            </a:r>
          </a:p>
        </p:txBody>
      </p:sp>
      <p:sp>
        <p:nvSpPr>
          <p:cNvPr id="511" name="Google Shape;511;g3af7e9bc34a_0_1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af7e9bc34a_0_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3af7e9bc34a_0_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Five key takeaways from the case study:</a:t>
            </a:r>
            <a:endParaRPr/>
          </a:p>
          <a:p>
            <a:r>
              <a:t>1. Coal Stranded Risk: 28% of portfolio coal capacity exceeds PDP8 phase-down trajectory. BOT plants face cliff-edge decline post-PPA expiry (~2035).</a:t>
            </a:r>
          </a:p>
          <a:p>
            <a:r>
              <a:t>2. Renewables Gap: Solar and wind capacity must triple to align with PDP8.</a:t>
            </a:r>
          </a:p>
          <a:p>
            <a:r>
              <a:t>3. Borrower Heterogeneity: NPV impact ranges from -18% (coal) to +8% (renewables).</a:t>
            </a:r>
          </a:p>
          <a:p>
            <a:r>
              <a:t>4. Decision 263 Readiness: Three-layer stack addresses all requirements.</a:t>
            </a:r>
          </a:p>
          <a:p>
            <a:r>
              <a:t>5. Interactive Exploration: Live dashboard with Scenario Builder.</a:t>
            </a:r>
          </a:p>
          <a:p/>
          <a:p>
            <a:r>
              <a:t>Ask: 'Which of these findings resonates most with your current portfolio concerns?'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f7e9bc34a_0_7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f7e9bc34a_0_7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t>Compliance value proposition:</a:t>
            </a:r>
            <a:endParaRPr/>
          </a:p>
          <a:p>
            <a:r>
              <a:t>- Decision 263: GHG inventory (PCAF), reduction quotas (PACTA alignment), transition plans (TRISK stress testing)</a:t>
            </a:r>
          </a:p>
          <a:p>
            <a:r>
              <a:t>- TCFD: Four-pillar disclosure (Governance, Strategy, Risk Management, Metrics &amp; Targets)</a:t>
            </a:r>
          </a:p>
          <a:p>
            <a:r>
              <a:t>- ISSB IFRS S2: Climate-related financial disclosures</a:t>
            </a:r>
          </a:p>
          <a:p/>
          <a:p>
            <a:r>
              <a:t>Point to the three charts:</a:t>
            </a:r>
          </a:p>
          <a:p>
            <a:r>
              <a:t>- Cement SDA: Emission intensity vs. 2030 NDC targets</a:t>
            </a:r>
          </a:p>
          <a:p>
            <a:r>
              <a:t>- Steel SDA: BF/BOF vs. EAF route comparison</a:t>
            </a:r>
          </a:p>
          <a:p>
            <a:r>
              <a:t>- Coal trajectory: Phase-down pathway vs. current exposure</a:t>
            </a:r>
          </a:p>
          <a:p/>
          <a:p>
            <a:r>
              <a:t>Key message: Our stack produces board-ready outputs that satisfy all three frameworks simultaneously.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b00ecbda08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Live dashboard demonstration:</a:t>
            </a:r>
            <a:endParaRPr/>
          </a:p>
          <a:p>
            <a:r>
              <a:t>- 7-page Streamlit app deployed at pactavn.streamlit.app</a:t>
            </a:r>
          </a:p>
          <a:p>
            <a:r>
              <a:t>- PACTA Alignment page: Sector-level KPIs, interactive charts, downloadable CSVs</a:t>
            </a:r>
          </a:p>
          <a:p>
            <a:r>
              <a:t>- TRISK Risk page: Borrower stress rankings with sensitivity controls</a:t>
            </a:r>
          </a:p>
          <a:p>
            <a:r>
              <a:t>- Scenario Builder page: Drive the five TRISK levers in real time</a:t>
            </a:r>
          </a:p>
          <a:p>
            <a:r>
              <a:t>- Reports page: Inline HTML reports with download buttons</a:t>
            </a:r>
          </a:p>
          <a:p>
            <a:r>
              <a:t>- Methodology page: PACTA/TRISK framing with citations</a:t>
            </a:r>
          </a:p>
          <a:p>
            <a:r>
              <a:t>- Outputs page: Engagement letters and disclosure pack generation</a:t>
            </a:r>
          </a:p>
          <a:p/>
          <a:p>
            <a:r>
              <a:t>Offer to do a live demo if time permits. The dashboard is publicly accessible for exploration.</a:t>
            </a:r>
          </a:p>
        </p:txBody>
      </p:sp>
      <p:sp>
        <p:nvSpPr>
          <p:cNvPr id="538" name="Google Shape;538;g3b00ecbda0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af91d4e09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9" name="Google Shape;569;g3af91d4e09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Engagement offer:</a:t>
            </a:r>
            <a:endParaRPr/>
          </a:p>
          <a:p>
            <a:r>
              <a:t>- Phase 1: BYOL (Bring Your Own Loanbook) — 2-4 weeks</a:t>
            </a:r>
          </a:p>
          <a:p>
            <a:r>
              <a:t>- Phase 2: PACTA alignment with real borrower data — 4-6 weeks</a:t>
            </a:r>
          </a:p>
          <a:p>
            <a:r>
              <a:t>- Phase 3: TRISK stress testing and borrower ranking — 3-4 weeks</a:t>
            </a:r>
          </a:p>
          <a:p>
            <a:r>
              <a:t>- Phase 4: IFRS S2 disclosure package and board-ready report — 2-3 weeks</a:t>
            </a:r>
          </a:p>
          <a:p/>
          <a:p>
            <a:r>
              <a:t>Total timeline: 6-9 months from data receipt to final deliverables.</a:t>
            </a:r>
          </a:p>
          <a:p/>
          <a:p>
            <a:r>
              <a:t>Emphasize: All analytics are open-source with no licensing fees. The only cost is our consulting time for data intake, validation, and report generation.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af91d4e09f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1" name="Google Shape;581;g3af91d4e09f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Proposed next steps:</a:t>
            </a:r>
            <a:endParaRPr/>
          </a:p>
          <a:p>
            <a:r>
              <a:t>1. Share loanbook template for BYOL intake validation (we provide the template)</a:t>
            </a:r>
          </a:p>
          <a:p>
            <a:r>
              <a:t>2. Identify Decision 263 borrower subset for priority analysis (top 20 by exposure)</a:t>
            </a:r>
          </a:p>
          <a:p>
            <a:r>
              <a:t>3. Schedule technical workshop with risk and ESG teams (half-day session)</a:t>
            </a:r>
          </a:p>
          <a:p>
            <a:r>
              <a:t>4. Define scenario preferences (PDP8, NDC, IEA NZE — we support all three)</a:t>
            </a:r>
          </a:p>
          <a:p>
            <a:r>
              <a:t>5. Agree on reporting language and disclosure timeline</a:t>
            </a:r>
          </a:p>
          <a:p/>
          <a:p>
            <a:r>
              <a:t>We are ready to begin Phase 1 upon receipt of loanbook data.</a:t>
            </a:r>
          </a:p>
          <a:p/>
          <a:p>
            <a:r>
              <a:t>Synthetic demo is available for immediate internal training — no data required.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b0af48c93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Open the floor for questions:</a:t>
            </a:r>
            <a:endParaRPr/>
          </a:p>
          <a:p>
            <a:r>
              <a:t>- Methodology: PACTA matching, TRISK modeling, scenario selection</a:t>
            </a:r>
          </a:p>
          <a:p>
            <a:r>
              <a:t>- Data requirements: Loanbook format, ABCD sources, scenario files</a:t>
            </a:r>
          </a:p>
          <a:p>
            <a:r>
              <a:t>- Implementation timeline: Phase durations, dependencies, parallelization</a:t>
            </a:r>
          </a:p>
          <a:p>
            <a:r>
              <a:t>- Cost structure: Consulting fees vs. open-source licensing</a:t>
            </a:r>
          </a:p>
          <a:p>
            <a:r>
              <a:t>- Integration: How outputs feed into existing risk and ESG workflows</a:t>
            </a:r>
          </a:p>
          <a:p/>
          <a:p>
            <a:r>
              <a:t>Be prepared to discuss:</a:t>
            </a:r>
          </a:p>
          <a:p>
            <a:r>
              <a:t>- Vietnamese company name matching challenges (diacritics, VSIC codes)</a:t>
            </a:r>
          </a:p>
          <a:p>
            <a:r>
              <a:t>- BOT coal plant contractual lock-in (PPA expiry dates)</a:t>
            </a:r>
          </a:p>
          <a:p>
            <a:r>
              <a:t>- VinFast production assumptions (base vs. conservative case)</a:t>
            </a:r>
          </a:p>
        </p:txBody>
      </p:sp>
      <p:sp>
        <p:nvSpPr>
          <p:cNvPr id="617" name="Google Shape;617;g3b0af48c93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a6d8b9fc6e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>Contact information:</a:t>
            </a:r>
            <a:endParaRPr/>
          </a:p>
          <a:p>
            <a:r>
              <a:t>- Tung Ho: tah@allotropepartners.com (technical lead)</a:t>
            </a:r>
          </a:p>
          <a:p>
            <a:r>
              <a:t>- Hang Tran: httt@allotropepartners.com (engagement lead)</a:t>
            </a:r>
          </a:p>
          <a:p/>
          <a:p>
            <a:r>
              <a:t>Allotrope VC | GTB Vietnam</a:t>
            </a:r>
          </a:p>
          <a:p/>
          <a:p>
            <a:r>
              <a:t>Thank the audience for their time and express enthusiasm for potential collaboration.</a:t>
            </a:r>
          </a:p>
          <a:p/>
          <a:p>
            <a:r>
              <a:t>Leave-behind: This deck (PDF or PPTX), the synthetic demo dashboard URL, and the BYOL intake template (if requested).</a:t>
            </a:r>
          </a:p>
        </p:txBody>
      </p:sp>
      <p:sp>
        <p:nvSpPr>
          <p:cNvPr id="625" name="Google Shape;625;g3a6d8b9fc6e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g"/><Relationship Id="rId3" Type="http://schemas.openxmlformats.org/officeDocument/2006/relationships/image" Target="../media/image3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hyperlink" Target="http://www.allotropepartners.com" TargetMode="Externa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68" name="Google Shape;68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8" name="Google Shape;98;p2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>
            <a:spLocks noGrp="1"/>
          </p:cNvSpPr>
          <p:nvPr>
            <p:ph type="pic" idx="2"/>
          </p:nvPr>
        </p:nvSpPr>
        <p:spPr>
          <a:xfrm>
            <a:off x="1007472" y="998492"/>
            <a:ext cx="3146700" cy="3146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>
            <a:spLocks noGrp="1"/>
          </p:cNvSpPr>
          <p:nvPr>
            <p:ph type="pic" idx="2"/>
          </p:nvPr>
        </p:nvSpPr>
        <p:spPr>
          <a:xfrm>
            <a:off x="3874182" y="-949180"/>
            <a:ext cx="5155200" cy="5155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9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9"/>
          <p:cNvSpPr txBox="1">
            <a:spLocks noGrp="1"/>
          </p:cNvSpPr>
          <p:nvPr>
            <p:ph type="body" idx="1"/>
          </p:nvPr>
        </p:nvSpPr>
        <p:spPr>
          <a:xfrm>
            <a:off x="417487" y="981202"/>
            <a:ext cx="8516700" cy="35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9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9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9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wo Content">
  <p:cSld name="Two Content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0"/>
          <p:cNvSpPr txBox="1">
            <a:spLocks noGrp="1"/>
          </p:cNvSpPr>
          <p:nvPr>
            <p:ph type="title"/>
          </p:nvPr>
        </p:nvSpPr>
        <p:spPr>
          <a:xfrm>
            <a:off x="319227" y="155194"/>
            <a:ext cx="8505600" cy="75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400" b="1" i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body" idx="1"/>
          </p:nvPr>
        </p:nvSpPr>
        <p:spPr>
          <a:xfrm>
            <a:off x="649223" y="1347216"/>
            <a:ext cx="2334900" cy="29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30"/>
          <p:cNvSpPr txBox="1">
            <a:spLocks noGrp="1"/>
          </p:cNvSpPr>
          <p:nvPr>
            <p:ph type="body" idx="2"/>
          </p:nvPr>
        </p:nvSpPr>
        <p:spPr>
          <a:xfrm>
            <a:off x="5518403" y="1243583"/>
            <a:ext cx="2976600" cy="3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30"/>
          <p:cNvSpPr txBox="1">
            <a:spLocks noGrp="1"/>
          </p:cNvSpPr>
          <p:nvPr>
            <p:ph type="ftr" idx="11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30"/>
          <p:cNvSpPr txBox="1">
            <a:spLocks noGrp="1"/>
          </p:cNvSpPr>
          <p:nvPr>
            <p:ph type="dt" idx="10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0"/>
          <p:cNvSpPr txBox="1">
            <a:spLocks noGrp="1"/>
          </p:cNvSpPr>
          <p:nvPr>
            <p:ph type="sldNum" idx="12"/>
          </p:nvPr>
        </p:nvSpPr>
        <p:spPr>
          <a:xfrm>
            <a:off x="286207" y="4763139"/>
            <a:ext cx="1062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6350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6350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6350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6350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6350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6350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6350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6350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6350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6350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bg>
      <p:bgPr>
        <a:solidFill>
          <a:srgbClr val="D6ECE8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1"/>
          <p:cNvSpPr txBox="1"/>
          <p:nvPr/>
        </p:nvSpPr>
        <p:spPr>
          <a:xfrm>
            <a:off x="-94" y="-23756"/>
            <a:ext cx="9144000" cy="975000"/>
          </a:xfrm>
          <a:prstGeom prst="rect">
            <a:avLst/>
          </a:prstGeom>
          <a:solidFill>
            <a:srgbClr val="1D7E74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5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1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22" name="Google Shape;122;p31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23" name="Google Shape;12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CUSTOM">
    <p:bg>
      <p:bgPr>
        <a:solidFill>
          <a:srgbClr val="D6ECE8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Clr>
                <a:srgbClr val="000000"/>
              </a:buClr>
              <a:buSzPts val="1000"/>
              <a:buFont typeface="Arial"/>
              <a:buNone/>
              <a:defRPr/>
            </a:lvl1pPr>
            <a:lvl2pPr lvl="1">
              <a:buClr>
                <a:srgbClr val="000000"/>
              </a:buClr>
              <a:buSzPts val="1000"/>
              <a:buFont typeface="Arial"/>
              <a:buNone/>
              <a:defRPr/>
            </a:lvl2pPr>
            <a:lvl3pPr lvl="2">
              <a:buClr>
                <a:srgbClr val="000000"/>
              </a:buClr>
              <a:buSzPts val="1000"/>
              <a:buFont typeface="Arial"/>
              <a:buNone/>
              <a:defRPr/>
            </a:lvl3pPr>
            <a:lvl4pPr lvl="3">
              <a:buClr>
                <a:srgbClr val="000000"/>
              </a:buClr>
              <a:buSzPts val="1000"/>
              <a:buFont typeface="Arial"/>
              <a:buNone/>
              <a:defRPr/>
            </a:lvl4pPr>
            <a:lvl5pPr lvl="4">
              <a:buClr>
                <a:srgbClr val="000000"/>
              </a:buClr>
              <a:buSzPts val="1000"/>
              <a:buFont typeface="Arial"/>
              <a:buNone/>
              <a:defRPr/>
            </a:lvl5pPr>
            <a:lvl6pPr lvl="5">
              <a:buClr>
                <a:srgbClr val="000000"/>
              </a:buClr>
              <a:buSzPts val="1000"/>
              <a:buFont typeface="Arial"/>
              <a:buNone/>
              <a:defRPr/>
            </a:lvl6pPr>
            <a:lvl7pPr lvl="6">
              <a:buClr>
                <a:srgbClr val="000000"/>
              </a:buClr>
              <a:buSzPts val="1000"/>
              <a:buFont typeface="Arial"/>
              <a:buNone/>
              <a:defRPr/>
            </a:lvl7pPr>
            <a:lvl8pPr lvl="7">
              <a:buClr>
                <a:srgbClr val="000000"/>
              </a:buClr>
              <a:buSzPts val="1000"/>
              <a:buFont typeface="Arial"/>
              <a:buNone/>
              <a:defRPr/>
            </a:lvl8pPr>
            <a:lvl9pPr lvl="8">
              <a:buClr>
                <a:srgbClr val="000000"/>
              </a:buClr>
              <a:buSzPts val="1000"/>
              <a:buFont typeface="Arial"/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9" name="Google Shape;129;p33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5546" y="333375"/>
            <a:ext cx="9169542" cy="4810125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30" name="Google Shape;130;p33"/>
          <p:cNvSpPr txBox="1"/>
          <p:nvPr/>
        </p:nvSpPr>
        <p:spPr>
          <a:xfrm>
            <a:off x="-25546" y="-5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50" y="0"/>
            <a:ext cx="4490350" cy="156380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33"/>
          <p:cNvSpPr txBox="1">
            <a:spLocks noGrp="1"/>
          </p:cNvSpPr>
          <p:nvPr>
            <p:ph type="title"/>
          </p:nvPr>
        </p:nvSpPr>
        <p:spPr>
          <a:xfrm>
            <a:off x="267875" y="1563800"/>
            <a:ext cx="7091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Intro Slide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5" name="Google Shape;135;p34"/>
          <p:cNvPicPr preferRelativeResize="0"/>
          <p:nvPr/>
        </p:nvPicPr>
        <p:blipFill rotWithShape="1">
          <a:blip r:embed="rId2">
            <a:alphaModFix/>
          </a:blip>
          <a:srcRect l="57610" t="38748" r="15264" b="3616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ffectLst>
            <a:outerShdw blurRad="57150" dist="19050" algn="bl" rotWithShape="0">
              <a:srgbClr val="000000">
                <a:alpha val="50000"/>
              </a:srgbClr>
            </a:outerShdw>
          </a:effectLst>
        </p:spPr>
      </p:pic>
      <p:sp>
        <p:nvSpPr>
          <p:cNvPr id="136" name="Google Shape;136;p34"/>
          <p:cNvSpPr/>
          <p:nvPr/>
        </p:nvSpPr>
        <p:spPr>
          <a:xfrm>
            <a:off x="856200" y="1239275"/>
            <a:ext cx="7479900" cy="28452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FE9E3"/>
          </a:solidFill>
          <a:ln w="9525" cap="flat" cmpd="sng">
            <a:solidFill>
              <a:srgbClr val="1D7E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66675" dir="18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0005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>
              <a:solidFill>
                <a:srgbClr val="2F645B"/>
              </a:solidFill>
            </a:endParaRPr>
          </a:p>
        </p:txBody>
      </p:sp>
      <p:pic>
        <p:nvPicPr>
          <p:cNvPr id="137" name="Google Shape;137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2774" y="193175"/>
            <a:ext cx="2094225" cy="72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4"/>
          <p:cNvSpPr txBox="1">
            <a:spLocks noGrp="1"/>
          </p:cNvSpPr>
          <p:nvPr>
            <p:ph type="title"/>
          </p:nvPr>
        </p:nvSpPr>
        <p:spPr>
          <a:xfrm>
            <a:off x="1347900" y="1555250"/>
            <a:ext cx="6496500" cy="68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3300"/>
              <a:buFont typeface="Cabin"/>
              <a:buNone/>
              <a:defRPr sz="3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subTitle" idx="1"/>
          </p:nvPr>
        </p:nvSpPr>
        <p:spPr>
          <a:xfrm>
            <a:off x="1347900" y="2448200"/>
            <a:ext cx="6459000" cy="9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2300"/>
              <a:buFont typeface="Cabin"/>
              <a:buNone/>
              <a:defRPr sz="23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2" name="Google Shape;142;p35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3" name="Google Shape;143;p3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144" name="Google Shape;144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40100" y="78975"/>
            <a:ext cx="1251600" cy="4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7" name="Google Shape;147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48" name="Google Shape;148;p3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49" name="Google Shape;149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36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white" type="titleOnly">
  <p:cSld name="TITLE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7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3" name="Google Shape;153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37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green">
  <p:cSld name="TITLE_ONLY_1">
    <p:bg>
      <p:bgPr>
        <a:solidFill>
          <a:srgbClr val="80CBBC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8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7" name="Google Shape;15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8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 blank_light green">
  <p:cSld name="TITLE_ONLY_1_1">
    <p:bg>
      <p:bgPr>
        <a:solidFill>
          <a:srgbClr val="E6F4F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1" name="Google Shape;161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9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●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04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bin"/>
              <a:buChar char="○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048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Cabin"/>
              <a:buChar char="■"/>
              <a:defRPr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65" name="Google Shape;165;p40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66" name="Google Shape;166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53650" y="52331"/>
            <a:ext cx="1538044" cy="533194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40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abin"/>
              <a:buNone/>
              <a:defRPr sz="2400" b="1">
                <a:solidFill>
                  <a:schemeClr val="lt1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4200"/>
              <a:buFont typeface="Cabin"/>
              <a:buNone/>
              <a:defRPr sz="42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1" name="Google Shape;1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sp>
        <p:nvSpPr>
          <p:cNvPr id="172" name="Google Shape;1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12000"/>
              <a:buFont typeface="Cabin"/>
              <a:buNone/>
              <a:defRPr sz="12000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Font typeface="Cabin"/>
              <a:buNone/>
              <a:defRPr sz="12000">
                <a:latin typeface="Cabin"/>
                <a:ea typeface="Cabin"/>
                <a:cs typeface="Cabin"/>
                <a:sym typeface="Cabin"/>
              </a:defRPr>
            </a:lvl9pPr>
          </a:lstStyle>
          <a:p>
            <a:r>
              <a:t>xx%</a:t>
            </a:r>
          </a:p>
        </p:txBody>
      </p:sp>
      <p:sp>
        <p:nvSpPr>
          <p:cNvPr id="175" name="Google Shape;175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lvl="1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lvl="2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lvl="3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lvl="4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lvl="5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lvl="6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lvl="7" indent="-3175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lvl="8" indent="-317500" algn="ctr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">
  <p:cSld name="BLANK_1">
    <p:bg>
      <p:bgPr>
        <a:solidFill>
          <a:srgbClr val="D6ECE8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9" name="Google Shape;179;p44"/>
          <p:cNvPicPr preferRelativeResize="0"/>
          <p:nvPr/>
        </p:nvPicPr>
        <p:blipFill rotWithShape="1">
          <a:blip r:embed="rId2">
            <a:alphaModFix/>
          </a:blip>
          <a:srcRect t="10929"/>
          <a:stretch/>
        </p:blipFill>
        <p:spPr>
          <a:xfrm>
            <a:off x="-27196" y="332508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180" name="Google Shape;180;p44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842" y="28575"/>
            <a:ext cx="3790703" cy="132917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4"/>
          <p:cNvSpPr/>
          <p:nvPr/>
        </p:nvSpPr>
        <p:spPr>
          <a:xfrm>
            <a:off x="250625" y="1357750"/>
            <a:ext cx="7157400" cy="70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2300" b="1" u="sng">
                <a:solidFill>
                  <a:schemeClr val="hlink"/>
                </a:solidFill>
                <a:latin typeface="Cabin"/>
                <a:ea typeface="Cabin"/>
                <a:cs typeface="Cabin"/>
                <a:sym typeface="Cabin"/>
                <a:hlinkClick r:id="rId4"/>
              </a:rPr>
              <a:t>www.allotropepartners.com</a:t>
            </a:r>
            <a:endParaRPr sz="1900" b="1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83" name="Google Shape;183;p44"/>
          <p:cNvSpPr txBox="1">
            <a:spLocks noGrp="1"/>
          </p:cNvSpPr>
          <p:nvPr>
            <p:ph type="subTitle" idx="1"/>
          </p:nvPr>
        </p:nvSpPr>
        <p:spPr>
          <a:xfrm>
            <a:off x="250625" y="18729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645B"/>
              </a:buClr>
              <a:buSzPts val="1900"/>
              <a:buFont typeface="Cabin"/>
              <a:buNone/>
              <a:defRPr sz="1900" b="1">
                <a:solidFill>
                  <a:srgbClr val="2F645B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786E"/>
              </a:buClr>
              <a:buSzPts val="2100"/>
              <a:buFont typeface="Cabin"/>
              <a:buNone/>
              <a:defRPr sz="2100" b="1">
                <a:solidFill>
                  <a:srgbClr val="1B786E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solidFill>
          <a:srgbClr val="D6ECE8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6"/>
          <p:cNvSpPr/>
          <p:nvPr/>
        </p:nvSpPr>
        <p:spPr>
          <a:xfrm>
            <a:off x="26725" y="16325"/>
            <a:ext cx="9030000" cy="9234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2400" b="1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90" name="Google Shape;190;p46"/>
          <p:cNvSpPr txBox="1">
            <a:spLocks noGrp="1"/>
          </p:cNvSpPr>
          <p:nvPr>
            <p:ph type="title"/>
          </p:nvPr>
        </p:nvSpPr>
        <p:spPr>
          <a:xfrm>
            <a:off x="135056" y="269682"/>
            <a:ext cx="8229600" cy="6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191" name="Google Shape;191;p46"/>
          <p:cNvSpPr txBox="1">
            <a:spLocks noGrp="1"/>
          </p:cNvSpPr>
          <p:nvPr>
            <p:ph type="body" idx="1"/>
          </p:nvPr>
        </p:nvSpPr>
        <p:spPr>
          <a:xfrm>
            <a:off x="457200" y="11295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192" name="Google Shape;192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30116" y="34050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98" name="Google Shape;19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 1">
  <p:cSld name="1_Custom Layout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9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9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2" name="Google Shape;202;p49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3">
  <p:cSld name="1_Custom Layout_3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0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0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06" name="Google Shape;206;p50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1">
  <p:cSld name="1_Custom Layout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1"/>
          <p:cNvSpPr/>
          <p:nvPr/>
        </p:nvSpPr>
        <p:spPr>
          <a:xfrm>
            <a:off x="0" y="-12694"/>
            <a:ext cx="9144000" cy="993600"/>
          </a:xfrm>
          <a:prstGeom prst="rect">
            <a:avLst/>
          </a:prstGeom>
          <a:solidFill>
            <a:srgbClr val="13665A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1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1" name="Google Shape;21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 2">
  <p:cSld name="1_Custom Layout_2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52"/>
          <p:cNvSpPr/>
          <p:nvPr/>
        </p:nvSpPr>
        <p:spPr>
          <a:xfrm>
            <a:off x="0" y="-12700"/>
            <a:ext cx="9144000" cy="118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34275" tIns="17125" rIns="34275" bIns="171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457200" y="317104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bin"/>
              <a:buNone/>
              <a:defRPr sz="2700" b="1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9pPr>
          </a:lstStyle>
          <a:p>
            <a:endParaRPr/>
          </a:p>
        </p:txBody>
      </p:sp>
      <p:sp>
        <p:nvSpPr>
          <p:cNvPr id="215" name="Google Shape;215;p52"/>
          <p:cNvSpPr txBox="1">
            <a:spLocks noGrp="1"/>
          </p:cNvSpPr>
          <p:nvPr>
            <p:ph type="body" idx="1"/>
          </p:nvPr>
        </p:nvSpPr>
        <p:spPr>
          <a:xfrm>
            <a:off x="457200" y="1472400"/>
            <a:ext cx="8106300" cy="315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●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Char char="○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400"/>
              </a:spcBef>
              <a:spcAft>
                <a:spcPts val="1600"/>
              </a:spcAft>
              <a:buClr>
                <a:srgbClr val="000000"/>
              </a:buClr>
              <a:buSzPts val="1800"/>
              <a:buFont typeface="Cabin"/>
              <a:buChar char="■"/>
              <a:defRPr sz="180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  <p:pic>
        <p:nvPicPr>
          <p:cNvPr id="216" name="Google Shape;216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97695" y="4556958"/>
            <a:ext cx="1260777" cy="4810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5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7" name="Google Shape;227;p5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8" name="Google Shape;228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34" name="Google Shape;234;p5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5" name="Google Shape;235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38" name="Google Shape;238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5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42" name="Google Shape;242;p5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43" name="Google Shape;243;p5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4" name="Google Shape;244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47" name="Google Shape;247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6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1" name="Google Shape;2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"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6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6" name="Google Shape;256;p63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7" name="Google Shape;257;p6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63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6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p6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66"/>
          <p:cNvSpPr txBox="1"/>
          <p:nvPr/>
        </p:nvSpPr>
        <p:spPr>
          <a:xfrm>
            <a:off x="0" y="-35175"/>
            <a:ext cx="9180300" cy="709200"/>
          </a:xfrm>
          <a:prstGeom prst="rect">
            <a:avLst/>
          </a:prstGeom>
          <a:solidFill>
            <a:srgbClr val="33716C"/>
          </a:solidFill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1" i="0" u="none" strike="noStrike" cap="none">
              <a:solidFill>
                <a:srgbClr val="FFFFFF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100" b="0" i="0" u="none" strike="noStrike" cap="none">
              <a:solidFill>
                <a:srgbClr val="FFFFFF"/>
              </a:solidFill>
              <a:highlight>
                <a:srgbClr val="64B4A3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3" name="Google Shape;273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3300" y="36394"/>
            <a:ext cx="1530756" cy="53066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66"/>
          <p:cNvSpPr txBox="1">
            <a:spLocks noGrp="1"/>
          </p:cNvSpPr>
          <p:nvPr>
            <p:ph type="title"/>
          </p:nvPr>
        </p:nvSpPr>
        <p:spPr>
          <a:xfrm>
            <a:off x="33469" y="9025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2000" b="1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67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67"/>
          <p:cNvSpPr txBox="1"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78" name="Google Shape;278;p6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6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6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68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68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4" name="Google Shape;284;p6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6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6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6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6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90" name="Google Shape;290;p6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6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6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7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7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7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7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7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71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1" name="Google Shape;301;p7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7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3" name="Google Shape;303;p7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4" name="Google Shape;304;p7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72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7" name="Google Shape;307;p72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08" name="Google Shape;308;p72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72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10" name="Google Shape;310;p72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7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2" name="Google Shape;312;p7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3" name="Google Shape;313;p7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7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73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317" name="Google Shape;317;p73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8" name="Google Shape;318;p7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7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7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7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3" name="Google Shape;323;p74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324" name="Google Shape;324;p74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25" name="Google Shape;325;p7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7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27" name="Google Shape;327;p7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7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0" name="Google Shape;330;p75"/>
          <p:cNvSpPr txBox="1">
            <a:spLocks noGrp="1"/>
          </p:cNvSpPr>
          <p:nvPr>
            <p:ph type="body" idx="1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1" name="Google Shape;331;p7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7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3" name="Google Shape;333;p7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76"/>
          <p:cNvSpPr txBox="1">
            <a:spLocks noGrp="1"/>
          </p:cNvSpPr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6" name="Google Shape;336;p76"/>
          <p:cNvSpPr txBox="1">
            <a:spLocks noGrp="1"/>
          </p:cNvSpPr>
          <p:nvPr>
            <p:ph type="body" idx="1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7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8" name="Google Shape;338;p7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39" name="Google Shape;339;p7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55.xml"/><Relationship Id="rId16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57.xml"/><Relationship Id="rId18" Type="http://schemas.openxmlformats.org/officeDocument/2006/relationships/slideLayout" Target="../slideLayouts/slideLayout58.xml"/><Relationship Id="rId19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slideLayout" Target="../slideLayouts/slideLayout60.xml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bin"/>
              <a:buChar char="●"/>
              <a:defRPr sz="18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○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400"/>
              <a:buFont typeface="Cabin"/>
              <a:buChar char="■"/>
              <a:defRPr sz="1400" i="0" u="none" strike="noStrike" cap="none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2" name="Google Shape;262;p6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3" name="Google Shape;263;p6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4" name="Google Shape;264;p6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5" name="Google Shape;265;p6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jp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hyperlink" Target="mailto:tah@allotropepartners.com" TargetMode="External"/><Relationship Id="rId6" Type="http://schemas.openxmlformats.org/officeDocument/2006/relationships/hyperlink" Target="mailto:httt@allotropevc.com" TargetMode="External"/><Relationship Id="rId7" Type="http://schemas.openxmlformats.org/officeDocument/2006/relationships/hyperlink" Target="mailto:chn@allotropevc.com" TargetMode="External"/><Relationship Id="rId8" Type="http://schemas.openxmlformats.org/officeDocument/2006/relationships/hyperlink" Target="mailto:hal@allotropepartners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Google Shape;344;p77" title="new banana.jpg"/>
          <p:cNvPicPr preferRelativeResize="0"/>
          <p:nvPr/>
        </p:nvPicPr>
        <p:blipFill rotWithShape="1">
          <a:blip r:embed="rId3">
            <a:alphaModFix/>
          </a:blip>
          <a:srcRect l="1038" r="1038"/>
          <a:stretch/>
        </p:blipFill>
        <p:spPr>
          <a:xfrm>
            <a:off x="0" y="2461155"/>
            <a:ext cx="9144003" cy="2746489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45" name="Google Shape;345;p77"/>
          <p:cNvSpPr/>
          <p:nvPr/>
        </p:nvSpPr>
        <p:spPr>
          <a:xfrm>
            <a:off x="13" y="0"/>
            <a:ext cx="9143982" cy="3030102"/>
          </a:xfrm>
          <a:prstGeom prst="flowChartDocumen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7"/>
          <p:cNvSpPr txBox="1">
            <a:spLocks noGrp="1"/>
          </p:cNvSpPr>
          <p:nvPr>
            <p:ph type="ctrTitle"/>
          </p:nvPr>
        </p:nvSpPr>
        <p:spPr>
          <a:xfrm>
            <a:off x="0" y="1065375"/>
            <a:ext cx="9144000" cy="133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PACTA + TRISK: Transition-Risk Analytics for Vietnamese Banks</a:t>
            </a:r>
            <a:endParaRPr sz="3033" b="1">
              <a:solidFill>
                <a:srgbClr val="11665A"/>
              </a:solidFill>
              <a:latin typeface="Cabin"/>
              <a:ea typeface="Cabin"/>
              <a:cs typeface="Cabin"/>
              <a:sym typeface="Cabin"/>
            </a:endParaRPr>
          </a:p>
          <a:p>
            <a:r>
              <a:rPr/>
              <a:t>Allotrope VC | GTB Vietnam</a:t>
            </a:r>
          </a:p>
        </p:txBody>
      </p:sp>
      <p:pic>
        <p:nvPicPr>
          <p:cNvPr id="347" name="Google Shape;347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8" name="Google Shape;418;p87"/>
          <p:cNvPicPr preferRelativeResize="0"/>
          <p:nvPr/>
        </p:nvPicPr>
        <p:blipFill rotWithShape="1">
          <a:blip r:embed="rId3">
            <a:alphaModFix amt="50000"/>
          </a:blip>
          <a:srcRect t="22486" b="19290"/>
          <a:stretch/>
        </p:blipFill>
        <p:spPr>
          <a:xfrm>
            <a:off x="0" y="2148725"/>
            <a:ext cx="9144000" cy="29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87"/>
          <p:cNvSpPr txBox="1"/>
          <p:nvPr/>
        </p:nvSpPr>
        <p:spPr>
          <a:xfrm>
            <a:off x="523150" y="549050"/>
            <a:ext cx="6849600" cy="11178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8DC7C1">
                <a:alpha val="5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Agenda</a:t>
            </a:r>
            <a:endParaRPr sz="2600" b="1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0" name="Google Shape;420;p87"/>
          <p:cNvSpPr txBox="1"/>
          <p:nvPr/>
        </p:nvSpPr>
        <p:spPr>
          <a:xfrm>
            <a:off x="5755850" y="1512050"/>
            <a:ext cx="1817400" cy="3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The Problem | Our Approach | Case Study | Next Steps</a:t>
            </a:r>
            <a:endParaRPr sz="12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1" name="Google Shape;421;p8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" y="4814100"/>
            <a:ext cx="1109740" cy="32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8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73025" y="0"/>
            <a:ext cx="1570976" cy="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8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28" name="Google Shape;428;p88"/>
          <p:cNvSpPr txBox="1">
            <a:spLocks noGrp="1"/>
          </p:cNvSpPr>
          <p:nvPr>
            <p:ph type="title"/>
          </p:nvPr>
        </p:nvSpPr>
        <p:spPr>
          <a:xfrm>
            <a:off x="265725" y="1190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40909"/>
              <a:buNone/>
            </a:pPr>
            <a:r>
              <a:rPr/>
              <a:t>Our Solution: Three-Layer Compliance &amp; Risk Stack</a:t>
            </a:r>
            <a:endParaRPr sz="242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429" name="Google Shape;429;p88"/>
          <p:cNvGraphicFramePr/>
          <p:nvPr/>
        </p:nvGraphicFramePr>
        <p:xfrm>
          <a:off x="422650" y="118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{110B0612-A9F4-49DA-BEA1-DD1CF77D77B9}</a:tableStyleId>
              </a:tblPr>
              <a:tblGrid>
                <a:gridCol w="276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2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450">
                <a:tc>
                  <a:txBody>
                    <a:bodyPr/>
                    <a:lstStyle/>
                    <a:p>
                      <a:r>
                        <a:t>Layer 1: PCAF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Layer 2: PACTA</a:t>
                      </a:r>
                    </a:p>
                  </a:txBody>
                  <a:tcPr marL="91425" marR="91425" marT="91425" marB="91425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55B5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Layer 3: TRISK</a:t>
                      </a:r>
                    </a:p>
                  </a:txBody>
                  <a:tcPr marL="91425" marR="91425" marT="91425" marB="91425">
                    <a:solidFill>
                      <a:srgbClr val="155B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00">
                <a:tc rowSpan="2">
                  <a:txBody>
                    <a:bodyPr/>
                    <a:lstStyle/>
                    <a:p>
                      <a:r>
                        <a:t>Measure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Align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Stress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9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00">
                <a:tc vMerge="1">
                  <a:txBody>
                    <a:bodyPr/>
                    <a:lstStyle/>
                    <a:p>
                      <a:r>
                        <a:t>GHG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Portfolio alignment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Borrower stress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725">
                <a:tc rowSpan="3">
                  <a:txBody>
                    <a:bodyPr/>
                    <a:lstStyle/>
                    <a:p>
                      <a:r>
                        <a:t>Scope 1, 2, 3</a:t>
                      </a:r>
                    </a:p>
                  </a:txBody>
                  <a:tcPr marL="91425" marR="91425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t>PDP8/NDC/NZE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NPV &amp; PD impact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33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Execute 1 closed-door session to bring together one champion bank alongside select developers or other private sector stakeholders seeking to finance innovative storage projects or supply chain decarbonization.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In Progress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612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Develop at least one case study knowledge product to disseminate key lessons and targeted insights from the GHG assessment, net zero transition roadmap, and SLL support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In Progress</a:t>
                      </a:r>
                      <a:endParaRPr sz="11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430" name="Google Shape;430;p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9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6" name="Google Shape;436;p89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/>
              <a:t>PACTA: Portfolio Alignment Assessment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37" name="Google Shape;437;p89"/>
          <p:cNvSpPr/>
          <p:nvPr/>
        </p:nvSpPr>
        <p:spPr>
          <a:xfrm>
            <a:off x="65564" y="128486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11665A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 sz="1100"/>
          </a:p>
        </p:txBody>
      </p:sp>
      <p:sp>
        <p:nvSpPr>
          <p:cNvPr id="438" name="Google Shape;438;p89"/>
          <p:cNvSpPr/>
          <p:nvPr/>
        </p:nvSpPr>
        <p:spPr>
          <a:xfrm>
            <a:off x="65564" y="2645178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11665A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 sz="1100"/>
          </a:p>
        </p:txBody>
      </p:sp>
      <p:sp>
        <p:nvSpPr>
          <p:cNvPr id="439" name="Google Shape;439;p89"/>
          <p:cNvSpPr/>
          <p:nvPr/>
        </p:nvSpPr>
        <p:spPr>
          <a:xfrm>
            <a:off x="843533" y="1073764"/>
            <a:ext cx="1662900" cy="12177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PACTA matches your loanbook to asset-level company data and compares technology mix against Vietnam's PDP8 and NDC targets. Market-share method for power; SDA for cement and steel.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0" name="Google Shape;440;p89"/>
          <p:cNvSpPr/>
          <p:nvPr/>
        </p:nvSpPr>
        <p:spPr>
          <a:xfrm>
            <a:off x="843525" y="2401050"/>
            <a:ext cx="1662900" cy="2632500"/>
          </a:xfrm>
          <a:prstGeom prst="roundRect">
            <a:avLst>
              <a:gd name="adj" fmla="val 16667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Synthetic MCB portfolio: 43 loans, 25 trillion VND. Power sector shows coal capacity 28% above PDP8 target; renewables buildout 15% below 2030 trajectory.</a:t>
            </a:r>
            <a:endParaRPr b="1">
              <a:solidFill>
                <a:srgbClr val="1D6E62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1" name="Google Shape;441;p89"/>
          <p:cNvSpPr/>
          <p:nvPr/>
        </p:nvSpPr>
        <p:spPr>
          <a:xfrm>
            <a:off x="2778309" y="10953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Coverage: Power, Automotive, Cement, Steel, Coal Mining</a:t>
            </a:r>
            <a:endParaRPr sz="1100" b="1"/>
          </a:p>
        </p:txBody>
      </p:sp>
      <p:sp>
        <p:nvSpPr>
          <p:cNvPr id="442" name="Google Shape;442;p89"/>
          <p:cNvSpPr/>
          <p:nvPr/>
        </p:nvSpPr>
        <p:spPr>
          <a:xfrm>
            <a:off x="2778309" y="17776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Alignment gaps quantify where your portfolio is off-track</a:t>
            </a:r>
            <a:endParaRPr sz="1100" b="1"/>
          </a:p>
        </p:txBody>
      </p:sp>
      <p:sp>
        <p:nvSpPr>
          <p:cNvPr id="443" name="Google Shape;443;p89"/>
          <p:cNvSpPr/>
          <p:nvPr/>
        </p:nvSpPr>
        <p:spPr>
          <a:xfrm>
            <a:off x="2778309" y="24010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Company-level results enable borrower-specific engagement</a:t>
            </a:r>
            <a:endParaRPr sz="1100" b="1"/>
          </a:p>
        </p:txBody>
      </p:sp>
      <p:sp>
        <p:nvSpPr>
          <p:cNvPr id="444" name="Google Shape;444;p89"/>
          <p:cNvSpPr/>
          <p:nvPr/>
        </p:nvSpPr>
        <p:spPr>
          <a:xfrm>
            <a:off x="2778300" y="30244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Scenario comparison: PDP8 vs IEA NZE vs Vietnam NDC</a:t>
            </a:r>
            <a:endParaRPr sz="1100" b="1"/>
          </a:p>
        </p:txBody>
      </p:sp>
      <p:sp>
        <p:nvSpPr>
          <p:cNvPr id="445" name="Google Shape;445;p89"/>
          <p:cNvSpPr/>
          <p:nvPr/>
        </p:nvSpPr>
        <p:spPr>
          <a:xfrm>
            <a:off x="2778350" y="3902300"/>
            <a:ext cx="27366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Outputs feed directly into TRISK stress testing</a:t>
            </a:r>
            <a:endParaRPr sz="1100" b="1"/>
          </a:p>
        </p:txBody>
      </p:sp>
      <p:sp>
        <p:nvSpPr>
          <p:cNvPr id="446" name="Google Shape;446;p89"/>
          <p:cNvSpPr/>
          <p:nvPr/>
        </p:nvSpPr>
        <p:spPr>
          <a:xfrm>
            <a:off x="6032062" y="23902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Open-source R packages — no licensing fees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47" name="Google Shape;447;p89"/>
          <p:cNvSpPr/>
          <p:nvPr/>
        </p:nvSpPr>
        <p:spPr>
          <a:xfrm>
            <a:off x="6032050" y="30137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Scope 3 Non-Financed roadmap:</a:t>
            </a:r>
            <a:endParaRPr sz="1100"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Cabin"/>
                <a:ea typeface="Cabin"/>
                <a:cs typeface="Cabin"/>
                <a:sym typeface="Cabin"/>
              </a:rPr>
              <a:t>BIDV proposes transferring this report to the Report on Proposed Methods for Collecting Other Key Categories for 2026</a:t>
            </a:r>
            <a:endParaRPr sz="11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48" name="Google Shape;448;p89"/>
          <p:cNvSpPr/>
          <p:nvPr/>
        </p:nvSpPr>
        <p:spPr>
          <a:xfrm>
            <a:off x="6032050" y="3891525"/>
            <a:ext cx="2883300" cy="7092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Scope 3 Financed roadmap:</a:t>
            </a:r>
            <a:endParaRPr sz="1100">
              <a:latin typeface="Cabin"/>
              <a:ea typeface="Cabin"/>
              <a:cs typeface="Cabin"/>
              <a:sym typeface="Cabi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Cabin"/>
                <a:ea typeface="Cabin"/>
                <a:cs typeface="Cabin"/>
                <a:sym typeface="Cabin"/>
              </a:rPr>
              <a:t>After receiving feedback from the inventory report, the roadmap report will be finalized.</a:t>
            </a:r>
            <a:endParaRPr sz="1100"/>
          </a:p>
        </p:txBody>
      </p:sp>
      <p:sp>
        <p:nvSpPr>
          <p:cNvPr id="449" name="Google Shape;449;p89"/>
          <p:cNvSpPr/>
          <p:nvPr/>
        </p:nvSpPr>
        <p:spPr>
          <a:xfrm>
            <a:off x="2778300" y="4715925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1,500+ institutions globally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50" name="Google Shape;450;p8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89"/>
          <p:cNvSpPr/>
          <p:nvPr/>
        </p:nvSpPr>
        <p:spPr>
          <a:xfrm>
            <a:off x="6031950" y="10737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Scope 3 Non-Financed: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Waiting for a response from BIDV</a:t>
            </a:r>
            <a:endParaRPr sz="11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52" name="Google Shape;452;p89"/>
          <p:cNvSpPr/>
          <p:nvPr/>
        </p:nvSpPr>
        <p:spPr>
          <a:xfrm>
            <a:off x="6031950" y="17560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 b="1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rPr>
              <a:t>Scope 3 Financed:</a:t>
            </a:r>
            <a:endParaRPr sz="1100"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Waiting for a response from BIDV</a:t>
            </a:r>
            <a:endParaRPr sz="11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53" name="Google Shape;453;p89"/>
          <p:cNvSpPr/>
          <p:nvPr/>
        </p:nvSpPr>
        <p:spPr>
          <a:xfrm>
            <a:off x="5607515" y="11862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89"/>
          <p:cNvSpPr/>
          <p:nvPr/>
        </p:nvSpPr>
        <p:spPr>
          <a:xfrm>
            <a:off x="5607515" y="18607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89"/>
          <p:cNvSpPr/>
          <p:nvPr/>
        </p:nvSpPr>
        <p:spPr>
          <a:xfrm>
            <a:off x="5607565" y="24841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89"/>
          <p:cNvSpPr/>
          <p:nvPr/>
        </p:nvSpPr>
        <p:spPr>
          <a:xfrm>
            <a:off x="5607565" y="32373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89"/>
          <p:cNvSpPr/>
          <p:nvPr/>
        </p:nvSpPr>
        <p:spPr>
          <a:xfrm>
            <a:off x="5651290" y="40830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89"/>
          <p:cNvSpPr/>
          <p:nvPr/>
        </p:nvSpPr>
        <p:spPr>
          <a:xfrm>
            <a:off x="5651290" y="47009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89"/>
          <p:cNvSpPr/>
          <p:nvPr/>
        </p:nvSpPr>
        <p:spPr>
          <a:xfrm>
            <a:off x="6032200" y="4715925"/>
            <a:ext cx="28833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Time to first results: 1–3 months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90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65" name="Google Shape;465;p90"/>
          <p:cNvSpPr txBox="1">
            <a:spLocks noGrp="1"/>
          </p:cNvSpPr>
          <p:nvPr>
            <p:ph type="title"/>
          </p:nvPr>
        </p:nvSpPr>
        <p:spPr>
          <a:xfrm>
            <a:off x="221989" y="155177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1667"/>
              <a:buNone/>
            </a:pPr>
            <a:r>
              <a:rPr/>
              <a:t>The Challenge: Decision 263 &amp; Transition Risk for Vietnamese Banks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466" name="Google Shape;466;p90"/>
          <p:cNvGrpSpPr/>
          <p:nvPr/>
        </p:nvGrpSpPr>
        <p:grpSpPr>
          <a:xfrm>
            <a:off x="65637" y="1204503"/>
            <a:ext cx="2181939" cy="724612"/>
            <a:chOff x="1593000" y="2322568"/>
            <a:chExt cx="2939827" cy="643356"/>
          </a:xfrm>
        </p:grpSpPr>
        <p:sp>
          <p:nvSpPr>
            <p:cNvPr id="467" name="Google Shape;467;p90"/>
            <p:cNvSpPr/>
            <p:nvPr/>
          </p:nvSpPr>
          <p:spPr>
            <a:xfrm flipH="1">
              <a:off x="2283025" y="2322575"/>
              <a:ext cx="1844400" cy="642600"/>
            </a:xfrm>
            <a:prstGeom prst="rect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8" name="Google Shape;468;p90"/>
            <p:cNvSpPr/>
            <p:nvPr/>
          </p:nvSpPr>
          <p:spPr>
            <a:xfrm rot="-5400000">
              <a:off x="3501574" y="1934671"/>
              <a:ext cx="643356" cy="1419149"/>
            </a:xfrm>
            <a:prstGeom prst="flowChartOffpageConnector">
              <a:avLst/>
            </a:prstGeom>
            <a:solidFill>
              <a:srgbClr val="1B786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69" name="Google Shape;469;p90"/>
            <p:cNvSpPr/>
            <p:nvPr/>
          </p:nvSpPr>
          <p:spPr>
            <a:xfrm>
              <a:off x="2342625" y="2399951"/>
              <a:ext cx="1940700" cy="49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>
                  <a:solidFill>
                    <a:srgbClr val="FFFFFF"/>
                  </a:solidFill>
                  <a:latin typeface="Cabin Medium"/>
                  <a:ea typeface="Cabin Medium"/>
                  <a:cs typeface="Cabin Medium"/>
                  <a:sym typeface="Cabin Medium"/>
                </a:rPr>
                <a:t>SLL Support</a:t>
              </a:r>
              <a:endParaRPr sz="14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70" name="Google Shape;470;p90"/>
            <p:cNvSpPr/>
            <p:nvPr/>
          </p:nvSpPr>
          <p:spPr>
            <a:xfrm>
              <a:off x="1593000" y="2322568"/>
              <a:ext cx="690000" cy="642300"/>
            </a:xfrm>
            <a:prstGeom prst="rect">
              <a:avLst/>
            </a:prstGeom>
            <a:solidFill>
              <a:srgbClr val="1D7E75"/>
            </a:solidFill>
            <a:ln>
              <a:noFill/>
            </a:ln>
            <a:effectLst>
              <a:outerShdw blurRad="71438" dist="28575" dir="2700000" algn="bl" rotWithShape="0">
                <a:srgbClr val="000000">
                  <a:alpha val="1686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71" name="Google Shape;471;p90"/>
            <p:cNvSpPr/>
            <p:nvPr/>
          </p:nvSpPr>
          <p:spPr>
            <a:xfrm>
              <a:off x="1593000" y="2322575"/>
              <a:ext cx="690000" cy="642600"/>
            </a:xfrm>
            <a:prstGeom prst="rect">
              <a:avLst/>
            </a:prstGeom>
            <a:solidFill>
              <a:srgbClr val="1F887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600"/>
                <a:buFont typeface="Arial"/>
                <a:buNone/>
              </a:pPr>
              <a:r>
                <a:rPr lang="en" sz="2600" b="0" i="0" u="none" strike="noStrike" cap="none">
                  <a:solidFill>
                    <a:srgbClr val="FFFFFF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 sz="2600" b="0" i="0" u="none" strike="noStrike" cap="none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endParaRPr>
            </a:p>
          </p:txBody>
        </p:sp>
      </p:grpSp>
      <p:sp>
        <p:nvSpPr>
          <p:cNvPr id="472" name="Google Shape;472;p90"/>
          <p:cNvSpPr/>
          <p:nvPr/>
        </p:nvSpPr>
        <p:spPr>
          <a:xfrm>
            <a:off x="2387491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Decision 263 mandates GHG quotas for thermal power, steel, and cement from 2025. Banks must assess borrower transition risk, but lack analytical tools to quantify portfolio alignment or borrower-level financial stress.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3" name="Google Shape;473;p90"/>
          <p:cNvSpPr/>
          <p:nvPr/>
        </p:nvSpPr>
        <p:spPr>
          <a:xfrm>
            <a:off x="5748450" y="1219350"/>
            <a:ext cx="3308100" cy="3782700"/>
          </a:xfrm>
          <a:prstGeom prst="roundRect">
            <a:avLst>
              <a:gd name="adj" fmla="val 16667"/>
            </a:avLst>
          </a:prstGeom>
          <a:solidFill>
            <a:srgbClr val="D7ECE8"/>
          </a:solidFill>
          <a:ln w="19050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Vietnamese banks need an integrated analytics stack that measures portfolio alignment with PDP8/NDC targets, quantifies borrower-level NPV and PD impact under transition scenarios, and produces disclosure-ready outputs for IFRS S2.</a:t>
            </a:r>
            <a:endParaRPr sz="1100" b="1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4" name="Google Shape;474;p90"/>
          <p:cNvSpPr/>
          <p:nvPr/>
        </p:nvSpPr>
        <p:spPr>
          <a:xfrm>
            <a:off x="2881016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THE CHALLENGE</a:t>
            </a:r>
            <a:endParaRPr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75" name="Google Shape;475;p90"/>
          <p:cNvSpPr/>
          <p:nvPr/>
        </p:nvSpPr>
        <p:spPr>
          <a:xfrm>
            <a:off x="6176700" y="1083175"/>
            <a:ext cx="2233800" cy="460800"/>
          </a:xfrm>
          <a:prstGeom prst="roundRect">
            <a:avLst>
              <a:gd name="adj" fmla="val 16667"/>
            </a:avLst>
          </a:prstGeom>
          <a:solidFill>
            <a:srgbClr val="006666"/>
          </a:solidFill>
          <a:ln w="9525" cap="flat" cmpd="sng">
            <a:solidFill>
              <a:srgbClr val="155B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WHAT BANKS NEED</a:t>
            </a:r>
            <a:endParaRPr sz="11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76" name="Google Shape;476;p9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91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2" name="Google Shape;482;p91"/>
          <p:cNvSpPr txBox="1">
            <a:spLocks noGrp="1"/>
          </p:cNvSpPr>
          <p:nvPr>
            <p:ph type="title"/>
          </p:nvPr>
        </p:nvSpPr>
        <p:spPr>
          <a:xfrm>
            <a:off x="202173" y="153865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455"/>
              <a:buNone/>
            </a:pPr>
            <a:r>
              <a:rPr/>
              <a:t>TRISK: Borrower-Level Transition Stress Testing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3" name="Google Shape;483;p91"/>
          <p:cNvSpPr/>
          <p:nvPr/>
        </p:nvSpPr>
        <p:spPr>
          <a:xfrm>
            <a:off x="65564" y="2637415"/>
            <a:ext cx="598800" cy="543000"/>
          </a:xfrm>
          <a:prstGeom prst="homePlate">
            <a:avLst>
              <a:gd name="adj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>
                <a:solidFill>
                  <a:srgbClr val="11665A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 sz="1100"/>
          </a:p>
        </p:txBody>
      </p:sp>
      <p:sp>
        <p:nvSpPr>
          <p:cNvPr id="484" name="Google Shape;484;p91"/>
          <p:cNvSpPr/>
          <p:nvPr/>
        </p:nvSpPr>
        <p:spPr>
          <a:xfrm>
            <a:off x="829025" y="1483275"/>
            <a:ext cx="1662900" cy="3166200"/>
          </a:xfrm>
          <a:prstGeom prst="roundRect">
            <a:avLst>
              <a:gd name="adj" fmla="val 16667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TRISK quantifies how transition scenarios affect individual borrower creditworthiness using DCF models and Merton-based PD estimation.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485" name="Google Shape;485;p91"/>
          <p:cNvSpPr/>
          <p:nvPr/>
        </p:nvSpPr>
        <p:spPr>
          <a:xfrm>
            <a:off x="2748684" y="1504893"/>
            <a:ext cx="27366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Power sector: Top coal-heavy borrowers show -12% to -18% NPV change under NZE-aligned stress</a:t>
            </a:r>
            <a:endParaRPr sz="1100" b="1"/>
          </a:p>
        </p:txBody>
      </p:sp>
      <p:sp>
        <p:nvSpPr>
          <p:cNvPr id="486" name="Google Shape;486;p91"/>
          <p:cNvSpPr/>
          <p:nvPr/>
        </p:nvSpPr>
        <p:spPr>
          <a:xfrm>
            <a:off x="2748684" y="2187130"/>
            <a:ext cx="27366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Cement: BF/BOF mills face -8% to -14% NPV impact under carbon price scenarios</a:t>
            </a:r>
            <a:endParaRPr sz="1100" b="1"/>
          </a:p>
        </p:txBody>
      </p:sp>
      <p:sp>
        <p:nvSpPr>
          <p:cNvPr id="487" name="Google Shape;487;p91"/>
          <p:cNvSpPr/>
          <p:nvPr/>
        </p:nvSpPr>
        <p:spPr>
          <a:xfrm>
            <a:off x="2748684" y="2810550"/>
            <a:ext cx="27366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Steel: EAF routes outperform BF/BOF by 6–10 percentage points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88" name="Google Shape;488;p91"/>
          <p:cNvSpPr/>
          <p:nvPr/>
        </p:nvSpPr>
        <p:spPr>
          <a:xfrm>
            <a:off x="2748675" y="3433975"/>
            <a:ext cx="27366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/>
              <a:t>Priority ranking combines alignment gap, NPV change, and exposure weight</a:t>
            </a:r>
            <a:endParaRPr sz="1100" b="1"/>
          </a:p>
        </p:txBody>
      </p:sp>
      <p:sp>
        <p:nvSpPr>
          <p:cNvPr id="489" name="Google Shape;489;p91"/>
          <p:cNvSpPr/>
          <p:nvPr/>
        </p:nvSpPr>
        <p:spPr>
          <a:xfrm>
            <a:off x="6002437" y="2799775"/>
            <a:ext cx="2855100" cy="5139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Sensitivity analysis: shock year, discount rate, market passthrough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0" name="Google Shape;490;p91"/>
          <p:cNvSpPr/>
          <p:nvPr/>
        </p:nvSpPr>
        <p:spPr>
          <a:xfrm>
            <a:off x="6002425" y="3423200"/>
            <a:ext cx="2883300" cy="7734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Results update instantly — no recomputation needed</a:t>
            </a:r>
            <a:endParaRPr sz="1100" b="1">
              <a:solidFill>
                <a:schemeClr val="dk1"/>
              </a:solidFill>
            </a:endParaRPr>
          </a:p>
        </p:txBody>
      </p:sp>
      <p:sp>
        <p:nvSpPr>
          <p:cNvPr id="491" name="Google Shape;491;p91"/>
          <p:cNvSpPr/>
          <p:nvPr/>
        </p:nvSpPr>
        <p:spPr>
          <a:xfrm>
            <a:off x="2718125" y="4331900"/>
            <a:ext cx="27366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Covers all three Decision 263 sectors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492" name="Google Shape;492;p9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099" y="52326"/>
            <a:ext cx="1243600" cy="43112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91"/>
          <p:cNvSpPr/>
          <p:nvPr/>
        </p:nvSpPr>
        <p:spPr>
          <a:xfrm>
            <a:off x="6002325" y="1483275"/>
            <a:ext cx="2855100" cy="5727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Scenario Builder lets you drive the five TRISK levers</a:t>
            </a:r>
            <a:endParaRPr sz="1100" b="1"/>
          </a:p>
        </p:txBody>
      </p:sp>
      <p:sp>
        <p:nvSpPr>
          <p:cNvPr id="494" name="Google Shape;494;p91"/>
          <p:cNvSpPr/>
          <p:nvPr/>
        </p:nvSpPr>
        <p:spPr>
          <a:xfrm>
            <a:off x="6002325" y="2165525"/>
            <a:ext cx="2855100" cy="513900"/>
          </a:xfrm>
          <a:prstGeom prst="flowChartAlternateProcess">
            <a:avLst/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Exportable: CSV download, HTML reports, interactive dashboard</a:t>
            </a:r>
            <a:endParaRPr sz="1100" b="1"/>
          </a:p>
        </p:txBody>
      </p:sp>
      <p:sp>
        <p:nvSpPr>
          <p:cNvPr id="495" name="Google Shape;495;p91"/>
          <p:cNvSpPr/>
          <p:nvPr/>
        </p:nvSpPr>
        <p:spPr>
          <a:xfrm>
            <a:off x="5577890" y="159577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91"/>
          <p:cNvSpPr/>
          <p:nvPr/>
        </p:nvSpPr>
        <p:spPr>
          <a:xfrm>
            <a:off x="5577890" y="22702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3E9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91"/>
          <p:cNvSpPr/>
          <p:nvPr/>
        </p:nvSpPr>
        <p:spPr>
          <a:xfrm>
            <a:off x="5577940" y="289365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91"/>
          <p:cNvSpPr/>
          <p:nvPr/>
        </p:nvSpPr>
        <p:spPr>
          <a:xfrm>
            <a:off x="5577940" y="3646825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91"/>
          <p:cNvSpPr/>
          <p:nvPr/>
        </p:nvSpPr>
        <p:spPr>
          <a:xfrm>
            <a:off x="5577890" y="4316900"/>
            <a:ext cx="331800" cy="347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91"/>
          <p:cNvSpPr/>
          <p:nvPr/>
        </p:nvSpPr>
        <p:spPr>
          <a:xfrm>
            <a:off x="6002325" y="4306125"/>
            <a:ext cx="2855100" cy="317700"/>
          </a:xfrm>
          <a:prstGeom prst="flowChartAlternateProcess">
            <a:avLst/>
          </a:prstGeom>
          <a:solidFill>
            <a:srgbClr val="B9DDD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Open-source R package on CRAN</a:t>
            </a:r>
            <a:endParaRPr sz="11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92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Engagement Offer &amp; 2026 Roadmap</a:t>
            </a:r>
            <a:endParaRPr sz="2600"/>
          </a:p>
        </p:txBody>
      </p:sp>
      <p:sp>
        <p:nvSpPr>
          <p:cNvPr id="506" name="Google Shape;506;p92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7" name="Google Shape;507;p92"/>
          <p:cNvSpPr txBox="1">
            <a:spLocks noGrp="1"/>
          </p:cNvSpPr>
          <p:nvPr>
            <p:ph type="body" idx="1"/>
          </p:nvPr>
        </p:nvSpPr>
        <p:spPr>
          <a:xfrm>
            <a:off x="319450" y="3076875"/>
            <a:ext cx="83673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/>
              <a:t>Questions?</a:t>
            </a:r>
            <a:endParaRPr sz="1500" b="1"/>
          </a:p>
          <a:p>
            <a:r>
              <a:rPr/>
              <a:t/>
            </a:r>
          </a:p>
          <a:p>
            <a:r>
              <a:rPr/>
              <a:t>We welcome the opportunity to discuss how this analytics stack can support your bank's transition-risk management and Decision 263 compliance.</a:t>
            </a:r>
          </a:p>
        </p:txBody>
      </p:sp>
      <p:sp>
        <p:nvSpPr>
          <p:cNvPr id="508" name="Google Shape;508;p92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/>
              <a:t>Proposed Engagement for 2026:</a:t>
            </a:r>
            <a:endParaRPr sz="1500" b="1"/>
          </a:p>
          <a:p>
            <a:r>
              <a:rPr/>
              <a:t/>
            </a:r>
          </a:p>
          <a:p>
            <a:r>
              <a:rPr/>
              <a:t>Phase 1: Data intake and loanbook normalization (BYOL)</a:t>
            </a:r>
          </a:p>
          <a:p>
            <a:r>
              <a:rPr/>
              <a:t>Phase 2: PACTA portfolio alignment with real borrower data</a:t>
            </a:r>
          </a:p>
          <a:p>
            <a:r>
              <a:rPr/>
              <a:t>Phase 3: TRISK stress testing and borrower ranking</a:t>
            </a:r>
          </a:p>
          <a:p>
            <a:r>
              <a:rPr/>
              <a:t>Phase 4: IFRS S2 disclosure package and board-ready report</a:t>
            </a:r>
          </a:p>
          <a:p>
            <a:r>
              <a:rPr/>
              <a:t/>
            </a:r>
          </a:p>
          <a:p>
            <a:r>
              <a:rPr/>
              <a:t>Timeline: 6–9 months from data receipt to final deliverables.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7ECE8"/>
        </a:solidFill>
        <a:effectLst/>
      </p:bgPr>
    </p:bg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3" name="Google Shape;513;p93"/>
          <p:cNvPicPr preferRelativeResize="0"/>
          <p:nvPr/>
        </p:nvPicPr>
        <p:blipFill rotWithShape="1">
          <a:blip r:embed="rId3">
            <a:alphaModFix/>
          </a:blip>
          <a:srcRect t="10929"/>
          <a:stretch/>
        </p:blipFill>
        <p:spPr>
          <a:xfrm>
            <a:off x="-13597" y="389659"/>
            <a:ext cx="9171194" cy="4810992"/>
          </a:xfrm>
          <a:prstGeom prst="rect">
            <a:avLst/>
          </a:prstGeom>
          <a:solidFill>
            <a:srgbClr val="D7ECE8"/>
          </a:solidFill>
          <a:ln>
            <a:noFill/>
          </a:ln>
        </p:spPr>
      </p:pic>
      <p:sp>
        <p:nvSpPr>
          <p:cNvPr id="514" name="Google Shape;514;p93"/>
          <p:cNvSpPr txBox="1"/>
          <p:nvPr/>
        </p:nvSpPr>
        <p:spPr>
          <a:xfrm>
            <a:off x="-25546" y="-83130"/>
            <a:ext cx="6016800" cy="2124000"/>
          </a:xfrm>
          <a:prstGeom prst="rect">
            <a:avLst/>
          </a:prstGeom>
          <a:solidFill>
            <a:srgbClr val="D6EC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5" name="Google Shape;515;p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500" y="51075"/>
            <a:ext cx="3442424" cy="1207050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9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17" name="Google Shape;517;p93"/>
          <p:cNvSpPr/>
          <p:nvPr/>
        </p:nvSpPr>
        <p:spPr>
          <a:xfrm>
            <a:off x="710600" y="1367926"/>
            <a:ext cx="4989600" cy="23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</a:pPr>
            <a:r>
              <a:rPr/>
              <a:t>Tung Ho, tah@allotropepartners.com</a:t>
            </a:r>
            <a:endParaRPr sz="1600" b="1">
              <a:solidFill>
                <a:srgbClr val="006666"/>
              </a:solidFill>
              <a:latin typeface="Cabin"/>
              <a:ea typeface="Cabin"/>
              <a:cs typeface="Cabin"/>
              <a:sym typeface="Cabin"/>
            </a:endParaRPr>
          </a:p>
          <a:p>
            <a:r>
              <a:rPr/>
              <a:t>Hang Tran, httt@allotropepartners.com</a:t>
            </a:r>
          </a:p>
          <a:p>
            <a:r>
              <a:rPr/>
              <a:t>Allotrope VC | GTB Vietnam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94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Case Study: Vietnam Bank Demo — Power Sector Alignment</a:t>
            </a:r>
            <a:endParaRPr/>
          </a:p>
        </p:txBody>
      </p:sp>
      <p:pic>
        <p:nvPicPr>
          <p:cNvPr id="523" name="Google Shape;523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200" y="1114576"/>
            <a:ext cx="3692981" cy="259441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4" name="Google Shape;524;p94"/>
          <p:cNvGraphicFramePr/>
          <p:nvPr/>
        </p:nvGraphicFramePr>
        <p:xfrm>
          <a:off x="93225" y="101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{875FF242-65BD-4BEC-9965-0DD7952A758F}</a:tableStyleId>
              </a:tblPr>
              <a:tblGrid>
                <a:gridCol w="1551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9450">
                <a:tc>
                  <a:txBody>
                    <a:bodyPr/>
                    <a:lstStyle/>
                    <a:p>
                      <a:r>
                        <a:t>Portfolio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43 loans, ~$1B USD synthetic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Power Mix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28%, Gas 12%, Hydro 10%, Solar 8%, Wind 5%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PDP8 Target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phase-down, renewables 3x by 2030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r>
                        <a:t>Gap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Coal capacity 28% above target; renewables 15% below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r>
                        <a:t>Disclaimer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Illustrative / synthetic data</a:t>
                      </a: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Key Equipment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Feed grinders, mixers, conveyors, pelletizers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Tariff Structure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Time-of-Use Industrial rates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Existing RE/BESS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3,221 kWp rooftop solar; No BESS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Main Challenges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High solar energy curtailment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94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BESS Opportunity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Peak shaving, solar+BESS integration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07950"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latin typeface="Cabin"/>
                          <a:ea typeface="Cabin"/>
                          <a:cs typeface="Cabin"/>
                          <a:sym typeface="Cabin"/>
                        </a:rPr>
                        <a:t>Data Collected</a:t>
                      </a:r>
                      <a:endParaRPr sz="1200" b="1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abin"/>
                          <a:ea typeface="Cabin"/>
                          <a:cs typeface="Cabin"/>
                          <a:sym typeface="Cabin"/>
                        </a:rPr>
                        <a:t>5-min interval load data (5 months), tariff/bill info, ops constraints</a:t>
                      </a:r>
                      <a:endParaRPr sz="1200"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0" marR="0" marT="91425" marB="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5"/>
          <p:cNvSpPr txBox="1">
            <a:spLocks noGrp="1"/>
          </p:cNvSpPr>
          <p:nvPr>
            <p:ph type="title"/>
          </p:nvPr>
        </p:nvSpPr>
        <p:spPr>
          <a:xfrm>
            <a:off x="235425" y="290225"/>
            <a:ext cx="63816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Case Study: TRISK Borrower Stress Rankings</a:t>
            </a:r>
            <a:endParaRPr/>
          </a:p>
        </p:txBody>
      </p:sp>
      <p:pic>
        <p:nvPicPr>
          <p:cNvPr id="530" name="Google Shape;530;p95"/>
          <p:cNvPicPr preferRelativeResize="0"/>
          <p:nvPr/>
        </p:nvPicPr>
        <p:blipFill rotWithShape="1">
          <a:blip r:embed="rId3">
            <a:alphaModFix/>
          </a:blip>
          <a:srcRect l="3195" t="16937"/>
          <a:stretch/>
        </p:blipFill>
        <p:spPr>
          <a:xfrm>
            <a:off x="3459728" y="1193650"/>
            <a:ext cx="4698150" cy="1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1" name="Google Shape;531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137" y="2367050"/>
            <a:ext cx="2963975" cy="22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0987" y="2367050"/>
            <a:ext cx="2860250" cy="22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5"/>
          <p:cNvSpPr txBox="1"/>
          <p:nvPr/>
        </p:nvSpPr>
        <p:spPr>
          <a:xfrm>
            <a:off x="3318201" y="46348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NPV Change by Borrower (Power)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4" name="Google Shape;534;p95"/>
          <p:cNvSpPr txBox="1"/>
          <p:nvPr/>
        </p:nvSpPr>
        <p:spPr>
          <a:xfrm>
            <a:off x="6502563" y="46348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PD Change &amp; Coal Stranded Risk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35" name="Google Shape;535;p95"/>
          <p:cNvSpPr txBox="1"/>
          <p:nvPr/>
        </p:nvSpPr>
        <p:spPr>
          <a:xfrm>
            <a:off x="58700" y="1098550"/>
            <a:ext cx="2727300" cy="36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65760" lvl="0" indent="-20701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bin"/>
              <a:buChar char="●"/>
            </a:pPr>
            <a:r>
              <a:rPr/>
              <a:t>TRISK ranks borrowers by financial stress severity under transition scenarios. Coal-heavy names (Vinh Tan, Duyen Hai, Mong Duong) show the highest NPV decline and PD increase. Renewable-focused borrowers (Trung Nam, BIM) benefit from transition tailwinds.</a:t>
            </a:r>
            <a:endParaRPr sz="11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6"/>
          <p:cNvSpPr txBox="1"/>
          <p:nvPr/>
        </p:nvSpPr>
        <p:spPr>
          <a:xfrm>
            <a:off x="252328" y="278797"/>
            <a:ext cx="6148500" cy="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/>
              <a:t>Case Study: Key Findings &amp; Takeaways</a:t>
            </a:r>
            <a:endParaRPr sz="240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41" name="Google Shape;541;p96"/>
          <p:cNvSpPr/>
          <p:nvPr/>
        </p:nvSpPr>
        <p:spPr>
          <a:xfrm>
            <a:off x="2193925" y="1546225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96"/>
          <p:cNvSpPr/>
          <p:nvPr/>
        </p:nvSpPr>
        <p:spPr>
          <a:xfrm>
            <a:off x="252325" y="1546225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96"/>
          <p:cNvSpPr/>
          <p:nvPr/>
        </p:nvSpPr>
        <p:spPr>
          <a:xfrm>
            <a:off x="2014201" y="1556438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96"/>
          <p:cNvSpPr/>
          <p:nvPr/>
        </p:nvSpPr>
        <p:spPr>
          <a:xfrm>
            <a:off x="3776076" y="1554761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6"/>
          <p:cNvSpPr/>
          <p:nvPr/>
        </p:nvSpPr>
        <p:spPr>
          <a:xfrm>
            <a:off x="5537952" y="1564973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96"/>
          <p:cNvSpPr/>
          <p:nvPr/>
        </p:nvSpPr>
        <p:spPr>
          <a:xfrm>
            <a:off x="7299825" y="1551406"/>
            <a:ext cx="1658700" cy="3216000"/>
          </a:xfrm>
          <a:prstGeom prst="roundRect">
            <a:avLst>
              <a:gd name="adj" fmla="val 16667"/>
            </a:avLst>
          </a:prstGeom>
          <a:solidFill>
            <a:srgbClr val="147668">
              <a:alpha val="3882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96"/>
          <p:cNvSpPr/>
          <p:nvPr/>
        </p:nvSpPr>
        <p:spPr>
          <a:xfrm>
            <a:off x="3779070" y="2282931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166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96"/>
          <p:cNvSpPr/>
          <p:nvPr/>
        </p:nvSpPr>
        <p:spPr>
          <a:xfrm>
            <a:off x="5538260" y="2282931"/>
            <a:ext cx="1650900" cy="2497800"/>
          </a:xfrm>
          <a:prstGeom prst="roundRect">
            <a:avLst>
              <a:gd name="adj" fmla="val 16667"/>
            </a:avLst>
          </a:prstGeom>
          <a:solidFill>
            <a:srgbClr val="14766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96"/>
          <p:cNvSpPr/>
          <p:nvPr/>
        </p:nvSpPr>
        <p:spPr>
          <a:xfrm>
            <a:off x="7299825" y="2275650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198F7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96"/>
          <p:cNvSpPr/>
          <p:nvPr/>
        </p:nvSpPr>
        <p:spPr>
          <a:xfrm>
            <a:off x="2017198" y="2282932"/>
            <a:ext cx="1655700" cy="2497800"/>
          </a:xfrm>
          <a:prstGeom prst="roundRect">
            <a:avLst>
              <a:gd name="adj" fmla="val 16667"/>
            </a:avLst>
          </a:prstGeom>
          <a:solidFill>
            <a:srgbClr val="105C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96"/>
          <p:cNvSpPr/>
          <p:nvPr/>
        </p:nvSpPr>
        <p:spPr>
          <a:xfrm>
            <a:off x="249350" y="2275651"/>
            <a:ext cx="1658700" cy="2497800"/>
          </a:xfrm>
          <a:prstGeom prst="roundRect">
            <a:avLst>
              <a:gd name="adj" fmla="val 16667"/>
            </a:avLst>
          </a:prstGeom>
          <a:solidFill>
            <a:srgbClr val="0C483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96"/>
          <p:cNvSpPr txBox="1"/>
          <p:nvPr/>
        </p:nvSpPr>
        <p:spPr>
          <a:xfrm>
            <a:off x="349245" y="1684316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Coal Stranded Risk</a:t>
            </a:r>
            <a:endParaRPr sz="1400" b="1" i="0" u="none" strike="noStrike" cap="none">
              <a:solidFill>
                <a:srgbClr val="0C483F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3" name="Google Shape;553;p96"/>
          <p:cNvSpPr txBox="1"/>
          <p:nvPr/>
        </p:nvSpPr>
        <p:spPr>
          <a:xfrm>
            <a:off x="2131483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Renewables Gap</a:t>
            </a:r>
            <a:endParaRPr sz="1400" b="0" i="0" u="none" strike="noStrike" cap="none">
              <a:solidFill>
                <a:srgbClr val="155B55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54" name="Google Shape;554;p96"/>
          <p:cNvSpPr txBox="1"/>
          <p:nvPr/>
        </p:nvSpPr>
        <p:spPr>
          <a:xfrm>
            <a:off x="3852751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Borrower Heterogeneity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5" name="Google Shape;555;p96"/>
          <p:cNvSpPr txBox="1"/>
          <p:nvPr/>
        </p:nvSpPr>
        <p:spPr>
          <a:xfrm>
            <a:off x="5577050" y="1708375"/>
            <a:ext cx="1550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Decision 263 Readiness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6" name="Google Shape;556;p96"/>
          <p:cNvSpPr txBox="1"/>
          <p:nvPr/>
        </p:nvSpPr>
        <p:spPr>
          <a:xfrm>
            <a:off x="7399896" y="1708375"/>
            <a:ext cx="1424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Interactive Exploration</a:t>
            </a:r>
            <a:endParaRPr>
              <a:solidFill>
                <a:srgbClr val="155B55"/>
              </a:solidFill>
            </a:endParaRPr>
          </a:p>
        </p:txBody>
      </p:sp>
      <p:sp>
        <p:nvSpPr>
          <p:cNvPr id="557" name="Google Shape;557;p96"/>
          <p:cNvSpPr txBox="1"/>
          <p:nvPr/>
        </p:nvSpPr>
        <p:spPr>
          <a:xfrm>
            <a:off x="285403" y="2417569"/>
            <a:ext cx="15396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28% of portfolio coal capacity exceeds PDP8 phase-down trajectory. BOT plants face cliff-edge decline post-PPA expiry (~2035).</a:t>
            </a:r>
            <a:endParaRPr/>
          </a:p>
        </p:txBody>
      </p:sp>
      <p:sp>
        <p:nvSpPr>
          <p:cNvPr id="558" name="Google Shape;558;p96"/>
          <p:cNvSpPr txBox="1"/>
          <p:nvPr/>
        </p:nvSpPr>
        <p:spPr>
          <a:xfrm>
            <a:off x="2008228" y="2417569"/>
            <a:ext cx="1664700" cy="19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Renewables buildout is 15% below 2030 target. Solar and wind capacity must triple to align with PDP8.</a:t>
            </a:r>
            <a:endParaRPr/>
          </a:p>
        </p:txBody>
      </p:sp>
      <p:sp>
        <p:nvSpPr>
          <p:cNvPr id="559" name="Google Shape;559;p96"/>
          <p:cNvSpPr txBox="1"/>
          <p:nvPr/>
        </p:nvSpPr>
        <p:spPr>
          <a:xfrm>
            <a:off x="3769064" y="2417569"/>
            <a:ext cx="1655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NPV impact ranges from -18% (coal-heavy) to +8% (renewable-focused). One-size engagement fails — borrower-specific data is essential.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0" name="Google Shape;560;p96"/>
          <p:cNvSpPr txBox="1"/>
          <p:nvPr/>
        </p:nvSpPr>
        <p:spPr>
          <a:xfrm>
            <a:off x="5520935" y="2417569"/>
            <a:ext cx="16680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Three-layer stack (PCAF → PACTA → TRISK) addresses all three Decision 263 requirements: inventory, quotas, and reduction plans.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61" name="Google Shape;561;p96"/>
          <p:cNvSpPr txBox="1"/>
          <p:nvPr/>
        </p:nvSpPr>
        <p:spPr>
          <a:xfrm>
            <a:off x="7270231" y="2417569"/>
            <a:ext cx="16836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Live dashboard with Scenario Builder lets bank teams explore levers in real time. Downloadable HTML reports and CSV exports.</a:t>
            </a:r>
            <a:endParaRPr sz="1200" b="0" i="0" u="none" strike="noStrike" cap="none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62" name="Google Shape;562;p9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8345" y="948849"/>
            <a:ext cx="528119" cy="52811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9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4269" y="1038490"/>
            <a:ext cx="449263" cy="449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9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15692" y="1037880"/>
            <a:ext cx="449873" cy="449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9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3374" y="1049995"/>
            <a:ext cx="443546" cy="4435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9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04878" y="1032036"/>
            <a:ext cx="414301" cy="414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97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2" name="Google Shape;572;p97"/>
          <p:cNvSpPr txBox="1">
            <a:spLocks noGrp="1"/>
          </p:cNvSpPr>
          <p:nvPr>
            <p:ph type="title"/>
          </p:nvPr>
        </p:nvSpPr>
        <p:spPr>
          <a:xfrm>
            <a:off x="323125" y="137300"/>
            <a:ext cx="8649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/>
              <a:t>Compliance Value: Decision 263 / TCFD / ISSB Alignment</a:t>
            </a:r>
            <a:endParaRPr sz="19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73" name="Google Shape;573;p97"/>
          <p:cNvPicPr preferRelativeResize="0"/>
          <p:nvPr/>
        </p:nvPicPr>
        <p:blipFill rotWithShape="1">
          <a:blip r:embed="rId3">
            <a:alphaModFix/>
          </a:blip>
          <a:srcRect t="8950"/>
          <a:stretch/>
        </p:blipFill>
        <p:spPr>
          <a:xfrm>
            <a:off x="3227750" y="1129675"/>
            <a:ext cx="3111900" cy="365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97"/>
          <p:cNvPicPr preferRelativeResize="0"/>
          <p:nvPr/>
        </p:nvPicPr>
        <p:blipFill rotWithShape="1">
          <a:blip r:embed="rId4">
            <a:alphaModFix/>
          </a:blip>
          <a:srcRect t="8198"/>
          <a:stretch/>
        </p:blipFill>
        <p:spPr>
          <a:xfrm>
            <a:off x="6469725" y="1129675"/>
            <a:ext cx="2584250" cy="1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25" y="1173588"/>
            <a:ext cx="3036642" cy="3611775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97"/>
          <p:cNvSpPr txBox="1"/>
          <p:nvPr/>
        </p:nvSpPr>
        <p:spPr>
          <a:xfrm>
            <a:off x="3227750" y="4785375"/>
            <a:ext cx="586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Cement &amp; Steel SDA: Emission intensity vs. 2030 NDC targets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77" name="Google Shape;577;p97"/>
          <p:cNvSpPr txBox="1"/>
          <p:nvPr/>
        </p:nvSpPr>
        <p:spPr>
          <a:xfrm>
            <a:off x="61050" y="4785375"/>
            <a:ext cx="30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Coal trajectory vs. PDP8 phase-down pathway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78" name="Google Shape;578;p9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4F1"/>
        </a:solidFill>
        <a:effectLst/>
      </p:bgPr>
    </p:bg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98"/>
          <p:cNvSpPr/>
          <p:nvPr/>
        </p:nvSpPr>
        <p:spPr>
          <a:xfrm>
            <a:off x="65575" y="69625"/>
            <a:ext cx="8991000" cy="9201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1D7E74"/>
          </a:solidFill>
          <a:ln>
            <a:noFill/>
          </a:ln>
          <a:effectLst>
            <a:outerShdw blurRad="28575" dist="38100" dir="2580000" algn="bl" rotWithShape="0">
              <a:srgbClr val="B5D8D0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778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400" b="0" i="0" u="none" strike="noStrike" cap="none">
                <a:solidFill>
                  <a:srgbClr val="FBFBFB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endParaRPr sz="1500" b="1" i="0" u="none" strike="noStrike" cap="none">
              <a:solidFill>
                <a:srgbClr val="FBFBFB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84" name="Google Shape;584;p98"/>
          <p:cNvSpPr txBox="1">
            <a:spLocks noGrp="1"/>
          </p:cNvSpPr>
          <p:nvPr>
            <p:ph type="title"/>
          </p:nvPr>
        </p:nvSpPr>
        <p:spPr>
          <a:xfrm>
            <a:off x="323150" y="137292"/>
            <a:ext cx="8188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rPr/>
              <a:t>Live Dashboard: Interactive Portfolio Exploration</a:t>
            </a:r>
            <a:endParaRPr sz="2060" b="1">
              <a:solidFill>
                <a:schemeClr val="lt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85" name="Google Shape;585;p98"/>
          <p:cNvPicPr preferRelativeResize="0"/>
          <p:nvPr/>
        </p:nvPicPr>
        <p:blipFill rotWithShape="1">
          <a:blip r:embed="rId3">
            <a:alphaModFix/>
          </a:blip>
          <a:srcRect t="12173"/>
          <a:stretch/>
        </p:blipFill>
        <p:spPr>
          <a:xfrm>
            <a:off x="144575" y="1165850"/>
            <a:ext cx="3003944" cy="358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4948" y="1142125"/>
            <a:ext cx="2539224" cy="160529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61125" y="1142125"/>
            <a:ext cx="3101224" cy="3581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4949" y="2788925"/>
            <a:ext cx="2581625" cy="138904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98"/>
          <p:cNvSpPr txBox="1"/>
          <p:nvPr/>
        </p:nvSpPr>
        <p:spPr>
          <a:xfrm>
            <a:off x="61050" y="4785375"/>
            <a:ext cx="303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PACTA Alignment: Sector-level KPIs and interactive charts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90" name="Google Shape;590;p98"/>
          <p:cNvSpPr txBox="1"/>
          <p:nvPr/>
        </p:nvSpPr>
        <p:spPr>
          <a:xfrm>
            <a:off x="3261125" y="4785375"/>
            <a:ext cx="321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TRISK Risk: Borrower stress rankings with sensitivity controls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91" name="Google Shape;591;p98"/>
          <p:cNvSpPr txBox="1"/>
          <p:nvPr/>
        </p:nvSpPr>
        <p:spPr>
          <a:xfrm>
            <a:off x="6781575" y="4386675"/>
            <a:ext cx="22326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Scenario Builder: Drive the five TRISK levers in real time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592" name="Google Shape;592;p9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30116" y="66645"/>
            <a:ext cx="1207990" cy="420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101"/>
          <p:cNvSpPr txBox="1">
            <a:spLocks noGrp="1"/>
          </p:cNvSpPr>
          <p:nvPr>
            <p:ph type="title"/>
          </p:nvPr>
        </p:nvSpPr>
        <p:spPr>
          <a:xfrm>
            <a:off x="235425" y="135250"/>
            <a:ext cx="7978800" cy="429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Proposed Next Steps</a:t>
            </a:r>
            <a:endParaRPr sz="2600"/>
          </a:p>
        </p:txBody>
      </p:sp>
      <p:sp>
        <p:nvSpPr>
          <p:cNvPr id="620" name="Google Shape;620;p101"/>
          <p:cNvSpPr/>
          <p:nvPr/>
        </p:nvSpPr>
        <p:spPr>
          <a:xfrm>
            <a:off x="319450" y="1173550"/>
            <a:ext cx="8367300" cy="155700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7CD0C8"/>
          </a:solidFill>
          <a:ln>
            <a:noFill/>
          </a:ln>
          <a:effectLst>
            <a:outerShdw blurRad="21431" dist="85725" dir="2580000" algn="bl" rotWithShape="0">
              <a:srgbClr val="155B54">
                <a:alpha val="94510"/>
              </a:srgbClr>
            </a:outerShdw>
          </a:effectLst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endParaRPr sz="1500" b="0" i="0" u="none" strike="noStrike" cap="none">
              <a:solidFill>
                <a:srgbClr val="000000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21" name="Google Shape;621;p101"/>
          <p:cNvSpPr txBox="1">
            <a:spLocks noGrp="1"/>
          </p:cNvSpPr>
          <p:nvPr>
            <p:ph type="body" idx="1"/>
          </p:nvPr>
        </p:nvSpPr>
        <p:spPr>
          <a:xfrm>
            <a:off x="319450" y="3076874"/>
            <a:ext cx="8611500" cy="18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/>
              <a:t>We are ready to begin Phase 1 upon receipt of loanbook data.</a:t>
            </a:r>
            <a:endParaRPr sz="1500" b="1"/>
          </a:p>
          <a:p>
            <a:r>
              <a:rPr/>
              <a:t/>
            </a:r>
          </a:p>
          <a:p>
            <a:r>
              <a:rPr/>
              <a:t>All analytics are open-source with no licensing fees.</a:t>
            </a:r>
          </a:p>
          <a:p>
            <a:r>
              <a:rPr/>
              <a:t/>
            </a:r>
          </a:p>
          <a:p>
            <a:r>
              <a:rPr/>
              <a:t>Synthetic demo available for immediate internal training.</a:t>
            </a:r>
          </a:p>
        </p:txBody>
      </p:sp>
      <p:sp>
        <p:nvSpPr>
          <p:cNvPr id="622" name="Google Shape;622;p101"/>
          <p:cNvSpPr txBox="1">
            <a:spLocks noGrp="1"/>
          </p:cNvSpPr>
          <p:nvPr>
            <p:ph type="body" idx="1"/>
          </p:nvPr>
        </p:nvSpPr>
        <p:spPr>
          <a:xfrm>
            <a:off x="424525" y="1362125"/>
            <a:ext cx="8130300" cy="136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/>
              <a:t>Immediate actions:</a:t>
            </a:r>
            <a:endParaRPr sz="1500" b="1"/>
          </a:p>
          <a:p>
            <a:r>
              <a:rPr/>
              <a:t/>
            </a:r>
          </a:p>
          <a:p>
            <a:r>
              <a:rPr/>
              <a:t>1. Share loanbook template for BYOL intake validation</a:t>
            </a:r>
          </a:p>
          <a:p>
            <a:r>
              <a:rPr/>
              <a:t>2. Identify Decision 263 borrower subset for priority analysis</a:t>
            </a:r>
          </a:p>
          <a:p>
            <a:r>
              <a:rPr/>
              <a:t>3. Schedule technical workshop with risk and ESG teams</a:t>
            </a:r>
          </a:p>
          <a:p>
            <a:r>
              <a:rPr/>
              <a:t>4. Define scenario preferences (PDP8, NDC, IEA NZE)</a:t>
            </a:r>
          </a:p>
          <a:p>
            <a:r>
              <a:rPr/>
              <a:t>5. Agree on reporting language and disclosure timeline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2"/>
          <p:cNvSpPr txBox="1">
            <a:spLocks noGrp="1"/>
          </p:cNvSpPr>
          <p:nvPr>
            <p:ph type="title"/>
          </p:nvPr>
        </p:nvSpPr>
        <p:spPr>
          <a:xfrm>
            <a:off x="254800" y="270875"/>
            <a:ext cx="7978800" cy="4290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>Questions &amp; Discussion</a:t>
            </a:r>
            <a:endParaRPr sz="2600"/>
          </a:p>
        </p:txBody>
      </p:sp>
      <p:sp>
        <p:nvSpPr>
          <p:cNvPr id="628" name="Google Shape;628;p102"/>
          <p:cNvSpPr txBox="1">
            <a:spLocks noGrp="1"/>
          </p:cNvSpPr>
          <p:nvPr>
            <p:ph type="body" idx="1"/>
          </p:nvPr>
        </p:nvSpPr>
        <p:spPr>
          <a:xfrm>
            <a:off x="337325" y="1192326"/>
            <a:ext cx="86115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bin"/>
              <a:buNone/>
            </a:pPr>
            <a:r>
              <a:rPr/>
              <a:t>We welcome questions on methodology, data requirements, implementation timeline, or any aspect of the PACTA + TRISK analytics stack.</a:t>
            </a:r>
            <a:endParaRPr sz="1500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llotrope Partners Simpl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imple Light">
  <a:themeElements>
    <a:clrScheme name="Simple Light">
      <a:dk1>
        <a:srgbClr val="2F645B"/>
      </a:dk1>
      <a:lt1>
        <a:srgbClr val="FFFFFF"/>
      </a:lt1>
      <a:dk2>
        <a:srgbClr val="595959"/>
      </a:dk2>
      <a:lt2>
        <a:srgbClr val="EEEEEE"/>
      </a:lt2>
      <a:accent1>
        <a:srgbClr val="B5D8D0"/>
      </a:accent1>
      <a:accent2>
        <a:srgbClr val="33716C"/>
      </a:accent2>
      <a:accent3>
        <a:srgbClr val="64B4A3"/>
      </a:accent3>
      <a:accent4>
        <a:srgbClr val="FFAB40"/>
      </a:accent4>
      <a:accent5>
        <a:srgbClr val="33716C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3165</Words>
  <Application>Microsoft Office PowerPoint</Application>
  <PresentationFormat>On-screen Show (16:9)</PresentationFormat>
  <Paragraphs>379</Paragraphs>
  <Slides>25</Slides>
  <Notes>25</Notes>
  <HiddenSlides>10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25</vt:i4>
      </vt:variant>
    </vt:vector>
  </HeadingPairs>
  <TitlesOfParts>
    <vt:vector size="38" baseType="lpstr">
      <vt:lpstr>Verdana</vt:lpstr>
      <vt:lpstr>Calibri</vt:lpstr>
      <vt:lpstr>Cabin</vt:lpstr>
      <vt:lpstr>Arial</vt:lpstr>
      <vt:lpstr>Roboto Thin</vt:lpstr>
      <vt:lpstr>Roboto</vt:lpstr>
      <vt:lpstr>Montserrat</vt:lpstr>
      <vt:lpstr>Cabin Medium</vt:lpstr>
      <vt:lpstr>Simple Light</vt:lpstr>
      <vt:lpstr>Simple Light</vt:lpstr>
      <vt:lpstr>Allotrope Partners Simple</vt:lpstr>
      <vt:lpstr>Simple Light</vt:lpstr>
      <vt:lpstr>Office Theme</vt:lpstr>
      <vt:lpstr>Allotrope Vietnam Progress Update For Tara Greening the Banks &amp; Energy Storage in Vietnam December 2025</vt:lpstr>
      <vt:lpstr>PowerPoint Presentation</vt:lpstr>
      <vt:lpstr>Greening the Banks Vietnam:  Status Update on Outputs </vt:lpstr>
      <vt:lpstr>State-Owned Champion Bank Collaboration:  BIDV Progress Update - Summary  </vt:lpstr>
      <vt:lpstr>State-Owned Champion Bank Collaboration:  BIDV Progress Update - Sustainability Linked Loans</vt:lpstr>
      <vt:lpstr>Commercial Champion Bank Collaboration:  TCB Progress Update - Summary  </vt:lpstr>
      <vt:lpstr>Looking Ahead:  Proposed 2026 GTB Vietnam Activities</vt:lpstr>
      <vt:lpstr>PowerPoint Presentation</vt:lpstr>
      <vt:lpstr>Site Analysis 1:  Emivest: Behind-the-Meter BESS</vt:lpstr>
      <vt:lpstr>Site Analysis 1:  Emivest: Behind-the-Meter BESS</vt:lpstr>
      <vt:lpstr>PowerPoint Presentation</vt:lpstr>
      <vt:lpstr>State-Owned Champion Bank Collaboration:  BIDV Progress Update - Scope 1,2, 3 Non Financed Report and Tool Completed</vt:lpstr>
      <vt:lpstr>State-Owned Champion Bank Collaboration:  BIDV Progress Update - Scope 3 Financed Report and Tool in Progress</vt:lpstr>
      <vt:lpstr>Commercial Champion Bank Collaboration:  TCB Progress Update - Scope 1 and 2 Report and Tool Completed</vt:lpstr>
      <vt:lpstr>Commercial Champion Bank Collaboration:  TCB Progress Update - Scope 3 Financed Report and Tool in Progress </vt:lpstr>
      <vt:lpstr>Looking Ahead:  Proposed 2026 GTB Vietnam Activities</vt:lpstr>
      <vt:lpstr>Questions and Discussion </vt:lpstr>
      <vt:lpstr>State-Owned Champion Bank Collaboration:  BIDV Progress Update - Summary  </vt:lpstr>
      <vt:lpstr>Commercial Champion Bank Collaboration:  TCB Progress Update - Summary   </vt:lpstr>
      <vt:lpstr>Case Study</vt:lpstr>
      <vt:lpstr>Site Analysis 2:  Ninh Sim Solar Farm: Utility-Scale BESS</vt:lpstr>
      <vt:lpstr>BIDV progress updated</vt:lpstr>
      <vt:lpstr>State-Owned Champion Bank Collaboration:  BIDV Progress Assessment - Sustainability Linked Loans</vt:lpstr>
      <vt:lpstr>BIDV Progress Assessment - Financed Emission</vt:lpstr>
      <vt:lpstr>TCB progress updated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Tung Ho</cp:lastModifiedBy>
  <cp:revision>1</cp:revision>
  <dcterms:modified xsi:type="dcterms:W3CDTF">2026-06-08T21:37:31Z</dcterms:modified>
</cp:coreProperties>
</file>