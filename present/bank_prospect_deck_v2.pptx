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9" r:id="rId1"/>
    <p:sldMasterId id="2147483720" r:id="rId2"/>
    <p:sldMasterId id="2147483721" r:id="rId3"/>
    <p:sldMasterId id="2147483722" r:id="rId4"/>
    <p:sldMasterId id="2147483723" r:id="rId5"/>
  </p:sldMasterIdLst>
  <p:notesMasterIdLst>
    <p:notesMasterId r:id="rId31"/>
  </p:notesMasterIdLst>
  <p:sldIdLst>
    <p:sldId id="256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80" r:id="rId21"/>
    <p:sldId id="281" r:id="rId22"/>
  </p:sldIdLst>
  <p:sldSz cx="9144000" cy="5143500" type="screen16x9"/>
  <p:notesSz cx="6858000" cy="9144000"/>
  <p:embeddedFontLst>
    <p:embeddedFont>
      <p:font typeface="Cabin" panose="020B0604020202020204" charset="0"/>
      <p:regular r:id="rId32"/>
      <p:bold r:id="rId33"/>
      <p:italic r:id="rId34"/>
      <p:boldItalic r:id="rId35"/>
    </p:embeddedFont>
    <p:embeddedFont>
      <p:font typeface="Cabin Medium" panose="020B0604020202020204" charset="0"/>
      <p:regular r:id="rId36"/>
      <p:bold r:id="rId37"/>
      <p:italic r:id="rId38"/>
      <p:boldItalic r:id="rId39"/>
    </p:embeddedFont>
    <p:embeddedFont>
      <p:font typeface="Montserrat" panose="00000500000000000000" pitchFamily="2" charset="0"/>
      <p:regular r:id="rId40"/>
      <p:bold r:id="rId41"/>
      <p:italic r:id="rId42"/>
      <p:boldItalic r:id="rId43"/>
    </p:embeddedFont>
    <p:embeddedFont>
      <p:font typeface="Roboto" panose="02000000000000000000" pitchFamily="2" charset="0"/>
      <p:regular r:id="rId44"/>
      <p:bold r:id="rId45"/>
      <p:italic r:id="rId46"/>
      <p:boldItalic r:id="rId47"/>
    </p:embeddedFont>
    <p:embeddedFont>
      <p:font typeface="Roboto Thin" panose="020F0502020204030204" pitchFamily="2" charset="0"/>
      <p:regular r:id="rId48"/>
      <p:bold r:id="rId49"/>
      <p:italic r:id="rId50"/>
      <p:boldItalic r:id="rId51"/>
    </p:embeddedFont>
    <p:embeddedFont>
      <p:font typeface="Verdana" panose="020B0604030504040204" pitchFamily="34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chelle Murphy Rogers" initials="" lastIdx="5" clrIdx="0"/>
  <p:cmAuthor id="1" name="Hang Tran" initials="" lastIdx="4" clrIdx="1"/>
  <p:cmAuthor id="2" name="Tung Ho" initials="" lastIdx="5" clrIdx="2"/>
  <p:cmAuthor id="3" name="Hong Anh Le" initials="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5FF242-65BD-4BEC-9965-0DD7952A758F}">
  <a:tblStyle styleId="{875FF242-65BD-4BEC-9965-0DD7952A75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10B0612-A9F4-49DA-BEA1-DD1CF77D77B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font" Target="fonts/font7.fntdata"/><Relationship Id="rId39" Type="http://schemas.openxmlformats.org/officeDocument/2006/relationships/font" Target="fonts/font8.fntdata"/><Relationship Id="rId40" Type="http://schemas.openxmlformats.org/officeDocument/2006/relationships/font" Target="fonts/font9.fntdata"/><Relationship Id="rId41" Type="http://schemas.openxmlformats.org/officeDocument/2006/relationships/font" Target="fonts/font10.fntdata"/><Relationship Id="rId42" Type="http://schemas.openxmlformats.org/officeDocument/2006/relationships/font" Target="fonts/font11.fntdata"/><Relationship Id="rId43" Type="http://schemas.openxmlformats.org/officeDocument/2006/relationships/font" Target="fonts/font12.fntdata"/><Relationship Id="rId44" Type="http://schemas.openxmlformats.org/officeDocument/2006/relationships/font" Target="fonts/font13.fntdata"/><Relationship Id="rId45" Type="http://schemas.openxmlformats.org/officeDocument/2006/relationships/font" Target="fonts/font14.fntdata"/><Relationship Id="rId46" Type="http://schemas.openxmlformats.org/officeDocument/2006/relationships/font" Target="fonts/font15.fntdata"/><Relationship Id="rId47" Type="http://schemas.openxmlformats.org/officeDocument/2006/relationships/font" Target="fonts/font16.fntdata"/><Relationship Id="rId48" Type="http://schemas.openxmlformats.org/officeDocument/2006/relationships/font" Target="fonts/font17.fntdata"/><Relationship Id="rId49" Type="http://schemas.openxmlformats.org/officeDocument/2006/relationships/font" Target="fonts/font18.fntdata"/><Relationship Id="rId50" Type="http://schemas.openxmlformats.org/officeDocument/2006/relationships/font" Target="fonts/font19.fntdata"/><Relationship Id="rId51" Type="http://schemas.openxmlformats.org/officeDocument/2006/relationships/font" Target="fonts/font20.fntdata"/><Relationship Id="rId52" Type="http://schemas.openxmlformats.org/officeDocument/2006/relationships/font" Target="fonts/font21.fntdata"/><Relationship Id="rId53" Type="http://schemas.openxmlformats.org/officeDocument/2006/relationships/font" Target="fonts/font22.fntdata"/><Relationship Id="rId54" Type="http://schemas.openxmlformats.org/officeDocument/2006/relationships/font" Target="fonts/font23.fntdata"/><Relationship Id="rId55" Type="http://schemas.openxmlformats.org/officeDocument/2006/relationships/font" Target="fonts/font24.fntdata"/><Relationship Id="rId56" Type="http://schemas.openxmlformats.org/officeDocument/2006/relationships/commentAuthors" Target="commentAuthors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2-15T17:10:50.712" idx="1">
    <p:pos x="6000" y="0"/>
    <p:text>Old version for reference.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hyperlink" Target="https://docs.google.com/document/d/1lNu75DV_dsuDCatkWwJVwZ9P2aEZFXGAneJqEtYxiqg/edit?usp=drive_web&amp;ouid=110129334967514612996" TargetMode="External"/><Relationship Id="rId4" Type="http://schemas.openxmlformats.org/officeDocument/2006/relationships/hyperlink" Target="https://docs.google.com/document/d/1vjYSWf2AaXVCbPSylEtoetOKLXQMj9b5tsP8fW8z96o/edit?usp=drive_web&amp;ouid=110129334967514612996" TargetMode="External"/><Relationship Id="rId5" Type="http://schemas.openxmlformats.org/officeDocument/2006/relationships/hyperlink" Target="https://docs.google.com/document/d/1tMYTZ2FfYfJdRIqlDjr8YqoAzWhzYb17o7RIIhdDynQ/edit?tab=t.0" TargetMode="External"/><Relationship Id="rId6" Type="http://schemas.openxmlformats.org/officeDocument/2006/relationships/hyperlink" Target="https://docs.google.com/spreadsheets/d/18a7bp3UjUb8URdInX1H4RCImk-Vgo7Il/edit?gid=2002645182#gid=2002645182" TargetMode="External"/><Relationship Id="rId7" Type="http://schemas.openxmlformats.org/officeDocument/2006/relationships/hyperlink" Target="https://docs.google.com/spreadsheets/d/11nW9LrXcM_mSuRHxOyVrIn4Wu0-rCcej/edit?usp=drive_web&amp;ouid=110129334967514612996&amp;rtpof=true" TargetMode="External"/><Relationship Id="rId8" Type="http://schemas.openxmlformats.org/officeDocument/2006/relationships/hyperlink" Target="https://docs.google.com/document/d/1FiCTE8AymsQRhkmPor6S4CtBSLjauuRa4oCbpskTXGw/edit?tab=t.0" TargetMode="External"/><Relationship Id="rId9" Type="http://schemas.openxmlformats.org/officeDocument/2006/relationships/hyperlink" Target="https://docs.google.com/document/d/1ffcBplqD6JFLn95i4aYfDnWSWDNL3njL8PM5qyaYoBk/edit?usp=drive_web&amp;ouid=110129334967514612996" TargetMode="External"/><Relationship Id="rId10" Type="http://schemas.openxmlformats.org/officeDocument/2006/relationships/hyperlink" Target="https://docs.google.com/document/d/1bo-TW5PvIBaRl-rAglnwz3v8at7ORtgOVaxXfDxda5Q/edit?tab=t.0" TargetMode="External"/><Relationship Id="rId11" Type="http://schemas.openxmlformats.org/officeDocument/2006/relationships/hyperlink" Target="https://docs.google.com/document/d/1TOyMDouelzQ7ZwE_c7xdmpuhLcWhGLw71QwABO6-U1U/edit?tab=t.0" TargetMode="Externa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Relationship Id="rId3" Type="http://schemas.openxmlformats.org/officeDocument/2006/relationships/hyperlink" Target="https://docs.google.com/document/d/1lNu75DV_dsuDCatkWwJVwZ9P2aEZFXGAneJqEtYxiqg/edit?usp=drive_web&amp;ouid=110129334967514612996" TargetMode="External"/><Relationship Id="rId4" Type="http://schemas.openxmlformats.org/officeDocument/2006/relationships/hyperlink" Target="https://docs.google.com/document/d/1vjYSWf2AaXVCbPSylEtoetOKLXQMj9b5tsP8fW8z96o/edit?usp=drive_web&amp;ouid=110129334967514612996" TargetMode="External"/><Relationship Id="rId5" Type="http://schemas.openxmlformats.org/officeDocument/2006/relationships/hyperlink" Target="https://docs.google.com/document/d/1tMYTZ2FfYfJdRIqlDjr8YqoAzWhzYb17o7RIIhdDynQ/edit?tab=t.0" TargetMode="External"/><Relationship Id="rId6" Type="http://schemas.openxmlformats.org/officeDocument/2006/relationships/hyperlink" Target="https://docs.google.com/spreadsheets/d/18a7bp3UjUb8URdInX1H4RCImk-Vgo7Il/edit?gid=2002645182#gid=2002645182" TargetMode="External"/><Relationship Id="rId7" Type="http://schemas.openxmlformats.org/officeDocument/2006/relationships/hyperlink" Target="https://docs.google.com/spreadsheets/d/11nW9LrXcM_mSuRHxOyVrIn4Wu0-rCcej/edit?usp=drive_web&amp;ouid=110129334967514612996&amp;rtpof=true" TargetMode="External"/><Relationship Id="rId8" Type="http://schemas.openxmlformats.org/officeDocument/2006/relationships/hyperlink" Target="https://docs.google.com/document/d/1FiCTE8AymsQRhkmPor6S4CtBSLjauuRa4oCbpskTXGw/edit?tab=t.0" TargetMode="External"/><Relationship Id="rId9" Type="http://schemas.openxmlformats.org/officeDocument/2006/relationships/hyperlink" Target="https://docs.google.com/document/d/1ffcBplqD6JFLn95i4aYfDnWSWDNL3njL8PM5qyaYoBk/edit?usp=drive_web&amp;ouid=110129334967514612996" TargetMode="External"/><Relationship Id="rId10" Type="http://schemas.openxmlformats.org/officeDocument/2006/relationships/hyperlink" Target="https://docs.google.com/document/d/1bo-TW5PvIBaRl-rAglnwz3v8at7ORtgOVaxXfDxda5Q/edit?tab=t.0" TargetMode="External"/><Relationship Id="rId11" Type="http://schemas.openxmlformats.org/officeDocument/2006/relationships/hyperlink" Target="https://docs.google.com/document/d/1TOyMDouelzQ7ZwE_c7xdmpuhLcWhGLw71QwABO6-U1U/edit?tab=t.0" TargetMode="Externa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Relationship Id="rId3" Type="http://schemas.openxmlformats.org/officeDocument/2006/relationships/hyperlink" Target="https://docs.google.com/document/d/1lNu75DV_dsuDCatkWwJVwZ9P2aEZFXGAneJqEtYxiqg/edit?usp=drive_web&amp;ouid=110129334967514612996" TargetMode="External"/><Relationship Id="rId4" Type="http://schemas.openxmlformats.org/officeDocument/2006/relationships/hyperlink" Target="https://docs.google.com/document/d/1vjYSWf2AaXVCbPSylEtoetOKLXQMj9b5tsP8fW8z96o/edit?usp=drive_web&amp;ouid=110129334967514612996" TargetMode="External"/><Relationship Id="rId5" Type="http://schemas.openxmlformats.org/officeDocument/2006/relationships/hyperlink" Target="https://docs.google.com/document/d/1tMYTZ2FfYfJdRIqlDjr8YqoAzWhzYb17o7RIIhdDynQ/edit?tab=t.0" TargetMode="External"/><Relationship Id="rId6" Type="http://schemas.openxmlformats.org/officeDocument/2006/relationships/hyperlink" Target="https://docs.google.com/spreadsheets/d/18a7bp3UjUb8URdInX1H4RCImk-Vgo7Il/edit?gid=2002645182#gid=2002645182" TargetMode="External"/><Relationship Id="rId7" Type="http://schemas.openxmlformats.org/officeDocument/2006/relationships/hyperlink" Target="https://docs.google.com/spreadsheets/d/11nW9LrXcM_mSuRHxOyVrIn4Wu0-rCcej/edit?usp=drive_web&amp;ouid=110129334967514612996&amp;rtpof=true" TargetMode="External"/><Relationship Id="rId8" Type="http://schemas.openxmlformats.org/officeDocument/2006/relationships/hyperlink" Target="https://docs.google.com/document/d/1FiCTE8AymsQRhkmPor6S4CtBSLjauuRa4oCbpskTXGw/edit?tab=t.0" TargetMode="External"/><Relationship Id="rId9" Type="http://schemas.openxmlformats.org/officeDocument/2006/relationships/hyperlink" Target="https://docs.google.com/document/d/1ffcBplqD6JFLn95i4aYfDnWSWDNL3njL8PM5qyaYoBk/edit?usp=drive_web&amp;ouid=110129334967514612996" TargetMode="External"/><Relationship Id="rId10" Type="http://schemas.openxmlformats.org/officeDocument/2006/relationships/hyperlink" Target="https://docs.google.com/document/d/1bo-TW5PvIBaRl-rAglnwz3v8at7ORtgOVaxXfDxda5Q/edit?tab=t.0" TargetMode="External"/><Relationship Id="rId11" Type="http://schemas.openxmlformats.org/officeDocument/2006/relationships/hyperlink" Target="https://docs.google.com/document/d/1TOyMDouelzQ7ZwE_c7xdmpuhLcWhGLw71QwABO6-U1U/edit?tab=t.0" TargetMode="Externa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f7e9bc34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af7e9bc34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Welcome and introductions. This deck presents our PACTA + TRISK analytics stack for Vietnamese banks navigating Decision 263 and transition-risk compliance.</a:t>
            </a:r>
            <a:endParaRPr/>
          </a:p>
          <a:p/>
          <a:p>
            <a:r>
              <a:t>Key message: We offer an integrated, open-source, no-licensing-fee solution that takes a bank from GHG inventory through portfolio alignment to borrower-level stress testing and IFRS S2 disclosure.</a:t>
            </a:r>
          </a:p>
          <a:p/>
          <a:p>
            <a:r>
              <a:t>Synthetic data disclaimer: All case-study results in this deck use illustrative synthetic data — not actual portfolio results.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f7e9bc34a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Walk through the four-part agenda:</a:t>
            </a:r>
            <a:endParaRPr/>
          </a:p>
          <a:p>
            <a:r>
              <a:t>1. The Problem — Decision 263 mandates and the analytical gap</a:t>
            </a:r>
          </a:p>
          <a:p>
            <a:r>
              <a:t>2. Our Approach — Three-layer compliance stack (PCAF, PACTA, TRISK)</a:t>
            </a:r>
          </a:p>
          <a:p>
            <a:r>
              <a:t>3. Case Study — Vietnam bank demo with synthetic data</a:t>
            </a:r>
          </a:p>
          <a:p>
            <a:r>
              <a:t>4. Next Steps — How to engage and timeline</a:t>
            </a:r>
          </a:p>
        </p:txBody>
      </p:sp>
      <p:sp>
        <p:nvSpPr>
          <p:cNvPr id="416" name="Google Shape;416;g3af7e9bc34a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afa97814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afa97814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Frame the challenge: Decision 263/QĐ-TTg (signed July 2024) requires banks to:</a:t>
            </a:r>
            <a:endParaRPr b="1">
              <a:solidFill>
                <a:srgbClr val="222222"/>
              </a:solidFill>
              <a:highlight>
                <a:srgbClr val="FFFFFF"/>
              </a:highlight>
            </a:endParaRPr>
          </a:p>
          <a:p>
            <a:r>
              <a:t>- Report GHG emissions from financed activities</a:t>
            </a:r>
          </a:p>
          <a:p>
            <a:r>
              <a:t>- Set reduction targets aligned with Vietnam's NDC (43.5% conditional by 2030)</a:t>
            </a:r>
          </a:p>
          <a:p>
            <a:r>
              <a:t>- Develop transition plans for high-carbon borrowers</a:t>
            </a:r>
          </a:p>
          <a:p/>
          <a:p>
            <a:r>
              <a:t>The problem: Most Vietnamese banks lack the analytical tools to quantify portfolio alignment or borrower-level financial stress under transition scenarios.</a:t>
            </a:r>
          </a:p>
          <a:p/>
          <a:p>
            <a:r>
              <a:t>Ask: 'How is your bank currently assessing transition risk for your loan portfolio?'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b081b3d2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g3b081b3d2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Present the four-layer stack:</a:t>
            </a:r>
            <a:endParaRPr b="1">
              <a:solidFill>
                <a:srgbClr val="222222"/>
              </a:solidFill>
              <a:highlight>
                <a:srgbClr val="FFFFFF"/>
              </a:highlight>
            </a:endParaRPr>
          </a:p>
          <a:p>
            <a:r>
              <a:t>- Layer 1 PCAF: Measure — GHG inventory for Scope 1, 2, and 3 (financed and non-financed)</a:t>
            </a:r>
          </a:p>
          <a:p>
            <a:r>
              <a:t>- Layer 2 PACTA: Align — Portfolio alignment against PDP8, NDC, and IEA NZE scenarios</a:t>
            </a:r>
          </a:p>
          <a:p>
            <a:r>
              <a:t>- Layer 3 TRISK: Stress — Borrower-level NPV and PD impact under transition scenarios</a:t>
            </a:r>
          </a:p>
          <a:p>
            <a:r>
              <a:t>- Layer 4 IFRS S2: Disclose — TCFD/ISSB-compliant reporting outputs</a:t>
            </a:r>
          </a:p>
          <a:p/>
          <a:p>
            <a:r>
              <a:t>Key differentiator: All layers use open-source R packages (r2dii.*, pacta.loanbook, trisk.model) with no licensing fees. The stack is modular — banks can adopt one layer or all four.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b00ecbda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g3b00ecbda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PACTA deep-dive: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r>
              <a:t>- Market-share method for power and automotive sectors</a:t>
            </a:r>
          </a:p>
          <a:p>
            <a:r>
              <a:t>- Sectoral Decarbonization Approach (SDA) for cement and steel</a:t>
            </a:r>
          </a:p>
          <a:p>
            <a:r>
              <a:t>- Fuzzy matching with manual review for Vietnamese company names</a:t>
            </a:r>
          </a:p>
          <a:p>
            <a:r>
              <a:t>- Custom PDP8 scenario interpolation from Vietnam's Power Development Plan 8</a:t>
            </a:r>
          </a:p>
          <a:p/>
          <a:p>
            <a:r>
              <a:t>Synthetic demo results: 43-loan portfolio (~$1B USD) shows coal capacity 28% above PDP8 target and renewables 15% below 2030 trajectory.</a:t>
            </a:r>
          </a:p>
          <a:p/>
          <a:p>
            <a:r>
              <a:t>Emphasize: Company-level results enable borrower-specific engagement, not just portfolio-level averages.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081b3d21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9" name="Google Shape;479;g3b081b3d21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TRISK deep-dive:</a:t>
            </a:r>
            <a:endParaRPr b="1">
              <a:solidFill>
                <a:srgbClr val="222222"/>
              </a:solidFill>
              <a:highlight>
                <a:srgbClr val="FFFFFF"/>
              </a:highlight>
            </a:endParaRPr>
          </a:p>
          <a:p>
            <a:r>
              <a:t>- DCF-based NPV modeling for each borrower's physical assets</a:t>
            </a:r>
          </a:p>
          <a:p>
            <a:r>
              <a:t>- Merton-model PD estimation under transition stress</a:t>
            </a:r>
          </a:p>
          <a:p>
            <a:r>
              <a:t>- Five configurable levers: shock year, discount rate, risk-free rate, market passthrough, carbon-price family</a:t>
            </a:r>
          </a:p>
          <a:p>
            <a:r>
              <a:t>- Sensitivity analysis built into the Scenario Builder dashboard page</a:t>
            </a:r>
          </a:p>
          <a:p/>
          <a:p>
            <a:r>
              <a:t>Key finding: Coal-heavy borrowers show -12% to -18% NPV change under NZE-aligned stress, while renewable-focused borrowers benefit from transition tailwinds (+8% NPV).</a:t>
            </a:r>
          </a:p>
          <a:p/>
          <a:p>
            <a:r>
              <a:t>Emphasize: Results update instantly — no recomputation needed when levers change.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f7e9bc34a_0_1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Case study: Power sector alignment</a:t>
            </a:r>
            <a:endParaRPr/>
          </a:p>
          <a:p>
            <a:r>
              <a:t>- Synthetic MCB portfolio: 43 loans across power, automotive, cement, steel, coal</a:t>
            </a:r>
          </a:p>
          <a:p>
            <a:r>
              <a:t>- Power mix: Coal 28%, Gas 12%, Hydro 10%, Solar 8%, Wind 5%</a:t>
            </a:r>
          </a:p>
          <a:p>
            <a:r>
              <a:t>- PDP8 target: Coal phase-down, renewables must triple by 2030</a:t>
            </a:r>
          </a:p>
          <a:p>
            <a:r>
              <a:t>- Gap: Coal capacity 28% above target; renewables 15% below</a:t>
            </a:r>
          </a:p>
          <a:p/>
          <a:p>
            <a:r>
              <a:t>Point to the alignment overview chart: Red bars = misaligned, green bars = aligned.</a:t>
            </a:r>
          </a:p>
          <a:p/>
          <a:p>
            <a:r>
              <a:t>Disclaimer reminder: This is illustrative synthetic data. Real bank results will differ based on actual loanbook composition.</a:t>
            </a:r>
          </a:p>
        </p:txBody>
      </p:sp>
      <p:sp>
        <p:nvSpPr>
          <p:cNvPr id="503" name="Google Shape;503;g3af7e9bc34a_0_1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f7e9bc34a_0_1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Case study: TRISK borrower stress rankings</a:t>
            </a:r>
            <a:endParaRPr/>
          </a:p>
          <a:p>
            <a:r>
              <a:t>- Priority score combines alignment gap, NPV change, and exposure weight</a:t>
            </a:r>
          </a:p>
          <a:p>
            <a:r>
              <a:t>- Top stressed borrowers: Coal-heavy names (Vinh Tan, Duyen Hai, Mong Duong) show highest NPV decline and PD increase</a:t>
            </a:r>
          </a:p>
          <a:p>
            <a:r>
              <a:t>- Renewable-focused borrowers (Trung Nam, BIM) benefit from transition tailwinds</a:t>
            </a:r>
          </a:p>
          <a:p/>
          <a:p>
            <a:r>
              <a:t>Point to the three charts:</a:t>
            </a:r>
          </a:p>
          <a:p>
            <a:r>
              <a:t>1. Priority score ranking (top 10)</a:t>
            </a:r>
          </a:p>
          <a:p>
            <a:r>
              <a:t>2. PD change by borrower</a:t>
            </a:r>
          </a:p>
          <a:p>
            <a:r>
              <a:t>3. Coal stranded risk visualization</a:t>
            </a:r>
          </a:p>
          <a:p/>
          <a:p>
            <a:r>
              <a:t>Key insight: One-size engagement fails. Borrower-specific data enables targeted transition planning.</a:t>
            </a:r>
          </a:p>
        </p:txBody>
      </p:sp>
      <p:sp>
        <p:nvSpPr>
          <p:cNvPr id="511" name="Google Shape;511;g3af7e9bc34a_0_1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af7e9bc34a_0_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af7e9bc34a_0_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Five key takeaways from the case study:</a:t>
            </a:r>
            <a:endParaRPr/>
          </a:p>
          <a:p>
            <a:r>
              <a:t>1. Coal Stranded Risk: 28% of portfolio coal capacity exceeds PDP8 phase-down trajectory. BOT plants face cliff-edge decline post-PPA expiry (~2035).</a:t>
            </a:r>
          </a:p>
          <a:p>
            <a:r>
              <a:t>2. Renewables Gap: Solar and wind capacity must triple to align with PDP8.</a:t>
            </a:r>
          </a:p>
          <a:p>
            <a:r>
              <a:t>3. Borrower Heterogeneity: NPV impact ranges from -18% (coal) to +8% (renewables).</a:t>
            </a:r>
          </a:p>
          <a:p>
            <a:r>
              <a:t>4. Decision 263 Readiness: Three-layer stack addresses all requirements.</a:t>
            </a:r>
          </a:p>
          <a:p>
            <a:r>
              <a:t>5. Interactive Exploration: Live dashboard with Scenario Builder.</a:t>
            </a:r>
          </a:p>
          <a:p/>
          <a:p>
            <a:r>
              <a:t>Ask: 'Which of these findings resonates most with your current portfolio concerns?'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af7e9bc34a_0_7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af7e9bc34a_0_7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Compliance value proposition:</a:t>
            </a:r>
            <a:endParaRPr/>
          </a:p>
          <a:p>
            <a:r>
              <a:t>- Decision 263: GHG inventory (PCAF), reduction quotas (PACTA alignment), transition plans (TRISK stress testing)</a:t>
            </a:r>
          </a:p>
          <a:p>
            <a:r>
              <a:t>- TCFD: Four-pillar disclosure (Governance, Strategy, Risk Management, Metrics &amp; Targets)</a:t>
            </a:r>
          </a:p>
          <a:p>
            <a:r>
              <a:t>- ISSB IFRS S2: Climate-related financial disclosures</a:t>
            </a:r>
          </a:p>
          <a:p/>
          <a:p>
            <a:r>
              <a:t>Point to the three charts:</a:t>
            </a:r>
          </a:p>
          <a:p>
            <a:r>
              <a:t>- Cement SDA: Emission intensity vs. 2030 NDC targets</a:t>
            </a:r>
          </a:p>
          <a:p>
            <a:r>
              <a:t>- Steel SDA: BF/BOF vs. EAF route comparison</a:t>
            </a:r>
          </a:p>
          <a:p>
            <a:r>
              <a:t>- Coal trajectory: Phase-down pathway vs. current exposure</a:t>
            </a:r>
          </a:p>
          <a:p/>
          <a:p>
            <a:r>
              <a:t>Key message: Our stack produces board-ready outputs that satisfy all three frameworks simultaneously.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b00ecbda08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Live dashboard demonstration:</a:t>
            </a:r>
            <a:endParaRPr/>
          </a:p>
          <a:p>
            <a:r>
              <a:t>- 7-page Streamlit app deployed at pactavn.streamlit.app</a:t>
            </a:r>
          </a:p>
          <a:p>
            <a:r>
              <a:t>- PACTA Alignment page: Sector-level KPIs, interactive charts, downloadable CSVs</a:t>
            </a:r>
          </a:p>
          <a:p>
            <a:r>
              <a:t>- TRISK Risk page: Borrower stress rankings with sensitivity controls</a:t>
            </a:r>
          </a:p>
          <a:p>
            <a:r>
              <a:t>- Scenario Builder page: Drive the five TRISK levers in real time</a:t>
            </a:r>
          </a:p>
          <a:p>
            <a:r>
              <a:t>- Reports page: Inline HTML reports with download buttons</a:t>
            </a:r>
          </a:p>
          <a:p>
            <a:r>
              <a:t>- Methodology page: PACTA/TRISK framing with citations</a:t>
            </a:r>
          </a:p>
          <a:p>
            <a:r>
              <a:t>- Outputs page: Engagement letters and disclosure pack generation</a:t>
            </a:r>
          </a:p>
          <a:p/>
          <a:p>
            <a:r>
              <a:t>Offer to do a live demo if time permits. The dashboard is publicly accessible for exploration.</a:t>
            </a:r>
          </a:p>
        </p:txBody>
      </p:sp>
      <p:sp>
        <p:nvSpPr>
          <p:cNvPr id="538" name="Google Shape;538;g3b00ecbda0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af91d4e0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9" name="Google Shape;569;g3af91d4e0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Engagement offer:</a:t>
            </a:r>
            <a:endParaRPr/>
          </a:p>
          <a:p>
            <a:r>
              <a:t>- Phase 1: BYOL (Bring Your Own Loanbook) — 2-4 weeks</a:t>
            </a:r>
          </a:p>
          <a:p>
            <a:r>
              <a:t>- Phase 2: PACTA alignment with real borrower data — 4-6 weeks</a:t>
            </a:r>
          </a:p>
          <a:p>
            <a:r>
              <a:t>- Phase 3: TRISK stress testing and borrower ranking — 3-4 weeks</a:t>
            </a:r>
          </a:p>
          <a:p>
            <a:r>
              <a:t>- Phase 4: IFRS S2 disclosure package and board-ready report — 2-3 weeks</a:t>
            </a:r>
          </a:p>
          <a:p/>
          <a:p>
            <a:r>
              <a:t>Total timeline: 6-9 months from data receipt to final deliverables.</a:t>
            </a:r>
          </a:p>
          <a:p/>
          <a:p>
            <a:r>
              <a:t>Emphasize: All analytics are open-source with no licensing fees. The only cost is our consulting time for data intake, validation, and report generation.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af91d4e09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1" name="Google Shape;581;g3af91d4e09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Proposed next steps:</a:t>
            </a:r>
            <a:endParaRPr/>
          </a:p>
          <a:p>
            <a:r>
              <a:t>1. Share loanbook template for BYOL intake validation (we provide the template)</a:t>
            </a:r>
          </a:p>
          <a:p>
            <a:r>
              <a:t>2. Identify Decision 263 borrower subset for priority analysis (top 20 by exposure)</a:t>
            </a:r>
          </a:p>
          <a:p>
            <a:r>
              <a:t>3. Schedule technical workshop with risk and ESG teams (half-day session)</a:t>
            </a:r>
          </a:p>
          <a:p>
            <a:r>
              <a:t>4. Define scenario preferences (PDP8, NDC, IEA NZE — we support all three)</a:t>
            </a:r>
          </a:p>
          <a:p>
            <a:r>
              <a:t>5. Agree on reporting language and disclosure timeline</a:t>
            </a:r>
          </a:p>
          <a:p/>
          <a:p>
            <a:r>
              <a:t>We are ready to begin Phase 1 upon receipt of loanbook data.</a:t>
            </a:r>
          </a:p>
          <a:p/>
          <a:p>
            <a:r>
              <a:t>Synthetic demo is available for immediate internal training — no data required.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b0af48c93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Open the floor for questions:</a:t>
            </a:r>
            <a:endParaRPr/>
          </a:p>
          <a:p>
            <a:r>
              <a:t>- Methodology: PACTA matching, TRISK modeling, scenario selection</a:t>
            </a:r>
          </a:p>
          <a:p>
            <a:r>
              <a:t>- Data requirements: Loanbook format, ABCD sources, scenario files</a:t>
            </a:r>
          </a:p>
          <a:p>
            <a:r>
              <a:t>- Implementation timeline: Phase durations, dependencies, parallelization</a:t>
            </a:r>
          </a:p>
          <a:p>
            <a:r>
              <a:t>- Cost structure: Consulting fees vs. open-source licensing</a:t>
            </a:r>
          </a:p>
          <a:p>
            <a:r>
              <a:t>- Integration: How outputs feed into existing risk and ESG workflows</a:t>
            </a:r>
          </a:p>
          <a:p/>
          <a:p>
            <a:r>
              <a:t>Be prepared to discuss:</a:t>
            </a:r>
          </a:p>
          <a:p>
            <a:r>
              <a:t>- Vietnamese company name matching challenges (diacritics, VSIC codes)</a:t>
            </a:r>
          </a:p>
          <a:p>
            <a:r>
              <a:t>- BOT coal plant contractual lock-in (PPA expiry dates)</a:t>
            </a:r>
          </a:p>
          <a:p>
            <a:r>
              <a:t>- VinFast production assumptions (base vs. conservative case)</a:t>
            </a:r>
          </a:p>
        </p:txBody>
      </p:sp>
      <p:sp>
        <p:nvSpPr>
          <p:cNvPr id="617" name="Google Shape;617;g3b0af48c93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a6d8b9fc6e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Contact information:</a:t>
            </a:r>
            <a:endParaRPr/>
          </a:p>
          <a:p>
            <a:r>
              <a:t>- Tung Ho: tah@allotropepartners.com (technical lead)</a:t>
            </a:r>
          </a:p>
          <a:p>
            <a:r>
              <a:t>- Hang Tran: httt@allotropepartners.com (engagement lead)</a:t>
            </a:r>
          </a:p>
          <a:p/>
          <a:p>
            <a:r>
              <a:t>Allotrope VC | GTB Vietnam</a:t>
            </a:r>
          </a:p>
          <a:p/>
          <a:p>
            <a:r>
              <a:t>Thank the audience for their time and express enthusiasm for potential collaboration.</a:t>
            </a:r>
          </a:p>
          <a:p/>
          <a:p>
            <a:r>
              <a:t>Leave-behind: This deck (PDF or PPTX), the synthetic demo dashboard URL, and the BYOL intake template (if requested).</a:t>
            </a:r>
          </a:p>
        </p:txBody>
      </p:sp>
      <p:sp>
        <p:nvSpPr>
          <p:cNvPr id="625" name="Google Shape;625;g3a6d8b9fc6e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hyperlink" Target="http://www.allotropepartners.com" TargetMode="Externa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Custom Layout">
  <p:cSld name="12_Custom Layou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solidFill>
          <a:srgbClr val="D6ECE8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400" b="0" i="0" u="none" strike="noStrike" cap="none">
                <a:solidFill>
                  <a:srgbClr val="FBFBF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135056" y="269682"/>
            <a:ext cx="8229600" cy="6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457200" y="11295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pic>
        <p:nvPicPr>
          <p:cNvPr id="68" name="Google Shape;68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30116" y="34050"/>
            <a:ext cx="1207990" cy="42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8" name="Google Shape;98;p2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>
            <a:spLocks noGrp="1"/>
          </p:cNvSpPr>
          <p:nvPr>
            <p:ph type="pic" idx="2"/>
          </p:nvPr>
        </p:nvSpPr>
        <p:spPr>
          <a:xfrm>
            <a:off x="1007472" y="998492"/>
            <a:ext cx="3146700" cy="3146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>
            <a:spLocks noGrp="1"/>
          </p:cNvSpPr>
          <p:nvPr>
            <p:ph type="pic" idx="2"/>
          </p:nvPr>
        </p:nvSpPr>
        <p:spPr>
          <a:xfrm>
            <a:off x="3874182" y="-949180"/>
            <a:ext cx="5155200" cy="51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9"/>
          <p:cNvSpPr txBox="1">
            <a:spLocks noGrp="1"/>
          </p:cNvSpPr>
          <p:nvPr>
            <p:ph type="title"/>
          </p:nvPr>
        </p:nvSpPr>
        <p:spPr>
          <a:xfrm>
            <a:off x="319227" y="155194"/>
            <a:ext cx="85056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9"/>
          <p:cNvSpPr txBox="1">
            <a:spLocks noGrp="1"/>
          </p:cNvSpPr>
          <p:nvPr>
            <p:ph type="body" idx="1"/>
          </p:nvPr>
        </p:nvSpPr>
        <p:spPr>
          <a:xfrm>
            <a:off x="417487" y="981202"/>
            <a:ext cx="8516700" cy="3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9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2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p29"/>
          <p:cNvSpPr txBox="1">
            <a:spLocks noGrp="1"/>
          </p:cNvSpPr>
          <p:nvPr>
            <p:ph type="sldNum" idx="12"/>
          </p:nvPr>
        </p:nvSpPr>
        <p:spPr>
          <a:xfrm>
            <a:off x="286207" y="4763139"/>
            <a:ext cx="1062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350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6350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6350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6350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6350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6350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6350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6350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6350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635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 txBox="1">
            <a:spLocks noGrp="1"/>
          </p:cNvSpPr>
          <p:nvPr>
            <p:ph type="title"/>
          </p:nvPr>
        </p:nvSpPr>
        <p:spPr>
          <a:xfrm>
            <a:off x="319227" y="155194"/>
            <a:ext cx="85056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body" idx="1"/>
          </p:nvPr>
        </p:nvSpPr>
        <p:spPr>
          <a:xfrm>
            <a:off x="649223" y="1347216"/>
            <a:ext cx="2334900" cy="29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0"/>
          <p:cNvSpPr txBox="1">
            <a:spLocks noGrp="1"/>
          </p:cNvSpPr>
          <p:nvPr>
            <p:ph type="body" idx="2"/>
          </p:nvPr>
        </p:nvSpPr>
        <p:spPr>
          <a:xfrm>
            <a:off x="5518403" y="1243583"/>
            <a:ext cx="2976600" cy="3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0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" name="Google Shape;117;p30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Google Shape;118;p30"/>
          <p:cNvSpPr txBox="1">
            <a:spLocks noGrp="1"/>
          </p:cNvSpPr>
          <p:nvPr>
            <p:ph type="sldNum" idx="12"/>
          </p:nvPr>
        </p:nvSpPr>
        <p:spPr>
          <a:xfrm>
            <a:off x="286207" y="4763139"/>
            <a:ext cx="1062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350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6350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6350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6350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6350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6350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6350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6350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6350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635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 1">
  <p:cSld name="1_Custom Layout_1">
    <p:bg>
      <p:bgPr>
        <a:solidFill>
          <a:srgbClr val="D6ECE8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 txBox="1"/>
          <p:nvPr/>
        </p:nvSpPr>
        <p:spPr>
          <a:xfrm>
            <a:off x="-94" y="-23756"/>
            <a:ext cx="9144000" cy="975000"/>
          </a:xfrm>
          <a:prstGeom prst="rect">
            <a:avLst/>
          </a:prstGeom>
          <a:solidFill>
            <a:srgbClr val="1D7E7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highlight>
                <a:srgbClr val="64B4A3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1"/>
          <p:cNvSpPr txBox="1">
            <a:spLocks noGrp="1"/>
          </p:cNvSpPr>
          <p:nvPr>
            <p:ph type="title"/>
          </p:nvPr>
        </p:nvSpPr>
        <p:spPr>
          <a:xfrm>
            <a:off x="135056" y="269682"/>
            <a:ext cx="8229600" cy="6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122" name="Google Shape;122;p31"/>
          <p:cNvSpPr txBox="1">
            <a:spLocks noGrp="1"/>
          </p:cNvSpPr>
          <p:nvPr>
            <p:ph type="body" idx="1"/>
          </p:nvPr>
        </p:nvSpPr>
        <p:spPr>
          <a:xfrm>
            <a:off x="457200" y="11295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pic>
        <p:nvPicPr>
          <p:cNvPr id="123" name="Google Shape;123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30116" y="34050"/>
            <a:ext cx="1207990" cy="42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CUSTOM">
    <p:bg>
      <p:bgPr>
        <a:solidFill>
          <a:srgbClr val="D6ECE8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Clr>
                <a:srgbClr val="000000"/>
              </a:buClr>
              <a:buSzPts val="1000"/>
              <a:buFont typeface="Arial"/>
              <a:buNone/>
              <a:defRPr/>
            </a:lvl1pPr>
            <a:lvl2pPr lvl="1">
              <a:buClr>
                <a:srgbClr val="000000"/>
              </a:buClr>
              <a:buSzPts val="1000"/>
              <a:buFont typeface="Arial"/>
              <a:buNone/>
              <a:defRPr/>
            </a:lvl2pPr>
            <a:lvl3pPr lvl="2">
              <a:buClr>
                <a:srgbClr val="000000"/>
              </a:buClr>
              <a:buSzPts val="1000"/>
              <a:buFont typeface="Arial"/>
              <a:buNone/>
              <a:defRPr/>
            </a:lvl3pPr>
            <a:lvl4pPr lvl="3">
              <a:buClr>
                <a:srgbClr val="000000"/>
              </a:buClr>
              <a:buSzPts val="1000"/>
              <a:buFont typeface="Arial"/>
              <a:buNone/>
              <a:defRPr/>
            </a:lvl4pPr>
            <a:lvl5pPr lvl="4">
              <a:buClr>
                <a:srgbClr val="000000"/>
              </a:buClr>
              <a:buSzPts val="1000"/>
              <a:buFont typeface="Arial"/>
              <a:buNone/>
              <a:defRPr/>
            </a:lvl5pPr>
            <a:lvl6pPr lvl="5">
              <a:buClr>
                <a:srgbClr val="000000"/>
              </a:buClr>
              <a:buSzPts val="1000"/>
              <a:buFont typeface="Arial"/>
              <a:buNone/>
              <a:defRPr/>
            </a:lvl6pPr>
            <a:lvl7pPr lvl="6">
              <a:buClr>
                <a:srgbClr val="000000"/>
              </a:buClr>
              <a:buSzPts val="1000"/>
              <a:buFont typeface="Arial"/>
              <a:buNone/>
              <a:defRPr/>
            </a:lvl7pPr>
            <a:lvl8pPr lvl="7">
              <a:buClr>
                <a:srgbClr val="000000"/>
              </a:buClr>
              <a:buSzPts val="1000"/>
              <a:buFont typeface="Arial"/>
              <a:buNone/>
              <a:defRPr/>
            </a:lvl8pPr>
            <a:lvl9pPr lvl="8"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9" name="Google Shape;129;p33"/>
          <p:cNvPicPr preferRelativeResize="0"/>
          <p:nvPr/>
        </p:nvPicPr>
        <p:blipFill rotWithShape="1">
          <a:blip r:embed="rId2">
            <a:alphaModFix/>
          </a:blip>
          <a:srcRect t="10929"/>
          <a:stretch/>
        </p:blipFill>
        <p:spPr>
          <a:xfrm>
            <a:off x="-25546" y="333375"/>
            <a:ext cx="9169542" cy="4810125"/>
          </a:xfrm>
          <a:prstGeom prst="rect">
            <a:avLst/>
          </a:prstGeom>
          <a:solidFill>
            <a:srgbClr val="D7ECE8"/>
          </a:solidFill>
          <a:ln>
            <a:noFill/>
          </a:ln>
        </p:spPr>
      </p:pic>
      <p:sp>
        <p:nvSpPr>
          <p:cNvPr id="130" name="Google Shape;130;p33"/>
          <p:cNvSpPr txBox="1"/>
          <p:nvPr/>
        </p:nvSpPr>
        <p:spPr>
          <a:xfrm>
            <a:off x="-25546" y="-5"/>
            <a:ext cx="6016800" cy="2124000"/>
          </a:xfrm>
          <a:prstGeom prst="rect">
            <a:avLst/>
          </a:prstGeom>
          <a:solidFill>
            <a:srgbClr val="D6EC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50" y="0"/>
            <a:ext cx="4490350" cy="156380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3"/>
          <p:cNvSpPr txBox="1">
            <a:spLocks noGrp="1"/>
          </p:cNvSpPr>
          <p:nvPr>
            <p:ph type="title"/>
          </p:nvPr>
        </p:nvSpPr>
        <p:spPr>
          <a:xfrm>
            <a:off x="267875" y="1563800"/>
            <a:ext cx="7091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900"/>
              <a:buFont typeface="Cabin"/>
              <a:buNone/>
              <a:defRPr sz="1900" b="1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Intro Slide">
  <p:cSld name="CUSTOM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34"/>
          <p:cNvPicPr preferRelativeResize="0"/>
          <p:nvPr/>
        </p:nvPicPr>
        <p:blipFill rotWithShape="1">
          <a:blip r:embed="rId2">
            <a:alphaModFix/>
          </a:blip>
          <a:srcRect l="57610" t="38748" r="15264" b="3616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ffectLst>
            <a:outerShdw blurRad="57150" dist="19050" algn="bl" rotWithShape="0">
              <a:srgbClr val="000000">
                <a:alpha val="50000"/>
              </a:srgbClr>
            </a:outerShdw>
          </a:effectLst>
        </p:spPr>
      </p:pic>
      <p:sp>
        <p:nvSpPr>
          <p:cNvPr id="136" name="Google Shape;136;p34"/>
          <p:cNvSpPr/>
          <p:nvPr/>
        </p:nvSpPr>
        <p:spPr>
          <a:xfrm>
            <a:off x="856200" y="1239275"/>
            <a:ext cx="7479900" cy="284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CFE9E3"/>
          </a:solidFill>
          <a:ln w="9525" cap="flat" cmpd="sng">
            <a:solidFill>
              <a:srgbClr val="1D7E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18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0005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rgbClr val="2F645B"/>
              </a:solidFill>
            </a:endParaRPr>
          </a:p>
        </p:txBody>
      </p:sp>
      <p:pic>
        <p:nvPicPr>
          <p:cNvPr id="137" name="Google Shape;13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2774" y="193175"/>
            <a:ext cx="2094225" cy="72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4"/>
          <p:cNvSpPr txBox="1">
            <a:spLocks noGrp="1"/>
          </p:cNvSpPr>
          <p:nvPr>
            <p:ph type="title"/>
          </p:nvPr>
        </p:nvSpPr>
        <p:spPr>
          <a:xfrm>
            <a:off x="1347900" y="1555250"/>
            <a:ext cx="6496500" cy="6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3300"/>
              <a:buFont typeface="Cabin"/>
              <a:buNone/>
              <a:defRPr sz="3300" b="1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subTitle" idx="1"/>
          </p:nvPr>
        </p:nvSpPr>
        <p:spPr>
          <a:xfrm>
            <a:off x="1347900" y="2448200"/>
            <a:ext cx="64590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2300"/>
              <a:buFont typeface="Cabin"/>
              <a:buNone/>
              <a:defRPr sz="2300" b="1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42" name="Google Shape;142;p35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43" name="Google Shape;143;p35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sz="2400" b="1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44" name="Google Shape;144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40100" y="78975"/>
            <a:ext cx="1251600" cy="4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sz="1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0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sz="1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0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48" name="Google Shape;148;p36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49" name="Google Shape;149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53650" y="52331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6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sz="2400" b="1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blank_white" type="titleOnly">
  <p:cSld name="TITLE_ONLY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7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53" name="Google Shape;153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53650" y="52331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7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sz="2400" b="1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blank_green">
  <p:cSld name="TITLE_ONLY_1">
    <p:bg>
      <p:bgPr>
        <a:solidFill>
          <a:srgbClr val="80CBBC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8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57" name="Google Shape;157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53650" y="52331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8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sz="2400" b="1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blank_light green">
  <p:cSld name="TITLE_ONLY_1_1">
    <p:bg>
      <p:bgPr>
        <a:solidFill>
          <a:srgbClr val="E6F4F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9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61" name="Google Shape;161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53650" y="52331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9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sz="2400" b="1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0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65" name="Google Shape;165;p40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66" name="Google Shape;166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53650" y="52331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40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sz="2400" b="1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71" name="Google Shape;171;p4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72" name="Google Shape;172;p4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12000"/>
              <a:buFont typeface="Cabin"/>
              <a:buNone/>
              <a:defRPr sz="120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9pPr>
          </a:lstStyle>
          <a:p>
            <a:r>
              <a:t>xx%</a:t>
            </a:r>
          </a:p>
        </p:txBody>
      </p:sp>
      <p:sp>
        <p:nvSpPr>
          <p:cNvPr id="175" name="Google Shape;175;p4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17500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slide">
  <p:cSld name="BLANK_1">
    <p:bg>
      <p:bgPr>
        <a:solidFill>
          <a:srgbClr val="D6ECE8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9" name="Google Shape;179;p44"/>
          <p:cNvPicPr preferRelativeResize="0"/>
          <p:nvPr/>
        </p:nvPicPr>
        <p:blipFill rotWithShape="1">
          <a:blip r:embed="rId2">
            <a:alphaModFix/>
          </a:blip>
          <a:srcRect t="10929"/>
          <a:stretch/>
        </p:blipFill>
        <p:spPr>
          <a:xfrm>
            <a:off x="-27196" y="332508"/>
            <a:ext cx="9171194" cy="4810992"/>
          </a:xfrm>
          <a:prstGeom prst="rect">
            <a:avLst/>
          </a:prstGeom>
          <a:solidFill>
            <a:srgbClr val="D7ECE8"/>
          </a:solidFill>
          <a:ln>
            <a:noFill/>
          </a:ln>
        </p:spPr>
      </p:pic>
      <p:sp>
        <p:nvSpPr>
          <p:cNvPr id="180" name="Google Shape;180;p44"/>
          <p:cNvSpPr txBox="1"/>
          <p:nvPr/>
        </p:nvSpPr>
        <p:spPr>
          <a:xfrm>
            <a:off x="-25546" y="-83130"/>
            <a:ext cx="6016800" cy="2124000"/>
          </a:xfrm>
          <a:prstGeom prst="rect">
            <a:avLst/>
          </a:prstGeom>
          <a:solidFill>
            <a:srgbClr val="D6EC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842" y="28575"/>
            <a:ext cx="3790703" cy="132917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4"/>
          <p:cNvSpPr/>
          <p:nvPr/>
        </p:nvSpPr>
        <p:spPr>
          <a:xfrm>
            <a:off x="250625" y="1357750"/>
            <a:ext cx="7157400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300" b="1" u="sng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4"/>
              </a:rPr>
              <a:t>www.allotropepartners.com</a:t>
            </a:r>
            <a:endParaRPr sz="1900" b="1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83" name="Google Shape;183;p44"/>
          <p:cNvSpPr txBox="1">
            <a:spLocks noGrp="1"/>
          </p:cNvSpPr>
          <p:nvPr>
            <p:ph type="subTitle" idx="1"/>
          </p:nvPr>
        </p:nvSpPr>
        <p:spPr>
          <a:xfrm>
            <a:off x="250625" y="1872900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900"/>
              <a:buFont typeface="Cabin"/>
              <a:buNone/>
              <a:defRPr sz="1900" b="1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solidFill>
          <a:srgbClr val="D6ECE8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135056" y="269682"/>
            <a:ext cx="8229600" cy="6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191" name="Google Shape;191;p46"/>
          <p:cNvSpPr txBox="1">
            <a:spLocks noGrp="1"/>
          </p:cNvSpPr>
          <p:nvPr>
            <p:ph type="body" idx="1"/>
          </p:nvPr>
        </p:nvSpPr>
        <p:spPr>
          <a:xfrm>
            <a:off x="457200" y="11295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pic>
        <p:nvPicPr>
          <p:cNvPr id="192" name="Google Shape;192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30116" y="34050"/>
            <a:ext cx="1207990" cy="42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7" name="Google Shape;197;p4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8" name="Google Shape;19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 1 1">
  <p:cSld name="1_Custom Layout_1_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9"/>
          <p:cNvSpPr/>
          <p:nvPr/>
        </p:nvSpPr>
        <p:spPr>
          <a:xfrm>
            <a:off x="0" y="-12694"/>
            <a:ext cx="9144000" cy="993600"/>
          </a:xfrm>
          <a:prstGeom prst="rect">
            <a:avLst/>
          </a:prstGeom>
          <a:solidFill>
            <a:srgbClr val="13665A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9"/>
          <p:cNvSpPr txBox="1">
            <a:spLocks noGrp="1"/>
          </p:cNvSpPr>
          <p:nvPr>
            <p:ph type="title"/>
          </p:nvPr>
        </p:nvSpPr>
        <p:spPr>
          <a:xfrm>
            <a:off x="457200" y="31710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202" name="Google Shape;202;p49"/>
          <p:cNvSpPr txBox="1">
            <a:spLocks noGrp="1"/>
          </p:cNvSpPr>
          <p:nvPr>
            <p:ph type="body" idx="1"/>
          </p:nvPr>
        </p:nvSpPr>
        <p:spPr>
          <a:xfrm>
            <a:off x="457200" y="14724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 3">
  <p:cSld name="1_Custom Layout_3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0"/>
          <p:cNvSpPr/>
          <p:nvPr/>
        </p:nvSpPr>
        <p:spPr>
          <a:xfrm>
            <a:off x="0" y="-12700"/>
            <a:ext cx="9144000" cy="118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0"/>
          <p:cNvSpPr txBox="1">
            <a:spLocks noGrp="1"/>
          </p:cNvSpPr>
          <p:nvPr>
            <p:ph type="title"/>
          </p:nvPr>
        </p:nvSpPr>
        <p:spPr>
          <a:xfrm>
            <a:off x="457200" y="31710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206" name="Google Shape;206;p50"/>
          <p:cNvSpPr txBox="1">
            <a:spLocks noGrp="1"/>
          </p:cNvSpPr>
          <p:nvPr>
            <p:ph type="body" idx="1"/>
          </p:nvPr>
        </p:nvSpPr>
        <p:spPr>
          <a:xfrm>
            <a:off x="457200" y="14724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 1">
  <p:cSld name="1_Custom Layout_1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1"/>
          <p:cNvSpPr/>
          <p:nvPr/>
        </p:nvSpPr>
        <p:spPr>
          <a:xfrm>
            <a:off x="0" y="-12694"/>
            <a:ext cx="9144000" cy="993600"/>
          </a:xfrm>
          <a:prstGeom prst="rect">
            <a:avLst/>
          </a:prstGeom>
          <a:solidFill>
            <a:srgbClr val="13665A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1"/>
          <p:cNvSpPr txBox="1">
            <a:spLocks noGrp="1"/>
          </p:cNvSpPr>
          <p:nvPr>
            <p:ph type="title"/>
          </p:nvPr>
        </p:nvSpPr>
        <p:spPr>
          <a:xfrm>
            <a:off x="457200" y="31710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210" name="Google Shape;210;p51"/>
          <p:cNvSpPr txBox="1">
            <a:spLocks noGrp="1"/>
          </p:cNvSpPr>
          <p:nvPr>
            <p:ph type="body" idx="1"/>
          </p:nvPr>
        </p:nvSpPr>
        <p:spPr>
          <a:xfrm>
            <a:off x="457200" y="14724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pic>
        <p:nvPicPr>
          <p:cNvPr id="211" name="Google Shape;211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97695" y="4556958"/>
            <a:ext cx="1260777" cy="481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 2">
  <p:cSld name="1_Custom Layout_2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2"/>
          <p:cNvSpPr/>
          <p:nvPr/>
        </p:nvSpPr>
        <p:spPr>
          <a:xfrm>
            <a:off x="0" y="-12700"/>
            <a:ext cx="9144000" cy="118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2"/>
          <p:cNvSpPr txBox="1">
            <a:spLocks noGrp="1"/>
          </p:cNvSpPr>
          <p:nvPr>
            <p:ph type="title"/>
          </p:nvPr>
        </p:nvSpPr>
        <p:spPr>
          <a:xfrm>
            <a:off x="457200" y="31710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215" name="Google Shape;215;p52"/>
          <p:cNvSpPr txBox="1">
            <a:spLocks noGrp="1"/>
          </p:cNvSpPr>
          <p:nvPr>
            <p:ph type="body" idx="1"/>
          </p:nvPr>
        </p:nvSpPr>
        <p:spPr>
          <a:xfrm>
            <a:off x="457200" y="14724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pic>
        <p:nvPicPr>
          <p:cNvPr id="216" name="Google Shape;216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97695" y="4556958"/>
            <a:ext cx="1260777" cy="481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9" name="Google Shape;219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3" name="Google Shape;223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7" name="Google Shape;227;p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8" name="Google Shape;228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4" name="Google Shape;234;p5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5" name="Google Shape;235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38" name="Google Shape;238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2" name="Google Shape;242;p5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3" name="Google Shape;243;p5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4" name="Google Shape;244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47" name="Google Shape;247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6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1" name="Google Shape;251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6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6" name="Google Shape;256;p63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7" name="Google Shape;257;p6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" name="Google Shape;258;p6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" name="Google Shape;259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6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6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1_Blank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66"/>
          <p:cNvSpPr txBox="1"/>
          <p:nvPr/>
        </p:nvSpPr>
        <p:spPr>
          <a:xfrm>
            <a:off x="0" y="-35175"/>
            <a:ext cx="9180300" cy="709200"/>
          </a:xfrm>
          <a:prstGeom prst="rect">
            <a:avLst/>
          </a:prstGeom>
          <a:solidFill>
            <a:srgbClr val="33716C"/>
          </a:solidFill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highlight>
                <a:srgbClr val="64B4A3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63300" y="36394"/>
            <a:ext cx="1530756" cy="53066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66"/>
          <p:cNvSpPr txBox="1">
            <a:spLocks noGrp="1"/>
          </p:cNvSpPr>
          <p:nvPr>
            <p:ph type="title"/>
          </p:nvPr>
        </p:nvSpPr>
        <p:spPr>
          <a:xfrm>
            <a:off x="33469" y="9025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0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7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67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78" name="Google Shape;278;p6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6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6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8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68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6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6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6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6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p6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6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6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7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7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7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7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1" name="Google Shape;301;p7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p7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7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7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72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72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08" name="Google Shape;308;p72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9" name="Google Shape;309;p72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10" name="Google Shape;310;p72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1" name="Google Shape;311;p7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7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7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73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317" name="Google Shape;317;p73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8" name="Google Shape;318;p7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7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7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7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74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74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25" name="Google Shape;325;p7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7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7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7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75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7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7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7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76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76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7" name="Google Shape;337;p7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7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7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58.xml"/><Relationship Id="rId19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slideLayout" Target="../slideLayouts/slideLayout60.xml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Char char="●"/>
              <a:defRPr sz="18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Cabin"/>
              <a:buChar char="■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6" name="Google Shape;186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7" name="Google Shape;187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" name="Google Shape;262;p6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3" name="Google Shape;263;p6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4" name="Google Shape;264;p6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5" name="Google Shape;265;p6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mailto:tah@allotropepartners.com" TargetMode="External"/><Relationship Id="rId6" Type="http://schemas.openxmlformats.org/officeDocument/2006/relationships/hyperlink" Target="mailto:httt@allotropevc.com" TargetMode="External"/><Relationship Id="rId7" Type="http://schemas.openxmlformats.org/officeDocument/2006/relationships/hyperlink" Target="mailto:chn@allotropevc.com" TargetMode="External"/><Relationship Id="rId8" Type="http://schemas.openxmlformats.org/officeDocument/2006/relationships/hyperlink" Target="mailto:hal@allotropepartner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1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1.png"/><Relationship Id="rId8" Type="http://schemas.openxmlformats.org/officeDocument/2006/relationships/image" Target="../media/image37.png"/><Relationship Id="rId9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77" title="new banana.jpg"/>
          <p:cNvPicPr preferRelativeResize="0"/>
          <p:nvPr/>
        </p:nvPicPr>
        <p:blipFill rotWithShape="1">
          <a:blip r:embed="rId3">
            <a:alphaModFix/>
          </a:blip>
          <a:srcRect l="1038" r="1038"/>
          <a:stretch/>
        </p:blipFill>
        <p:spPr>
          <a:xfrm>
            <a:off x="0" y="2461155"/>
            <a:ext cx="9144003" cy="274648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45" name="Google Shape;345;p77"/>
          <p:cNvSpPr/>
          <p:nvPr/>
        </p:nvSpPr>
        <p:spPr>
          <a:xfrm>
            <a:off x="13" y="0"/>
            <a:ext cx="9143982" cy="3030102"/>
          </a:xfrm>
          <a:prstGeom prst="flowChartDocumen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77"/>
          <p:cNvSpPr txBox="1">
            <a:spLocks noGrp="1"/>
          </p:cNvSpPr>
          <p:nvPr>
            <p:ph type="ctrTitle"/>
          </p:nvPr>
        </p:nvSpPr>
        <p:spPr>
          <a:xfrm>
            <a:off x="0" y="1065375"/>
            <a:ext cx="9144000" cy="133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006666"/>
                </a:solidFill>
                <a:latin typeface="Calibri"/>
              </a:rPr>
              <a:t>PACTA + TRISK: Transition-Risk Analytics</a:t>
            </a:r>
            <a:endParaRPr sz="3033" b="1">
              <a:solidFill>
                <a:srgbClr val="11665A"/>
              </a:solidFill>
              <a:latin typeface="Cabin"/>
              <a:ea typeface="Cabin"/>
              <a:cs typeface="Cabin"/>
              <a:sym typeface="Cabin"/>
            </a:endParaRPr>
          </a:p>
          <a:p>
            <a:pPr algn="ctr">
              <a:buNone/>
            </a:pPr>
            <a:r>
              <a:rPr sz="2800" b="1">
                <a:solidFill>
                  <a:srgbClr val="006666"/>
                </a:solidFill>
                <a:latin typeface="Calibri"/>
              </a:rPr>
              <a:t>for Vietnamese Banks</a:t>
            </a:r>
          </a:p>
        </p:txBody>
      </p:sp>
      <p:pic>
        <p:nvPicPr>
          <p:cNvPr id="347" name="Google Shape;347;p7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73025" y="0"/>
            <a:ext cx="1570976" cy="5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87"/>
          <p:cNvPicPr preferRelativeResize="0"/>
          <p:nvPr/>
        </p:nvPicPr>
        <p:blipFill rotWithShape="1">
          <a:blip r:embed="rId3">
            <a:alphaModFix amt="50000"/>
          </a:blip>
          <a:srcRect t="22486" b="19290"/>
          <a:stretch/>
        </p:blipFill>
        <p:spPr>
          <a:xfrm>
            <a:off x="0" y="2148725"/>
            <a:ext cx="9144000" cy="2994775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87"/>
          <p:cNvSpPr txBox="1"/>
          <p:nvPr/>
        </p:nvSpPr>
        <p:spPr>
          <a:xfrm>
            <a:off x="523150" y="549050"/>
            <a:ext cx="6849600" cy="111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8DC7C1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333333"/>
                </a:solidFill>
                <a:latin typeface="Calibri"/>
              </a:rPr>
              <a:t>Agenda</a:t>
            </a:r>
            <a:endParaRPr sz="2600" b="1">
              <a:solidFill>
                <a:srgbClr val="155B55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20" name="Google Shape;420;p87"/>
          <p:cNvSpPr txBox="1"/>
          <p:nvPr/>
        </p:nvSpPr>
        <p:spPr>
          <a:xfrm>
            <a:off x="5755850" y="1512050"/>
            <a:ext cx="18174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66666"/>
                </a:solidFill>
                <a:latin typeface="Calibri"/>
              </a:rPr>
              <a:t>The Problem  |  Our Approach  |  Case Study  |  Next Steps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1" name="Google Shape;421;p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" y="4814100"/>
            <a:ext cx="1109740" cy="3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8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73025" y="0"/>
            <a:ext cx="1570976" cy="5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88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28" name="Google Shape;428;p88"/>
          <p:cNvSpPr txBox="1">
            <a:spLocks noGrp="1"/>
          </p:cNvSpPr>
          <p:nvPr>
            <p:ph type="title"/>
          </p:nvPr>
        </p:nvSpPr>
        <p:spPr>
          <a:xfrm>
            <a:off x="265725" y="11907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sz="1800" b="1">
                <a:solidFill>
                  <a:srgbClr val="333333"/>
                </a:solidFill>
                <a:latin typeface="Calibri"/>
              </a:rPr>
              <a:t>Our Solution: Three-Layer Compliance &amp; Risk Stack</a:t>
            </a:r>
            <a:endParaRPr sz="242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aphicFrame>
        <p:nvGraphicFramePr>
          <p:cNvPr id="429" name="Google Shape;429;p88"/>
          <p:cNvGraphicFramePr/>
          <p:nvPr/>
        </p:nvGraphicFramePr>
        <p:xfrm>
          <a:off x="422650" y="118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{110B0612-A9F4-49DA-BEA1-DD1CF77D77B9}</a:tableStyleId>
              </a:tblPr>
              <a:tblGrid>
                <a:gridCol w="276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450">
                <a:tc>
                  <a:txBody>
                    <a:bodyPr/>
                    <a:lstStyle/>
                    <a:p>
                      <a:r>
                        <a:t>Layer</a:t>
                      </a:r>
                    </a:p>
                  </a:txBody>
                  <a:tcPr marL="91425" marR="91425" marT="91425" marB="91425">
                    <a:solidFill>
                      <a:srgbClr val="155B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Tool</a:t>
                      </a: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5B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 marL="91425" marR="91425" marT="91425" marB="91425">
                    <a:solidFill>
                      <a:srgbClr val="155B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00">
                <a:tc rowSpan="2">
                  <a:txBody>
                    <a:bodyPr/>
                    <a:lstStyle/>
                    <a:p>
                      <a:r>
                        <a:t>1. Measure</a:t>
                      </a: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PCAF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GHG inventory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F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00">
                <a:tc vMerge="1">
                  <a:txBody>
                    <a:bodyPr/>
                    <a:lstStyle/>
                    <a:p>
                      <a:r>
                        <a:t>2. Align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PACTA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Portfolio alignment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725">
                <a:tc rowSpan="3">
                  <a:txBody>
                    <a:bodyPr/>
                    <a:lstStyle/>
                    <a:p>
                      <a:r>
                        <a:t>3. Stress</a:t>
                      </a: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TRISK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Borrower stress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375">
                <a:tc vMerge="1">
                  <a:txBody>
                    <a:bodyPr/>
                    <a:lstStyle/>
                    <a:p>
                      <a:r>
                        <a:t>4. Disclose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IFRS S2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Board reporting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6125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30" name="Google Shape;430;p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30116" y="66645"/>
            <a:ext cx="1207990" cy="42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F1"/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89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36" name="Google Shape;436;p89"/>
          <p:cNvSpPr txBox="1">
            <a:spLocks noGrp="1"/>
          </p:cNvSpPr>
          <p:nvPr>
            <p:ph type="title"/>
          </p:nvPr>
        </p:nvSpPr>
        <p:spPr>
          <a:xfrm>
            <a:off x="202173" y="153865"/>
            <a:ext cx="8188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1667"/>
              <a:buNone/>
            </a:pPr>
            <a:r>
              <a:rPr sz="1800" b="1">
                <a:solidFill>
                  <a:srgbClr val="333333"/>
                </a:solidFill>
                <a:latin typeface="Calibri"/>
              </a:rPr>
              <a:t>PACTA: Portfolio Alignment Assessment</a:t>
            </a:r>
            <a:endParaRPr sz="240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37" name="Google Shape;437;p89"/>
          <p:cNvSpPr/>
          <p:nvPr/>
        </p:nvSpPr>
        <p:spPr>
          <a:xfrm>
            <a:off x="65564" y="1284865"/>
            <a:ext cx="598800" cy="543000"/>
          </a:xfrm>
          <a:prstGeom prst="homePlate">
            <a:avLst>
              <a:gd name="adj" fmla="val 50000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38" name="Google Shape;438;p89"/>
          <p:cNvSpPr/>
          <p:nvPr/>
        </p:nvSpPr>
        <p:spPr>
          <a:xfrm>
            <a:off x="65564" y="2645178"/>
            <a:ext cx="598800" cy="543000"/>
          </a:xfrm>
          <a:prstGeom prst="homePlate">
            <a:avLst>
              <a:gd name="adj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39" name="Google Shape;439;p89"/>
          <p:cNvSpPr/>
          <p:nvPr/>
        </p:nvSpPr>
        <p:spPr>
          <a:xfrm>
            <a:off x="843533" y="1073764"/>
            <a:ext cx="1662900" cy="1217700"/>
          </a:xfrm>
          <a:prstGeom prst="roundRect">
            <a:avLst>
              <a:gd name="adj" fmla="val 16667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44444"/>
                </a:solidFill>
                <a:latin typeface="Calibri"/>
              </a:rPr>
              <a:t>Develop portfolio alignment reports using open-source R packages</a:t>
            </a: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40" name="Google Shape;440;p89"/>
          <p:cNvSpPr/>
          <p:nvPr/>
        </p:nvSpPr>
        <p:spPr>
          <a:xfrm>
            <a:off x="843525" y="2401050"/>
            <a:ext cx="1662900" cy="2632500"/>
          </a:xfrm>
          <a:prstGeom prst="roundRect">
            <a:avLst>
              <a:gd name="adj" fmla="val 16667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43 loans, 25 trillion VND synthetic portfolio across power, automotive, cement, steel, and coal mining sectors</a:t>
            </a:r>
            <a:endParaRPr b="1">
              <a:solidFill>
                <a:srgbClr val="1D6E62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41" name="Google Shape;441;p89"/>
          <p:cNvSpPr/>
          <p:nvPr/>
        </p:nvSpPr>
        <p:spPr>
          <a:xfrm>
            <a:off x="2778309" y="1095393"/>
            <a:ext cx="2736600" cy="5727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Market-share method for power and automotive</a:t>
            </a:r>
            <a:endParaRPr sz="1100" b="1"/>
          </a:p>
        </p:txBody>
      </p:sp>
      <p:sp>
        <p:nvSpPr>
          <p:cNvPr id="442" name="Google Shape;442;p89"/>
          <p:cNvSpPr/>
          <p:nvPr/>
        </p:nvSpPr>
        <p:spPr>
          <a:xfrm>
            <a:off x="2778309" y="1777630"/>
            <a:ext cx="2736600" cy="5139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SDA method for cement and steel emission intensity</a:t>
            </a:r>
            <a:endParaRPr sz="1100" b="1"/>
          </a:p>
        </p:txBody>
      </p:sp>
      <p:sp>
        <p:nvSpPr>
          <p:cNvPr id="443" name="Google Shape;443;p89"/>
          <p:cNvSpPr/>
          <p:nvPr/>
        </p:nvSpPr>
        <p:spPr>
          <a:xfrm>
            <a:off x="2778309" y="2401050"/>
            <a:ext cx="2736600" cy="5139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Custom PDP8 scenario from Vietnam Power Development Plan 8</a:t>
            </a:r>
            <a:endParaRPr sz="1100" b="1"/>
          </a:p>
        </p:txBody>
      </p:sp>
      <p:sp>
        <p:nvSpPr>
          <p:cNvPr id="444" name="Google Shape;444;p89"/>
          <p:cNvSpPr/>
          <p:nvPr/>
        </p:nvSpPr>
        <p:spPr>
          <a:xfrm>
            <a:off x="2778300" y="3024475"/>
            <a:ext cx="2736600" cy="7734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Company-level results enable borrower-specific engagement</a:t>
            </a:r>
            <a:endParaRPr sz="1100" b="1"/>
          </a:p>
        </p:txBody>
      </p:sp>
      <p:sp>
        <p:nvSpPr>
          <p:cNvPr id="445" name="Google Shape;445;p89"/>
          <p:cNvSpPr/>
          <p:nvPr/>
        </p:nvSpPr>
        <p:spPr>
          <a:xfrm>
            <a:off x="2778350" y="3902300"/>
            <a:ext cx="2736600" cy="7092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Scenario comparison: PDP8 vs IEA NZE vs Vietnam NDC</a:t>
            </a:r>
            <a:endParaRPr sz="1100" b="1"/>
          </a:p>
        </p:txBody>
      </p:sp>
      <p:sp>
        <p:nvSpPr>
          <p:cNvPr id="446" name="Google Shape;446;p89"/>
          <p:cNvSpPr/>
          <p:nvPr/>
        </p:nvSpPr>
        <p:spPr>
          <a:xfrm>
            <a:off x="6032062" y="2390275"/>
            <a:ext cx="2855100" cy="5139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Open-source R packages, no licensing fees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447" name="Google Shape;447;p89"/>
          <p:cNvSpPr/>
          <p:nvPr/>
        </p:nvSpPr>
        <p:spPr>
          <a:xfrm>
            <a:off x="6032050" y="3013700"/>
            <a:ext cx="2883300" cy="7734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48" name="Google Shape;448;p89"/>
          <p:cNvSpPr/>
          <p:nvPr/>
        </p:nvSpPr>
        <p:spPr>
          <a:xfrm>
            <a:off x="6032050" y="3891525"/>
            <a:ext cx="2883300" cy="7092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49" name="Google Shape;449;p89"/>
          <p:cNvSpPr/>
          <p:nvPr/>
        </p:nvSpPr>
        <p:spPr>
          <a:xfrm>
            <a:off x="2778300" y="4715925"/>
            <a:ext cx="2736600" cy="3177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800">
                <a:solidFill>
                  <a:srgbClr val="666666"/>
                </a:solidFill>
                <a:latin typeface="Calibri"/>
              </a:rPr>
              <a:t>1,500+ institutions globally</a:t>
            </a: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450" name="Google Shape;450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8099" y="52326"/>
            <a:ext cx="1243600" cy="43112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89"/>
          <p:cNvSpPr/>
          <p:nvPr/>
        </p:nvSpPr>
        <p:spPr>
          <a:xfrm>
            <a:off x="6031950" y="1073775"/>
            <a:ext cx="2855100" cy="5727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900" b="1">
                <a:solidFill>
                  <a:srgbClr val="B42828"/>
                </a:solidFill>
                <a:latin typeface="Calibri"/>
              </a:rPr>
              <a:t>Coal 28% above PDP8 target</a:t>
            </a:r>
            <a:endParaRPr sz="1100" b="1"/>
          </a:p>
        </p:txBody>
      </p:sp>
      <p:sp>
        <p:nvSpPr>
          <p:cNvPr id="452" name="Google Shape;452;p89"/>
          <p:cNvSpPr/>
          <p:nvPr/>
        </p:nvSpPr>
        <p:spPr>
          <a:xfrm>
            <a:off x="6031950" y="1756025"/>
            <a:ext cx="2855100" cy="5139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900" b="1">
                <a:solidFill>
                  <a:srgbClr val="B42828"/>
                </a:solidFill>
                <a:latin typeface="Calibri"/>
              </a:rPr>
              <a:t>Renewables 15% below 2030 trajectory</a:t>
            </a:r>
            <a:endParaRPr sz="1100" b="1"/>
          </a:p>
        </p:txBody>
      </p:sp>
      <p:sp>
        <p:nvSpPr>
          <p:cNvPr id="453" name="Google Shape;453;p89"/>
          <p:cNvSpPr/>
          <p:nvPr/>
        </p:nvSpPr>
        <p:spPr>
          <a:xfrm>
            <a:off x="5607515" y="118627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89"/>
          <p:cNvSpPr/>
          <p:nvPr/>
        </p:nvSpPr>
        <p:spPr>
          <a:xfrm>
            <a:off x="5607515" y="186072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89"/>
          <p:cNvSpPr/>
          <p:nvPr/>
        </p:nvSpPr>
        <p:spPr>
          <a:xfrm>
            <a:off x="5607565" y="2484150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89"/>
          <p:cNvSpPr/>
          <p:nvPr/>
        </p:nvSpPr>
        <p:spPr>
          <a:xfrm>
            <a:off x="5607565" y="323732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89"/>
          <p:cNvSpPr/>
          <p:nvPr/>
        </p:nvSpPr>
        <p:spPr>
          <a:xfrm>
            <a:off x="5651290" y="4083050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89"/>
          <p:cNvSpPr/>
          <p:nvPr/>
        </p:nvSpPr>
        <p:spPr>
          <a:xfrm>
            <a:off x="5651290" y="470092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89"/>
          <p:cNvSpPr/>
          <p:nvPr/>
        </p:nvSpPr>
        <p:spPr>
          <a:xfrm>
            <a:off x="6032200" y="4715925"/>
            <a:ext cx="2883300" cy="3177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800">
                <a:solidFill>
                  <a:srgbClr val="666666"/>
                </a:solidFill>
                <a:latin typeface="Calibri"/>
              </a:rPr>
              <a:t>Time to first results: 1-3 months</a:t>
            </a: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460" name="Picture 459" descr="05_vn_power_techm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069848"/>
            <a:ext cx="2852928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F1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90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65" name="Google Shape;465;p90"/>
          <p:cNvSpPr txBox="1">
            <a:spLocks noGrp="1"/>
          </p:cNvSpPr>
          <p:nvPr>
            <p:ph type="title"/>
          </p:nvPr>
        </p:nvSpPr>
        <p:spPr>
          <a:xfrm>
            <a:off x="221989" y="155177"/>
            <a:ext cx="8188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1667"/>
              <a:buNone/>
            </a:pPr>
            <a:r>
              <a:rPr sz="2000" b="1">
                <a:solidFill>
                  <a:srgbClr val="333333"/>
                </a:solidFill>
                <a:latin typeface="Calibri"/>
              </a:rPr>
              <a:t>The Challenge: Decision 263 &amp; Transition Risk</a:t>
            </a:r>
            <a:endParaRPr sz="240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466" name="Google Shape;466;p90"/>
          <p:cNvGrpSpPr/>
          <p:nvPr/>
        </p:nvGrpSpPr>
        <p:grpSpPr>
          <a:xfrm>
            <a:off x="65637" y="1204503"/>
            <a:ext cx="2181939" cy="724612"/>
            <a:chOff x="1593000" y="2322568"/>
            <a:chExt cx="2939827" cy="643356"/>
          </a:xfrm>
        </p:grpSpPr>
        <p:sp>
          <p:nvSpPr>
            <p:cNvPr id="467" name="Google Shape;467;p90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68" name="Google Shape;468;p90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1B7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69" name="Google Shape;469;p90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rgbClr val="FFFFFF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SLL Support</a:t>
              </a:r>
              <a:endParaRPr sz="14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70" name="Google Shape;470;p90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1D7E75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68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71" name="Google Shape;471;p90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1F88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" sz="2600" b="0" i="0" u="none" strike="noStrike" cap="none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 sz="26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472" name="Google Shape;472;p90"/>
          <p:cNvSpPr/>
          <p:nvPr/>
        </p:nvSpPr>
        <p:spPr>
          <a:xfrm>
            <a:off x="2387491" y="1219350"/>
            <a:ext cx="3308100" cy="3782700"/>
          </a:xfrm>
          <a:prstGeom prst="roundRect">
            <a:avLst>
              <a:gd name="adj" fmla="val 16667"/>
            </a:avLst>
          </a:prstGeom>
          <a:solidFill>
            <a:srgbClr val="D7ECE8"/>
          </a:solidFill>
          <a:ln w="19050" cap="flat" cmpd="sng">
            <a:solidFill>
              <a:srgbClr val="155B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44444"/>
                </a:solidFill>
                <a:latin typeface="Calibri"/>
              </a:rPr>
              <a:t>Decision 263/QD-TTg mandates GHG quotas for thermal power, steel, and cement from 2025. Banks must assess borrower transition risk, but lack analytical tools to quantify portfolio alignment or borrower-level financial stress under Paris-aligned scenarios.</a:t>
            </a:r>
            <a:endParaRPr sz="1100" b="1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73" name="Google Shape;473;p90"/>
          <p:cNvSpPr/>
          <p:nvPr/>
        </p:nvSpPr>
        <p:spPr>
          <a:xfrm>
            <a:off x="5748450" y="1219350"/>
            <a:ext cx="3308100" cy="3782700"/>
          </a:xfrm>
          <a:prstGeom prst="roundRect">
            <a:avLst>
              <a:gd name="adj" fmla="val 16667"/>
            </a:avLst>
          </a:prstGeom>
          <a:solidFill>
            <a:srgbClr val="D7ECE8"/>
          </a:solidFill>
          <a:ln w="19050" cap="flat" cmpd="sng">
            <a:solidFill>
              <a:srgbClr val="155B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44444"/>
                </a:solidFill>
                <a:latin typeface="Calibri"/>
              </a:rPr>
              <a:t>Vietnamese banks need an integrated analytics stack that measures portfolio alignment with PDP8/NDC targets, quantifies borrower-level NPV and PD impact under transition scenarios, and produces disclosure-ready outputs for IFRS S2 and TCFD.</a:t>
            </a:r>
            <a:endParaRPr sz="1100" b="1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74" name="Google Shape;474;p90"/>
          <p:cNvSpPr/>
          <p:nvPr/>
        </p:nvSpPr>
        <p:spPr>
          <a:xfrm>
            <a:off x="2881016" y="1083175"/>
            <a:ext cx="2233800" cy="460800"/>
          </a:xfrm>
          <a:prstGeom prst="roundRect">
            <a:avLst>
              <a:gd name="adj" fmla="val 16667"/>
            </a:avLst>
          </a:prstGeom>
          <a:solidFill>
            <a:srgbClr val="006666"/>
          </a:solidFill>
          <a:ln w="9525" cap="flat" cmpd="sng">
            <a:solidFill>
              <a:srgbClr val="155B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333333"/>
                </a:solidFill>
                <a:latin typeface="Calibri"/>
              </a:rPr>
              <a:t>THE CHALLENGE</a:t>
            </a:r>
            <a:endParaRPr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75" name="Google Shape;475;p90"/>
          <p:cNvSpPr/>
          <p:nvPr/>
        </p:nvSpPr>
        <p:spPr>
          <a:xfrm>
            <a:off x="6176700" y="1083175"/>
            <a:ext cx="2233800" cy="460800"/>
          </a:xfrm>
          <a:prstGeom prst="roundRect">
            <a:avLst>
              <a:gd name="adj" fmla="val 16667"/>
            </a:avLst>
          </a:prstGeom>
          <a:solidFill>
            <a:srgbClr val="006666"/>
          </a:solidFill>
          <a:ln w="9525" cap="flat" cmpd="sng">
            <a:solidFill>
              <a:srgbClr val="155B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333333"/>
                </a:solidFill>
                <a:latin typeface="Calibri"/>
              </a:rPr>
              <a:t>WHAT BANKS NEED</a:t>
            </a:r>
            <a:endParaRPr sz="110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476" name="Google Shape;476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8099" y="52326"/>
            <a:ext cx="1243600" cy="43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F1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91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82" name="Google Shape;482;p91"/>
          <p:cNvSpPr txBox="1">
            <a:spLocks noGrp="1"/>
          </p:cNvSpPr>
          <p:nvPr>
            <p:ph type="title"/>
          </p:nvPr>
        </p:nvSpPr>
        <p:spPr>
          <a:xfrm>
            <a:off x="202173" y="153865"/>
            <a:ext cx="8188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455"/>
              <a:buNone/>
            </a:pPr>
            <a:r>
              <a:rPr sz="1800" b="1">
                <a:solidFill>
                  <a:srgbClr val="333333"/>
                </a:solidFill>
                <a:latin typeface="Calibri"/>
              </a:rPr>
              <a:t>TRISK: Borrower-Level Transition Stress Testing</a:t>
            </a:r>
            <a:endParaRPr sz="240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83" name="Google Shape;483;p91"/>
          <p:cNvSpPr/>
          <p:nvPr/>
        </p:nvSpPr>
        <p:spPr>
          <a:xfrm>
            <a:off x="65564" y="2637415"/>
            <a:ext cx="598800" cy="543000"/>
          </a:xfrm>
          <a:prstGeom prst="homePlate">
            <a:avLst>
              <a:gd name="adj" fmla="val 50000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84" name="Google Shape;484;p91"/>
          <p:cNvSpPr/>
          <p:nvPr/>
        </p:nvSpPr>
        <p:spPr>
          <a:xfrm>
            <a:off x="829025" y="1483275"/>
            <a:ext cx="1662900" cy="3166200"/>
          </a:xfrm>
          <a:prstGeom prst="roundRect">
            <a:avLst>
              <a:gd name="adj" fmla="val 16667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44444"/>
                </a:solidFill>
                <a:latin typeface="Calibri"/>
              </a:rPr>
              <a:t>Quantify borrower-level NPV and PD impact under transition scenarios</a:t>
            </a: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85" name="Google Shape;485;p91"/>
          <p:cNvSpPr/>
          <p:nvPr/>
        </p:nvSpPr>
        <p:spPr>
          <a:xfrm>
            <a:off x="2748684" y="1504893"/>
            <a:ext cx="2736600" cy="5727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Power: Coal-heavy borrowers show -12% to -18% NPV change</a:t>
            </a:r>
            <a:endParaRPr sz="1100" b="1"/>
          </a:p>
        </p:txBody>
      </p:sp>
      <p:sp>
        <p:nvSpPr>
          <p:cNvPr id="486" name="Google Shape;486;p91"/>
          <p:cNvSpPr/>
          <p:nvPr/>
        </p:nvSpPr>
        <p:spPr>
          <a:xfrm>
            <a:off x="2748684" y="2187130"/>
            <a:ext cx="2736600" cy="5139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Cement: BF/BOF mills face -8% to -14% NPV impact</a:t>
            </a:r>
            <a:endParaRPr sz="1100" b="1"/>
          </a:p>
        </p:txBody>
      </p:sp>
      <p:sp>
        <p:nvSpPr>
          <p:cNvPr id="487" name="Google Shape;487;p91"/>
          <p:cNvSpPr/>
          <p:nvPr/>
        </p:nvSpPr>
        <p:spPr>
          <a:xfrm>
            <a:off x="2748684" y="2810550"/>
            <a:ext cx="2736600" cy="5139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Steel: EAF routes outperform BF/BOF by 6-10pp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488" name="Google Shape;488;p91"/>
          <p:cNvSpPr/>
          <p:nvPr/>
        </p:nvSpPr>
        <p:spPr>
          <a:xfrm>
            <a:off x="2748675" y="3433975"/>
            <a:ext cx="2736600" cy="7734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Priority ranking: alignment gap + NPV change + exposure</a:t>
            </a:r>
            <a:endParaRPr sz="1100" b="1"/>
          </a:p>
        </p:txBody>
      </p:sp>
      <p:sp>
        <p:nvSpPr>
          <p:cNvPr id="489" name="Google Shape;489;p91"/>
          <p:cNvSpPr/>
          <p:nvPr/>
        </p:nvSpPr>
        <p:spPr>
          <a:xfrm>
            <a:off x="6002437" y="2799775"/>
            <a:ext cx="2855100" cy="5139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Sensitivity: shock year, discount rate, market passthrough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490" name="Google Shape;490;p91"/>
          <p:cNvSpPr/>
          <p:nvPr/>
        </p:nvSpPr>
        <p:spPr>
          <a:xfrm>
            <a:off x="6002425" y="3423200"/>
            <a:ext cx="2883300" cy="7734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Scenario Builder: drive five TRISK levers in real time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491" name="Google Shape;491;p91"/>
          <p:cNvSpPr/>
          <p:nvPr/>
        </p:nvSpPr>
        <p:spPr>
          <a:xfrm>
            <a:off x="2718125" y="4331900"/>
            <a:ext cx="2736600" cy="3177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Covers all three Decision 263 sectors</a:t>
            </a: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492" name="Google Shape;492;p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8099" y="52326"/>
            <a:ext cx="1243600" cy="43112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91"/>
          <p:cNvSpPr/>
          <p:nvPr/>
        </p:nvSpPr>
        <p:spPr>
          <a:xfrm>
            <a:off x="6002325" y="1483275"/>
            <a:ext cx="2855100" cy="5727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Exportable: CSV, HTML reports, interactive dashboard</a:t>
            </a:r>
            <a:endParaRPr sz="1100" b="1"/>
          </a:p>
        </p:txBody>
      </p:sp>
      <p:sp>
        <p:nvSpPr>
          <p:cNvPr id="494" name="Google Shape;494;p91"/>
          <p:cNvSpPr/>
          <p:nvPr/>
        </p:nvSpPr>
        <p:spPr>
          <a:xfrm>
            <a:off x="6002325" y="2165525"/>
            <a:ext cx="2855100" cy="5139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Results update instantly, no recomputation needed</a:t>
            </a:r>
            <a:endParaRPr sz="1100" b="1"/>
          </a:p>
        </p:txBody>
      </p:sp>
      <p:sp>
        <p:nvSpPr>
          <p:cNvPr id="495" name="Google Shape;495;p91"/>
          <p:cNvSpPr/>
          <p:nvPr/>
        </p:nvSpPr>
        <p:spPr>
          <a:xfrm>
            <a:off x="5577890" y="159577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91"/>
          <p:cNvSpPr/>
          <p:nvPr/>
        </p:nvSpPr>
        <p:spPr>
          <a:xfrm>
            <a:off x="5577890" y="227022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91"/>
          <p:cNvSpPr/>
          <p:nvPr/>
        </p:nvSpPr>
        <p:spPr>
          <a:xfrm>
            <a:off x="5577940" y="2893650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91"/>
          <p:cNvSpPr/>
          <p:nvPr/>
        </p:nvSpPr>
        <p:spPr>
          <a:xfrm>
            <a:off x="5577940" y="364682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91"/>
          <p:cNvSpPr/>
          <p:nvPr/>
        </p:nvSpPr>
        <p:spPr>
          <a:xfrm>
            <a:off x="5577890" y="4316900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91"/>
          <p:cNvSpPr/>
          <p:nvPr/>
        </p:nvSpPr>
        <p:spPr>
          <a:xfrm>
            <a:off x="6002325" y="4306125"/>
            <a:ext cx="2855100" cy="3177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800">
                <a:solidFill>
                  <a:srgbClr val="666666"/>
                </a:solidFill>
                <a:latin typeface="Calibri"/>
              </a:rPr>
              <a:t>Open-source R package (trisk.model) on CRAN</a:t>
            </a: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501" name="Picture 500" descr="trisk_power_npv_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1481328"/>
            <a:ext cx="2852928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92"/>
          <p:cNvSpPr txBox="1">
            <a:spLocks noGrp="1"/>
          </p:cNvSpPr>
          <p:nvPr>
            <p:ph type="title"/>
          </p:nvPr>
        </p:nvSpPr>
        <p:spPr>
          <a:xfrm>
            <a:off x="235425" y="135250"/>
            <a:ext cx="79788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333333"/>
                </a:solidFill>
                <a:latin typeface="Calibri"/>
              </a:rPr>
              <a:t>Engagement Offer &amp; 2026 Roadmap</a:t>
            </a:r>
            <a:endParaRPr sz="2600"/>
          </a:p>
        </p:txBody>
      </p:sp>
      <p:sp>
        <p:nvSpPr>
          <p:cNvPr id="506" name="Google Shape;506;p92"/>
          <p:cNvSpPr/>
          <p:nvPr/>
        </p:nvSpPr>
        <p:spPr>
          <a:xfrm>
            <a:off x="319450" y="1173550"/>
            <a:ext cx="8367300" cy="15570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7CD0C8"/>
          </a:solidFill>
          <a:ln>
            <a:noFill/>
          </a:ln>
          <a:effectLst>
            <a:outerShdw blurRad="21431" dist="85725" dir="2580000" algn="bl" rotWithShape="0">
              <a:srgbClr val="155B54">
                <a:alpha val="9451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t/>
            </a:r>
            <a:endParaRPr sz="1500" b="0" i="0" u="none" strike="noStrike" cap="non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07" name="Google Shape;507;p92"/>
          <p:cNvSpPr txBox="1">
            <a:spLocks noGrp="1"/>
          </p:cNvSpPr>
          <p:nvPr>
            <p:ph type="body" idx="1"/>
          </p:nvPr>
        </p:nvSpPr>
        <p:spPr>
          <a:xfrm>
            <a:off x="319450" y="3076875"/>
            <a:ext cx="8367300" cy="18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rPr sz="1000">
                <a:solidFill>
                  <a:srgbClr val="444444"/>
                </a:solidFill>
                <a:latin typeface="Calibri"/>
              </a:rPr>
              <a:t>We welcome the opportunity to discuss how this analytics stack can support your bank's transition-risk management and Decision 263 compliance.</a:t>
            </a:r>
            <a:endParaRPr sz="1500" b="1"/>
          </a:p>
        </p:txBody>
      </p:sp>
      <p:sp>
        <p:nvSpPr>
          <p:cNvPr id="508" name="Google Shape;508;p92"/>
          <p:cNvSpPr txBox="1">
            <a:spLocks noGrp="1"/>
          </p:cNvSpPr>
          <p:nvPr>
            <p:ph type="body" idx="1"/>
          </p:nvPr>
        </p:nvSpPr>
        <p:spPr>
          <a:xfrm>
            <a:off x="424525" y="1362125"/>
            <a:ext cx="81303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rPr sz="1000">
                <a:solidFill>
                  <a:srgbClr val="444444"/>
                </a:solidFill>
                <a:latin typeface="Calibri"/>
              </a:rPr>
              <a:t>Phase 1: Data intake and loanbook normalization (BYOL)</a:t>
            </a:r>
            <a:endParaRPr sz="1500" b="1"/>
          </a:p>
          <a:p>
            <a:pPr>
              <a:buNone/>
            </a:pPr>
            <a:r>
              <a:rPr sz="1000">
                <a:solidFill>
                  <a:srgbClr val="444444"/>
                </a:solidFill>
                <a:latin typeface="Calibri"/>
              </a:rPr>
              <a:t>Phase 2: PACTA portfolio alignment with real borrower data</a:t>
            </a:r>
          </a:p>
          <a:p>
            <a:pPr>
              <a:buNone/>
            </a:pPr>
            <a:r>
              <a:rPr sz="1000">
                <a:solidFill>
                  <a:srgbClr val="444444"/>
                </a:solidFill>
                <a:latin typeface="Calibri"/>
              </a:rPr>
              <a:t>Phase 3: TRISK stress testing and borrower ranking</a:t>
            </a:r>
          </a:p>
          <a:p>
            <a:pPr>
              <a:buNone/>
            </a:pPr>
            <a:r>
              <a:rPr sz="1000">
                <a:solidFill>
                  <a:srgbClr val="444444"/>
                </a:solidFill>
                <a:latin typeface="Calibri"/>
              </a:rPr>
              <a:t>Phase 4: IFRS S2 disclosure package and board-ready report</a:t>
            </a:r>
          </a:p>
          <a:p>
            <a:pPr>
              <a:buNone/>
            </a:pPr>
            <a:r>
              <a:rPr sz="1000">
                <a:solidFill>
                  <a:srgbClr val="444444"/>
                </a:solidFill>
                <a:latin typeface="Calibri"/>
              </a:rPr>
              <a:t/>
            </a:r>
          </a:p>
          <a:p>
            <a:pPr>
              <a:buNone/>
            </a:pPr>
            <a:r>
              <a:rPr sz="1000">
                <a:solidFill>
                  <a:srgbClr val="444444"/>
                </a:solidFill>
                <a:latin typeface="Calibri"/>
              </a:rPr>
              <a:t>Timeline: 6-9 months from data receipt to final deliverables.</a:t>
            </a:r>
          </a:p>
          <a:p>
            <a:pPr>
              <a:buNone/>
            </a:pPr>
            <a:r>
              <a:rPr sz="1000">
                <a:solidFill>
                  <a:srgbClr val="444444"/>
                </a:solidFill>
                <a:latin typeface="Calibri"/>
              </a:rPr>
              <a:t>All analytics are open-source with no licensing fees.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CE8"/>
        </a:solidFill>
        <a:effectLst/>
      </p:bgPr>
    </p:bg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93"/>
          <p:cNvPicPr preferRelativeResize="0"/>
          <p:nvPr/>
        </p:nvPicPr>
        <p:blipFill rotWithShape="1">
          <a:blip r:embed="rId3">
            <a:alphaModFix/>
          </a:blip>
          <a:srcRect t="10929"/>
          <a:stretch/>
        </p:blipFill>
        <p:spPr>
          <a:xfrm>
            <a:off x="-13597" y="389659"/>
            <a:ext cx="9171194" cy="4810992"/>
          </a:xfrm>
          <a:prstGeom prst="rect">
            <a:avLst/>
          </a:prstGeom>
          <a:solidFill>
            <a:srgbClr val="D7ECE8"/>
          </a:solidFill>
          <a:ln>
            <a:noFill/>
          </a:ln>
        </p:spPr>
      </p:pic>
      <p:sp>
        <p:nvSpPr>
          <p:cNvPr id="514" name="Google Shape;514;p93"/>
          <p:cNvSpPr txBox="1"/>
          <p:nvPr/>
        </p:nvSpPr>
        <p:spPr>
          <a:xfrm>
            <a:off x="-25546" y="-83130"/>
            <a:ext cx="6016800" cy="2124000"/>
          </a:xfrm>
          <a:prstGeom prst="rect">
            <a:avLst/>
          </a:prstGeom>
          <a:solidFill>
            <a:srgbClr val="D6EC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5" name="Google Shape;515;p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500" y="51075"/>
            <a:ext cx="3442424" cy="120705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17" name="Google Shape;517;p93"/>
          <p:cNvSpPr/>
          <p:nvPr/>
        </p:nvSpPr>
        <p:spPr>
          <a:xfrm>
            <a:off x="710600" y="1367926"/>
            <a:ext cx="4989600" cy="23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sz="1400" b="0">
                <a:solidFill>
                  <a:srgbClr val="333333"/>
                </a:solidFill>
                <a:latin typeface="Calibri"/>
              </a:rPr>
              <a:t>Tung Ho, tah@allotropepartners.com</a:t>
            </a:r>
            <a:endParaRPr sz="1600" b="1">
              <a:solidFill>
                <a:srgbClr val="006666"/>
              </a:solidFill>
              <a:latin typeface="Cabin"/>
              <a:ea typeface="Cabin"/>
              <a:cs typeface="Cabin"/>
              <a:sym typeface="Cabin"/>
            </a:endParaRPr>
          </a:p>
          <a:p>
            <a:pPr>
              <a:buNone/>
            </a:pPr>
            <a:r>
              <a:rPr sz="1400" b="0">
                <a:solidFill>
                  <a:srgbClr val="333333"/>
                </a:solidFill>
                <a:latin typeface="Calibri"/>
              </a:rPr>
              <a:t>Hang Tran, httt@allotropepartners.com</a:t>
            </a:r>
          </a:p>
          <a:p>
            <a:pPr>
              <a:buNone/>
            </a:pPr>
            <a:r>
              <a:rPr sz="1400" b="0">
                <a:solidFill>
                  <a:srgbClr val="333333"/>
                </a:solidFill>
                <a:latin typeface="Calibri"/>
              </a:rPr>
              <a:t>Allotrope VC | GTB Vietnam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94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333333"/>
                </a:solidFill>
                <a:latin typeface="Calibri"/>
              </a:rPr>
              <a:t>Case Study: Vietnam Bank Demo - Power Sector Alignment</a:t>
            </a:r>
            <a:endParaRPr/>
          </a:p>
        </p:txBody>
      </p:sp>
      <p:graphicFrame>
        <p:nvGraphicFramePr>
          <p:cNvPr id="524" name="Google Shape;524;p94"/>
          <p:cNvGraphicFramePr/>
          <p:nvPr/>
        </p:nvGraphicFramePr>
        <p:xfrm>
          <a:off x="93225" y="101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{875FF242-65BD-4BEC-9965-0DD7952A758F}</a:tableStyleId>
              </a:tblPr>
              <a:tblGrid>
                <a:gridCol w="155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945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r>
                        <a:t>Portfolio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43 loans, ~$1B USD synthetic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r>
                        <a:t>Power Mix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Coal 28%, Gas 12%, Hydro 10%, Solar 8%, Wind 5%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950">
                <a:tc>
                  <a:txBody>
                    <a:bodyPr/>
                    <a:lstStyle/>
                    <a:p>
                      <a:r>
                        <a:t>PDP8 Target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Coal phase-down, renewables 3x by 2030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r>
                        <a:t>Gap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Coal +28% above target; renewables -15% below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795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25" name="Picture 524" descr="12_vn_alignment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115568"/>
            <a:ext cx="3694176" cy="25968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95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333333"/>
                </a:solidFill>
                <a:latin typeface="Calibri"/>
              </a:rPr>
              <a:t>Case Study: TRISK Borrower Stress Rankings</a:t>
            </a:r>
            <a:endParaRPr/>
          </a:p>
        </p:txBody>
      </p:sp>
      <p:sp>
        <p:nvSpPr>
          <p:cNvPr id="533" name="Google Shape;533;p95"/>
          <p:cNvSpPr txBox="1"/>
          <p:nvPr/>
        </p:nvSpPr>
        <p:spPr>
          <a:xfrm>
            <a:off x="3318201" y="46348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333333"/>
                </a:solidFill>
                <a:latin typeface="Calibri"/>
              </a:rPr>
              <a:t>Priority Score (Top 10)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34" name="Google Shape;534;p95"/>
          <p:cNvSpPr txBox="1"/>
          <p:nvPr/>
        </p:nvSpPr>
        <p:spPr>
          <a:xfrm>
            <a:off x="6502563" y="46348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333333"/>
                </a:solidFill>
                <a:latin typeface="Calibri"/>
              </a:rPr>
              <a:t>PD Change by Borrower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35" name="Google Shape;535;p95"/>
          <p:cNvSpPr txBox="1"/>
          <p:nvPr/>
        </p:nvSpPr>
        <p:spPr>
          <a:xfrm>
            <a:off x="58700" y="1098550"/>
            <a:ext cx="2727300" cy="3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65760" lvl="0" indent="-20701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bin"/>
              <a:buChar char="●"/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TRISK ranks borrowers by financial stress severity. Coal-heavy names (Vinh Tan, Duyen Hai, Mong Duong) show highest NPV decline and PD increase. Renewable-focused borrowers (Trung Nam, BIM) benefit from transition tailwinds.</a:t>
            </a:r>
            <a:endParaRPr sz="11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/>
            </a:r>
          </a:p>
          <a:p>
            <a:pPr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Illustrative / synthetic data - not actual portfolio results.</a:t>
            </a:r>
          </a:p>
        </p:txBody>
      </p:sp>
      <p:pic>
        <p:nvPicPr>
          <p:cNvPr id="536" name="Picture 535" descr="13_vn_coal_stranded_ri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0987" y="2367050"/>
            <a:ext cx="2860250" cy="2220025"/>
          </a:xfrm>
          <a:prstGeom prst="rect">
            <a:avLst/>
          </a:prstGeom>
        </p:spPr>
      </p:pic>
      <p:pic>
        <p:nvPicPr>
          <p:cNvPr id="537" name="Picture 536" descr="trisk_power_pd_ch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3137" y="2367050"/>
            <a:ext cx="2963975" cy="2220025"/>
          </a:xfrm>
          <a:prstGeom prst="rect">
            <a:avLst/>
          </a:prstGeom>
        </p:spPr>
      </p:pic>
      <p:pic>
        <p:nvPicPr>
          <p:cNvPr id="538" name="Picture 537" descr="trisk_power_priority_top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9728" y="1193650"/>
            <a:ext cx="4698150" cy="10004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6"/>
          <p:cNvSpPr txBox="1"/>
          <p:nvPr/>
        </p:nvSpPr>
        <p:spPr>
          <a:xfrm>
            <a:off x="252328" y="278797"/>
            <a:ext cx="61485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600" b="1">
                <a:solidFill>
                  <a:srgbClr val="333333"/>
                </a:solidFill>
                <a:latin typeface="Calibri"/>
              </a:rPr>
              <a:t>Case Study: Key Findings &amp; Takeaways</a:t>
            </a:r>
            <a:endParaRPr sz="240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41" name="Google Shape;541;p96"/>
          <p:cNvSpPr/>
          <p:nvPr/>
        </p:nvSpPr>
        <p:spPr>
          <a:xfrm>
            <a:off x="2193925" y="1546225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96"/>
          <p:cNvSpPr/>
          <p:nvPr/>
        </p:nvSpPr>
        <p:spPr>
          <a:xfrm>
            <a:off x="252325" y="1546225"/>
            <a:ext cx="1658700" cy="3216000"/>
          </a:xfrm>
          <a:prstGeom prst="roundRect">
            <a:avLst>
              <a:gd name="adj" fmla="val 16667"/>
            </a:avLst>
          </a:prstGeom>
          <a:solidFill>
            <a:srgbClr val="147668">
              <a:alpha val="388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96"/>
          <p:cNvSpPr/>
          <p:nvPr/>
        </p:nvSpPr>
        <p:spPr>
          <a:xfrm>
            <a:off x="2014201" y="1556438"/>
            <a:ext cx="1658700" cy="3216000"/>
          </a:xfrm>
          <a:prstGeom prst="roundRect">
            <a:avLst>
              <a:gd name="adj" fmla="val 16667"/>
            </a:avLst>
          </a:prstGeom>
          <a:solidFill>
            <a:srgbClr val="147668">
              <a:alpha val="388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96"/>
          <p:cNvSpPr/>
          <p:nvPr/>
        </p:nvSpPr>
        <p:spPr>
          <a:xfrm>
            <a:off x="3776076" y="1554761"/>
            <a:ext cx="1658700" cy="3216000"/>
          </a:xfrm>
          <a:prstGeom prst="roundRect">
            <a:avLst>
              <a:gd name="adj" fmla="val 16667"/>
            </a:avLst>
          </a:prstGeom>
          <a:solidFill>
            <a:srgbClr val="147668">
              <a:alpha val="388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96"/>
          <p:cNvSpPr/>
          <p:nvPr/>
        </p:nvSpPr>
        <p:spPr>
          <a:xfrm>
            <a:off x="5537952" y="1564973"/>
            <a:ext cx="1658700" cy="3216000"/>
          </a:xfrm>
          <a:prstGeom prst="roundRect">
            <a:avLst>
              <a:gd name="adj" fmla="val 16667"/>
            </a:avLst>
          </a:prstGeom>
          <a:solidFill>
            <a:srgbClr val="147668">
              <a:alpha val="388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96"/>
          <p:cNvSpPr/>
          <p:nvPr/>
        </p:nvSpPr>
        <p:spPr>
          <a:xfrm>
            <a:off x="7299825" y="1551406"/>
            <a:ext cx="1658700" cy="3216000"/>
          </a:xfrm>
          <a:prstGeom prst="roundRect">
            <a:avLst>
              <a:gd name="adj" fmla="val 16667"/>
            </a:avLst>
          </a:prstGeom>
          <a:solidFill>
            <a:srgbClr val="147668">
              <a:alpha val="388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96"/>
          <p:cNvSpPr/>
          <p:nvPr/>
        </p:nvSpPr>
        <p:spPr>
          <a:xfrm>
            <a:off x="3779070" y="2282931"/>
            <a:ext cx="1655700" cy="2497800"/>
          </a:xfrm>
          <a:prstGeom prst="roundRect">
            <a:avLst>
              <a:gd name="adj" fmla="val 16667"/>
            </a:avLst>
          </a:prstGeom>
          <a:solidFill>
            <a:srgbClr val="1166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96"/>
          <p:cNvSpPr/>
          <p:nvPr/>
        </p:nvSpPr>
        <p:spPr>
          <a:xfrm>
            <a:off x="5538260" y="2282931"/>
            <a:ext cx="1650900" cy="2497800"/>
          </a:xfrm>
          <a:prstGeom prst="roundRect">
            <a:avLst>
              <a:gd name="adj" fmla="val 16667"/>
            </a:avLst>
          </a:prstGeom>
          <a:solidFill>
            <a:srgbClr val="14766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96"/>
          <p:cNvSpPr/>
          <p:nvPr/>
        </p:nvSpPr>
        <p:spPr>
          <a:xfrm>
            <a:off x="7299825" y="2275650"/>
            <a:ext cx="1658700" cy="2497800"/>
          </a:xfrm>
          <a:prstGeom prst="roundRect">
            <a:avLst>
              <a:gd name="adj" fmla="val 16667"/>
            </a:avLst>
          </a:prstGeom>
          <a:solidFill>
            <a:srgbClr val="198F7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96"/>
          <p:cNvSpPr/>
          <p:nvPr/>
        </p:nvSpPr>
        <p:spPr>
          <a:xfrm>
            <a:off x="2017198" y="2282932"/>
            <a:ext cx="1655700" cy="2497800"/>
          </a:xfrm>
          <a:prstGeom prst="roundRect">
            <a:avLst>
              <a:gd name="adj" fmla="val 16667"/>
            </a:avLst>
          </a:prstGeom>
          <a:solidFill>
            <a:srgbClr val="105C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96"/>
          <p:cNvSpPr/>
          <p:nvPr/>
        </p:nvSpPr>
        <p:spPr>
          <a:xfrm>
            <a:off x="249350" y="2275651"/>
            <a:ext cx="1658700" cy="2497800"/>
          </a:xfrm>
          <a:prstGeom prst="roundRect">
            <a:avLst>
              <a:gd name="adj" fmla="val 16667"/>
            </a:avLst>
          </a:prstGeom>
          <a:solidFill>
            <a:srgbClr val="0C48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96"/>
          <p:cNvSpPr txBox="1"/>
          <p:nvPr/>
        </p:nvSpPr>
        <p:spPr>
          <a:xfrm>
            <a:off x="349245" y="1684316"/>
            <a:ext cx="1424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3333"/>
                </a:solidFill>
                <a:latin typeface="Calibri"/>
              </a:rPr>
              <a:t>Coal Stranded Risk</a:t>
            </a:r>
            <a:endParaRPr sz="1400" b="1" i="0" u="none" strike="noStrike" cap="none">
              <a:solidFill>
                <a:srgbClr val="0C483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53" name="Google Shape;553;p96"/>
          <p:cNvSpPr txBox="1"/>
          <p:nvPr/>
        </p:nvSpPr>
        <p:spPr>
          <a:xfrm>
            <a:off x="2131483" y="1708375"/>
            <a:ext cx="1424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3333"/>
                </a:solidFill>
                <a:latin typeface="Calibri"/>
              </a:rPr>
              <a:t>Renewables Gap</a:t>
            </a:r>
            <a:endParaRPr sz="1400" b="0" i="0" u="none" strike="noStrike" cap="none">
              <a:solidFill>
                <a:srgbClr val="155B55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54" name="Google Shape;554;p96"/>
          <p:cNvSpPr txBox="1"/>
          <p:nvPr/>
        </p:nvSpPr>
        <p:spPr>
          <a:xfrm>
            <a:off x="3852751" y="1708375"/>
            <a:ext cx="1424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3333"/>
                </a:solidFill>
                <a:latin typeface="Calibri"/>
              </a:rPr>
              <a:t>Borrower Heterogeneity</a:t>
            </a:r>
            <a:endParaRPr>
              <a:solidFill>
                <a:srgbClr val="155B55"/>
              </a:solidFill>
            </a:endParaRPr>
          </a:p>
        </p:txBody>
      </p:sp>
      <p:sp>
        <p:nvSpPr>
          <p:cNvPr id="555" name="Google Shape;555;p96"/>
          <p:cNvSpPr txBox="1"/>
          <p:nvPr/>
        </p:nvSpPr>
        <p:spPr>
          <a:xfrm>
            <a:off x="5577050" y="1708375"/>
            <a:ext cx="1550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3333"/>
                </a:solidFill>
                <a:latin typeface="Calibri"/>
              </a:rPr>
              <a:t>Decision 263 Readiness</a:t>
            </a:r>
            <a:endParaRPr>
              <a:solidFill>
                <a:srgbClr val="155B55"/>
              </a:solidFill>
            </a:endParaRPr>
          </a:p>
        </p:txBody>
      </p:sp>
      <p:sp>
        <p:nvSpPr>
          <p:cNvPr id="556" name="Google Shape;556;p96"/>
          <p:cNvSpPr txBox="1"/>
          <p:nvPr/>
        </p:nvSpPr>
        <p:spPr>
          <a:xfrm>
            <a:off x="7399896" y="1708375"/>
            <a:ext cx="1424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3333"/>
                </a:solidFill>
                <a:latin typeface="Calibri"/>
              </a:rPr>
              <a:t>Interactive Exploration</a:t>
            </a:r>
            <a:endParaRPr>
              <a:solidFill>
                <a:srgbClr val="155B55"/>
              </a:solidFill>
            </a:endParaRPr>
          </a:p>
        </p:txBody>
      </p:sp>
      <p:sp>
        <p:nvSpPr>
          <p:cNvPr id="557" name="Google Shape;557;p96"/>
          <p:cNvSpPr txBox="1"/>
          <p:nvPr/>
        </p:nvSpPr>
        <p:spPr>
          <a:xfrm>
            <a:off x="285403" y="2417569"/>
            <a:ext cx="15396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FFFFFF"/>
                </a:solidFill>
                <a:latin typeface="Calibri"/>
              </a:rPr>
              <a:t>28% of portfolio coal capacity exceeds PDP8 phase-down trajectory. BOT plants face cliff-edge decline post-PPA expiry (~2035).</a:t>
            </a:r>
            <a:endParaRPr/>
          </a:p>
        </p:txBody>
      </p:sp>
      <p:sp>
        <p:nvSpPr>
          <p:cNvPr id="558" name="Google Shape;558;p96"/>
          <p:cNvSpPr txBox="1"/>
          <p:nvPr/>
        </p:nvSpPr>
        <p:spPr>
          <a:xfrm>
            <a:off x="2008228" y="2417569"/>
            <a:ext cx="16647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FFFFFF"/>
                </a:solidFill>
                <a:latin typeface="Calibri"/>
              </a:rPr>
              <a:t>Renewables buildout is 15% below 2030 target. Solar and wind capacity must triple to align with PDP8.</a:t>
            </a:r>
            <a:endParaRPr/>
          </a:p>
        </p:txBody>
      </p:sp>
      <p:sp>
        <p:nvSpPr>
          <p:cNvPr id="559" name="Google Shape;559;p96"/>
          <p:cNvSpPr txBox="1"/>
          <p:nvPr/>
        </p:nvSpPr>
        <p:spPr>
          <a:xfrm>
            <a:off x="3769064" y="2417569"/>
            <a:ext cx="16557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FFFFFF"/>
                </a:solidFill>
                <a:latin typeface="Calibri"/>
              </a:rPr>
              <a:t>NPV impact ranges from -18% (coal-heavy) to +8% (renewable-focused). One-size engagement fails.</a:t>
            </a:r>
            <a:endParaRPr sz="1200" b="0" i="0" u="none" strike="noStrike" cap="non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60" name="Google Shape;560;p96"/>
          <p:cNvSpPr txBox="1"/>
          <p:nvPr/>
        </p:nvSpPr>
        <p:spPr>
          <a:xfrm>
            <a:off x="5520935" y="2417569"/>
            <a:ext cx="16680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FFFFFF"/>
                </a:solidFill>
                <a:latin typeface="Calibri"/>
              </a:rPr>
              <a:t>Three-layer stack (PCAF, PACTA, TRISK) addresses all Decision 263 requirements: inventory, quotas, and reduction plans.</a:t>
            </a:r>
            <a:endParaRPr sz="1200" b="0" i="0" u="none" strike="noStrike" cap="non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61" name="Google Shape;561;p96"/>
          <p:cNvSpPr txBox="1"/>
          <p:nvPr/>
        </p:nvSpPr>
        <p:spPr>
          <a:xfrm>
            <a:off x="7270231" y="2417569"/>
            <a:ext cx="16836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FFFFFF"/>
                </a:solidFill>
                <a:latin typeface="Calibri"/>
              </a:rPr>
              <a:t>Live dashboard with Scenario Builder lets bank teams explore levers in real time. Downloadable HTML reports and CSV exports.</a:t>
            </a:r>
            <a:endParaRPr sz="1200" b="0" i="0" u="none" strike="noStrike" cap="non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562" name="Google Shape;562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8345" y="948849"/>
            <a:ext cx="528119" cy="528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9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4269" y="1038490"/>
            <a:ext cx="449263" cy="449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9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15692" y="1037880"/>
            <a:ext cx="449873" cy="449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9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3374" y="1049995"/>
            <a:ext cx="443546" cy="443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9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04878" y="1032036"/>
            <a:ext cx="414301" cy="41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F1"/>
        </a:solidFill>
        <a:effectLst/>
      </p:bgPr>
    </p:bg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97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72" name="Google Shape;572;p97"/>
          <p:cNvSpPr txBox="1">
            <a:spLocks noGrp="1"/>
          </p:cNvSpPr>
          <p:nvPr>
            <p:ph type="title"/>
          </p:nvPr>
        </p:nvSpPr>
        <p:spPr>
          <a:xfrm>
            <a:off x="323125" y="137300"/>
            <a:ext cx="864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sz="1800" b="1">
                <a:solidFill>
                  <a:srgbClr val="333333"/>
                </a:solidFill>
                <a:latin typeface="Calibri"/>
              </a:rPr>
              <a:t>Compliance Value: Decision 263 / TCFD / ISSB</a:t>
            </a:r>
            <a:endParaRPr sz="196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76" name="Google Shape;576;p97"/>
          <p:cNvSpPr txBox="1"/>
          <p:nvPr/>
        </p:nvSpPr>
        <p:spPr>
          <a:xfrm>
            <a:off x="3227750" y="4785375"/>
            <a:ext cx="5860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Cement &amp; Steel SDA: Emission intensity vs. 2030 NDC targets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77" name="Google Shape;577;p97"/>
          <p:cNvSpPr txBox="1"/>
          <p:nvPr/>
        </p:nvSpPr>
        <p:spPr>
          <a:xfrm>
            <a:off x="61050" y="4785375"/>
            <a:ext cx="303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Coal trajectory vs. PDP8 phase-down pathway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578" name="Google Shape;578;p9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30116" y="66645"/>
            <a:ext cx="1207990" cy="420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Picture 578" descr="06_vn_coal_trajecto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24" y="1173588"/>
            <a:ext cx="3036642" cy="3611775"/>
          </a:xfrm>
          <a:prstGeom prst="rect">
            <a:avLst/>
          </a:prstGeom>
        </p:spPr>
      </p:pic>
      <p:pic>
        <p:nvPicPr>
          <p:cNvPr id="580" name="Picture 579" descr="11_vn_steel_sd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9725" y="1129675"/>
            <a:ext cx="2584250" cy="1930275"/>
          </a:xfrm>
          <a:prstGeom prst="rect">
            <a:avLst/>
          </a:prstGeom>
        </p:spPr>
      </p:pic>
      <p:pic>
        <p:nvPicPr>
          <p:cNvPr id="581" name="Picture 580" descr="10_vn_cement_sd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7750" y="1129675"/>
            <a:ext cx="3111900" cy="3655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F1"/>
        </a:solid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98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84" name="Google Shape;584;p98"/>
          <p:cNvSpPr txBox="1">
            <a:spLocks noGrp="1"/>
          </p:cNvSpPr>
          <p:nvPr>
            <p:ph type="title"/>
          </p:nvPr>
        </p:nvSpPr>
        <p:spPr>
          <a:xfrm>
            <a:off x="323150" y="137292"/>
            <a:ext cx="8188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sz="1800" b="1">
                <a:solidFill>
                  <a:srgbClr val="333333"/>
                </a:solidFill>
                <a:latin typeface="Calibri"/>
              </a:rPr>
              <a:t>Live Dashboard: Interactive Portfolio Exploration</a:t>
            </a:r>
            <a:endParaRPr sz="206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586" name="Google Shape;586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4948" y="1142125"/>
            <a:ext cx="2539224" cy="160529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98"/>
          <p:cNvSpPr txBox="1"/>
          <p:nvPr/>
        </p:nvSpPr>
        <p:spPr>
          <a:xfrm>
            <a:off x="3261125" y="4785375"/>
            <a:ext cx="3213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TRISK Risk: Borrower stress rankings with sensitivity controls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91" name="Google Shape;591;p98"/>
          <p:cNvSpPr txBox="1"/>
          <p:nvPr/>
        </p:nvSpPr>
        <p:spPr>
          <a:xfrm>
            <a:off x="6781575" y="4386675"/>
            <a:ext cx="2232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444444"/>
                </a:solidFill>
                <a:latin typeface="Calibri"/>
              </a:rPr>
              <a:t>Scenario Builder: Drive the five TRISK levers in real time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592" name="Google Shape;592;p9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30116" y="66645"/>
            <a:ext cx="1207990" cy="420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Picture 592" descr="03_vn_coverage_pi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575" y="1165850"/>
            <a:ext cx="3003944" cy="3581925"/>
          </a:xfrm>
          <a:prstGeom prst="rect">
            <a:avLst/>
          </a:prstGeom>
        </p:spPr>
      </p:pic>
      <p:pic>
        <p:nvPicPr>
          <p:cNvPr id="594" name="Picture 593" descr="12_vn_alignment_overvie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50" y="4785375"/>
            <a:ext cx="3036600" cy="400200"/>
          </a:xfrm>
          <a:prstGeom prst="rect">
            <a:avLst/>
          </a:prstGeom>
        </p:spPr>
      </p:pic>
      <p:pic>
        <p:nvPicPr>
          <p:cNvPr id="595" name="Picture 594" descr="12_vn_alignment_overvie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4949" y="2788925"/>
            <a:ext cx="2581625" cy="1389049"/>
          </a:xfrm>
          <a:prstGeom prst="rect">
            <a:avLst/>
          </a:prstGeom>
        </p:spPr>
      </p:pic>
      <p:pic>
        <p:nvPicPr>
          <p:cNvPr id="596" name="Picture 595" descr="12_vn_alignment_overvie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1125" y="1142125"/>
            <a:ext cx="3101224" cy="35819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01"/>
          <p:cNvSpPr txBox="1">
            <a:spLocks noGrp="1"/>
          </p:cNvSpPr>
          <p:nvPr>
            <p:ph type="title"/>
          </p:nvPr>
        </p:nvSpPr>
        <p:spPr>
          <a:xfrm>
            <a:off x="235425" y="135250"/>
            <a:ext cx="79788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333333"/>
                </a:solidFill>
                <a:latin typeface="Calibri"/>
              </a:rPr>
              <a:t>Proposed Next Steps</a:t>
            </a:r>
            <a:endParaRPr sz="2600"/>
          </a:p>
        </p:txBody>
      </p:sp>
      <p:sp>
        <p:nvSpPr>
          <p:cNvPr id="620" name="Google Shape;620;p101"/>
          <p:cNvSpPr/>
          <p:nvPr/>
        </p:nvSpPr>
        <p:spPr>
          <a:xfrm>
            <a:off x="319450" y="1173550"/>
            <a:ext cx="8367300" cy="15570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7CD0C8"/>
          </a:solidFill>
          <a:ln>
            <a:noFill/>
          </a:ln>
          <a:effectLst>
            <a:outerShdw blurRad="21431" dist="85725" dir="2580000" algn="bl" rotWithShape="0">
              <a:srgbClr val="155B54">
                <a:alpha val="9451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t/>
            </a:r>
            <a:endParaRPr sz="1500" b="0" i="0" u="none" strike="noStrike" cap="non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21" name="Google Shape;621;p101"/>
          <p:cNvSpPr txBox="1">
            <a:spLocks noGrp="1"/>
          </p:cNvSpPr>
          <p:nvPr>
            <p:ph type="body" idx="1"/>
          </p:nvPr>
        </p:nvSpPr>
        <p:spPr>
          <a:xfrm>
            <a:off x="319450" y="3076874"/>
            <a:ext cx="8611500" cy="18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rPr sz="1000">
                <a:solidFill>
                  <a:srgbClr val="444444"/>
                </a:solidFill>
                <a:latin typeface="Calibri"/>
              </a:rPr>
              <a:t>We are ready to begin Phase 1 upon receipt of loanbook data.</a:t>
            </a:r>
            <a:endParaRPr sz="1500" b="1"/>
          </a:p>
          <a:p>
            <a:pPr>
              <a:buNone/>
            </a:pPr>
            <a:r>
              <a:rPr sz="1000">
                <a:solidFill>
                  <a:srgbClr val="444444"/>
                </a:solidFill>
                <a:latin typeface="Calibri"/>
              </a:rPr>
              <a:t>Synthetic demo available for immediate internal training.</a:t>
            </a:r>
          </a:p>
        </p:txBody>
      </p:sp>
      <p:sp>
        <p:nvSpPr>
          <p:cNvPr id="622" name="Google Shape;622;p101"/>
          <p:cNvSpPr txBox="1">
            <a:spLocks noGrp="1"/>
          </p:cNvSpPr>
          <p:nvPr>
            <p:ph type="body" idx="1"/>
          </p:nvPr>
        </p:nvSpPr>
        <p:spPr>
          <a:xfrm>
            <a:off x="424525" y="1362125"/>
            <a:ext cx="81303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rPr sz="1000">
                <a:solidFill>
                  <a:srgbClr val="444444"/>
                </a:solidFill>
                <a:latin typeface="Calibri"/>
              </a:rPr>
              <a:t>1. Share loanbook template for BYOL intake validation</a:t>
            </a:r>
            <a:endParaRPr sz="1500" b="1"/>
          </a:p>
          <a:p>
            <a:pPr>
              <a:buNone/>
            </a:pPr>
            <a:r>
              <a:rPr sz="1000">
                <a:solidFill>
                  <a:srgbClr val="444444"/>
                </a:solidFill>
                <a:latin typeface="Calibri"/>
              </a:rPr>
              <a:t>2. Identify Decision 263 borrower subset for priority analysis</a:t>
            </a:r>
          </a:p>
          <a:p>
            <a:pPr>
              <a:buNone/>
            </a:pPr>
            <a:r>
              <a:rPr sz="1000">
                <a:solidFill>
                  <a:srgbClr val="444444"/>
                </a:solidFill>
                <a:latin typeface="Calibri"/>
              </a:rPr>
              <a:t>3. Schedule technical workshop with risk and ESG teams</a:t>
            </a:r>
          </a:p>
          <a:p>
            <a:pPr>
              <a:buNone/>
            </a:pPr>
            <a:r>
              <a:rPr sz="1000">
                <a:solidFill>
                  <a:srgbClr val="444444"/>
                </a:solidFill>
                <a:latin typeface="Calibri"/>
              </a:rPr>
              <a:t>4. Define scenario preferences (PDP8, NDC, IEA NZE)</a:t>
            </a:r>
          </a:p>
          <a:p>
            <a:pPr>
              <a:buNone/>
            </a:pPr>
            <a:r>
              <a:rPr sz="1000">
                <a:solidFill>
                  <a:srgbClr val="444444"/>
                </a:solidFill>
                <a:latin typeface="Calibri"/>
              </a:rPr>
              <a:t>5. Agree on reporting language and disclosure timeline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02"/>
          <p:cNvSpPr txBox="1">
            <a:spLocks noGrp="1"/>
          </p:cNvSpPr>
          <p:nvPr>
            <p:ph type="title"/>
          </p:nvPr>
        </p:nvSpPr>
        <p:spPr>
          <a:xfrm>
            <a:off x="254800" y="270875"/>
            <a:ext cx="79788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333333"/>
                </a:solidFill>
                <a:latin typeface="Calibri"/>
              </a:rPr>
              <a:t>Questions &amp; Discussion</a:t>
            </a:r>
            <a:endParaRPr sz="2600"/>
          </a:p>
        </p:txBody>
      </p:sp>
      <p:sp>
        <p:nvSpPr>
          <p:cNvPr id="628" name="Google Shape;628;p102"/>
          <p:cNvSpPr txBox="1">
            <a:spLocks noGrp="1"/>
          </p:cNvSpPr>
          <p:nvPr>
            <p:ph type="body" idx="1"/>
          </p:nvPr>
        </p:nvSpPr>
        <p:spPr>
          <a:xfrm>
            <a:off x="337325" y="1192326"/>
            <a:ext cx="86115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rPr sz="1200">
                <a:solidFill>
                  <a:srgbClr val="666666"/>
                </a:solidFill>
                <a:latin typeface="Calibri"/>
              </a:rPr>
              <a:t>We welcome questions on methodology, data requirements, implementation timeline, or any aspect of the PACTA + TRISK analytics stack.</a:t>
            </a:r>
            <a:endParaRPr sz="1500"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llotrope Partners Simpl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2F645B"/>
      </a:dk1>
      <a:lt1>
        <a:srgbClr val="FFFFFF"/>
      </a:lt1>
      <a:dk2>
        <a:srgbClr val="595959"/>
      </a:dk2>
      <a:lt2>
        <a:srgbClr val="EEEEEE"/>
      </a:lt2>
      <a:accent1>
        <a:srgbClr val="B5D8D0"/>
      </a:accent1>
      <a:accent2>
        <a:srgbClr val="33716C"/>
      </a:accent2>
      <a:accent3>
        <a:srgbClr val="64B4A3"/>
      </a:accent3>
      <a:accent4>
        <a:srgbClr val="FFAB40"/>
      </a:accent4>
      <a:accent5>
        <a:srgbClr val="33716C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3165</Words>
  <Application>Microsoft Office PowerPoint</Application>
  <PresentationFormat>On-screen Show (16:9)</PresentationFormat>
  <Paragraphs>379</Paragraphs>
  <Slides>25</Slides>
  <Notes>25</Notes>
  <HiddenSlides>10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Verdana</vt:lpstr>
      <vt:lpstr>Calibri</vt:lpstr>
      <vt:lpstr>Cabin</vt:lpstr>
      <vt:lpstr>Arial</vt:lpstr>
      <vt:lpstr>Roboto Thin</vt:lpstr>
      <vt:lpstr>Roboto</vt:lpstr>
      <vt:lpstr>Montserrat</vt:lpstr>
      <vt:lpstr>Cabin Medium</vt:lpstr>
      <vt:lpstr>Simple Light</vt:lpstr>
      <vt:lpstr>Simple Light</vt:lpstr>
      <vt:lpstr>Allotrope Partners Simple</vt:lpstr>
      <vt:lpstr>Simple Light</vt:lpstr>
      <vt:lpstr>Office Theme</vt:lpstr>
      <vt:lpstr>Allotrope Vietnam Progress Update For Tara Greening the Banks &amp; Energy Storage in Vietnam December 2025</vt:lpstr>
      <vt:lpstr>PowerPoint Presentation</vt:lpstr>
      <vt:lpstr>Greening the Banks Vietnam:  Status Update on Outputs </vt:lpstr>
      <vt:lpstr>State-Owned Champion Bank Collaboration:  BIDV Progress Update - Summary  </vt:lpstr>
      <vt:lpstr>State-Owned Champion Bank Collaboration:  BIDV Progress Update - Sustainability Linked Loans</vt:lpstr>
      <vt:lpstr>Commercial Champion Bank Collaboration:  TCB Progress Update - Summary  </vt:lpstr>
      <vt:lpstr>Looking Ahead:  Proposed 2026 GTB Vietnam Activities</vt:lpstr>
      <vt:lpstr>PowerPoint Presentation</vt:lpstr>
      <vt:lpstr>Site Analysis 1:  Emivest: Behind-the-Meter BESS</vt:lpstr>
      <vt:lpstr>Site Analysis 1:  Emivest: Behind-the-Meter BESS</vt:lpstr>
      <vt:lpstr>PowerPoint Presentation</vt:lpstr>
      <vt:lpstr>State-Owned Champion Bank Collaboration:  BIDV Progress Update - Scope 1,2, 3 Non Financed Report and Tool Completed</vt:lpstr>
      <vt:lpstr>State-Owned Champion Bank Collaboration:  BIDV Progress Update - Scope 3 Financed Report and Tool in Progress</vt:lpstr>
      <vt:lpstr>Commercial Champion Bank Collaboration:  TCB Progress Update - Scope 1 and 2 Report and Tool Completed</vt:lpstr>
      <vt:lpstr>Commercial Champion Bank Collaboration:  TCB Progress Update - Scope 3 Financed Report and Tool in Progress </vt:lpstr>
      <vt:lpstr>Looking Ahead:  Proposed 2026 GTB Vietnam Activities</vt:lpstr>
      <vt:lpstr>Questions and Discussion </vt:lpstr>
      <vt:lpstr>State-Owned Champion Bank Collaboration:  BIDV Progress Update - Summary  </vt:lpstr>
      <vt:lpstr>Commercial Champion Bank Collaboration:  TCB Progress Update - Summary   </vt:lpstr>
      <vt:lpstr>Case Study</vt:lpstr>
      <vt:lpstr>Site Analysis 2:  Ninh Sim Solar Farm: Utility-Scale BESS</vt:lpstr>
      <vt:lpstr>BIDV progress updated</vt:lpstr>
      <vt:lpstr>State-Owned Champion Bank Collaboration:  BIDV Progress Assessment - Sustainability Linked Loans</vt:lpstr>
      <vt:lpstr>BIDV Progress Assessment - Financed Emission</vt:lpstr>
      <vt:lpstr>TCB progress updated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Tung Ho</cp:lastModifiedBy>
  <cp:revision>1</cp:revision>
  <dcterms:modified xsi:type="dcterms:W3CDTF">2026-06-08T21:37:31Z</dcterms:modified>
</cp:coreProperties>
</file>