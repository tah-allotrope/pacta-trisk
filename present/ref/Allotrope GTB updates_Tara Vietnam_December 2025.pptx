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comment1.xml" ContentType="application/vnd.openxmlformats-officedocument.presentationml.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comment2.xml" ContentType="application/vnd.openxmlformats-officedocument.presentationml.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comment3.xml" ContentType="application/vnd.openxmlformats-officedocument.presentationml.comments+xml"/>
  <Override PartName="/ppt/notesSlides/notesSlide22.xml" ContentType="application/vnd.openxmlformats-officedocument.presentationml.notesSlide+xml"/>
  <Override PartName="/ppt/comments/comment4.xml" ContentType="application/vnd.openxmlformats-officedocument.presentationml.comments+xml"/>
  <Override PartName="/ppt/notesSlides/notesSlide23.xml" ContentType="application/vnd.openxmlformats-officedocument.presentationml.notesSlide+xml"/>
  <Override PartName="/ppt/comments/comment5.xml" ContentType="application/vnd.openxmlformats-officedocument.presentationml.comments+xml"/>
  <Override PartName="/ppt/notesSlides/notesSlide24.xml" ContentType="application/vnd.openxmlformats-officedocument.presentationml.notesSlide+xml"/>
  <Override PartName="/ppt/comments/comment6.xml" ContentType="application/vnd.openxmlformats-officedocument.presentationml.comments+xml"/>
  <Override PartName="/ppt/notesSlides/notesSlide25.xml" ContentType="application/vnd.openxmlformats-officedocument.presentationml.notesSlide+xml"/>
  <Override PartName="/ppt/comments/comment7.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9" r:id="rId1"/>
    <p:sldMasterId id="2147483720" r:id="rId2"/>
    <p:sldMasterId id="2147483721" r:id="rId3"/>
    <p:sldMasterId id="2147483722" r:id="rId4"/>
    <p:sldMasterId id="2147483723" r:id="rId5"/>
  </p:sldMasterIdLst>
  <p:notesMasterIdLst>
    <p:notesMasterId r:id="rId31"/>
  </p:notesMasterIdLst>
  <p:sldIdLst>
    <p:sldId id="256"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Lst>
  <p:sldSz cx="9144000" cy="5143500" type="screen16x9"/>
  <p:notesSz cx="6858000" cy="9144000"/>
  <p:embeddedFontLst>
    <p:embeddedFont>
      <p:font typeface="Cabin" panose="020B0604020202020204" charset="0"/>
      <p:regular r:id="rId32"/>
      <p:bold r:id="rId33"/>
      <p:italic r:id="rId34"/>
      <p:boldItalic r:id="rId35"/>
    </p:embeddedFont>
    <p:embeddedFont>
      <p:font typeface="Cabin Medium" panose="020B0604020202020204" charset="0"/>
      <p:regular r:id="rId36"/>
      <p:bold r:id="rId37"/>
      <p:italic r:id="rId38"/>
      <p:boldItalic r:id="rId39"/>
    </p:embeddedFont>
    <p:embeddedFont>
      <p:font typeface="Montserrat" panose="00000500000000000000" pitchFamily="2" charset="0"/>
      <p:regular r:id="rId40"/>
      <p:bold r:id="rId41"/>
      <p:italic r:id="rId42"/>
      <p:boldItalic r:id="rId43"/>
    </p:embeddedFont>
    <p:embeddedFont>
      <p:font typeface="Roboto" panose="02000000000000000000" pitchFamily="2" charset="0"/>
      <p:regular r:id="rId44"/>
      <p:bold r:id="rId45"/>
      <p:italic r:id="rId46"/>
      <p:boldItalic r:id="rId47"/>
    </p:embeddedFont>
    <p:embeddedFont>
      <p:font typeface="Roboto Thin" panose="020F0502020204030204" pitchFamily="2" charset="0"/>
      <p:regular r:id="rId48"/>
      <p:bold r:id="rId49"/>
      <p:italic r:id="rId50"/>
      <p:boldItalic r:id="rId51"/>
    </p:embeddedFont>
    <p:embeddedFont>
      <p:font typeface="Verdana" panose="020B0604030504040204" pitchFamily="34"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chelle Murphy Rogers" initials="" lastIdx="5" clrIdx="0"/>
  <p:cmAuthor id="1" name="Hang Tran" initials="" lastIdx="4" clrIdx="1"/>
  <p:cmAuthor id="2" name="Tung Ho" initials="" lastIdx="5" clrIdx="2"/>
  <p:cmAuthor id="3" name="Hong Anh Le" initials=""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75FF242-65BD-4BEC-9965-0DD7952A758F}">
  <a:tblStyle styleId="{875FF242-65BD-4BEC-9965-0DD7952A758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10B0612-A9F4-49DA-BEA1-DD1CF77D77B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4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8.fntdata"/><Relationship Id="rId21" Type="http://schemas.openxmlformats.org/officeDocument/2006/relationships/slide" Target="slides/slide16.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font" Target="fonts/font19.fntdata"/><Relationship Id="rId55" Type="http://schemas.openxmlformats.org/officeDocument/2006/relationships/font" Target="fonts/font24.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59"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font" Target="fonts/font10.fntdata"/><Relationship Id="rId54" Type="http://schemas.openxmlformats.org/officeDocument/2006/relationships/font" Target="fonts/font23.fntdata"/><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font" Target="fonts/font22.fntdata"/><Relationship Id="rId58"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font" Target="fonts/font21.fntdata"/><Relationship Id="rId60"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schemas.openxmlformats.org/officeDocument/2006/relationships/commentAuthors" Target="commentAuthors.xml"/><Relationship Id="rId8" Type="http://schemas.openxmlformats.org/officeDocument/2006/relationships/slide" Target="slides/slide3.xml"/><Relationship Id="rId51" Type="http://schemas.openxmlformats.org/officeDocument/2006/relationships/font" Target="fonts/font20.fntdata"/><Relationship Id="rId3" Type="http://schemas.openxmlformats.org/officeDocument/2006/relationships/slideMaster" Target="slideMasters/slideMaster3.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5-12-15T17:10:50.712" idx="1">
    <p:pos x="6000" y="0"/>
    <p:text>Old version for reference.</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25-12-15T02:27:23.824" idx="2">
    <p:pos x="6000" y="0"/>
    <p:text>@httt@allotropepartners.com, is the goal for this slide, slide 20, and slide 24 to all summarize the status of the various components? They are all different formats and it's really hard to follow how they connect. Can you work on revising so they are all the same format and show the same type of information and also connect back to the Deliverables/Outputs.
_Reassigned to Hang Tran_</p:text>
  </p:cm>
  <p:cm authorId="1" dt="2025-12-15T02:27:23.824" idx="1">
    <p:pos x="6000" y="0"/>
    <p:text>I have revised this. Please kindly check the slide 19</p:text>
  </p:cm>
</p:cmLst>
</file>

<file path=ppt/comments/comment3.xml><?xml version="1.0" encoding="utf-8"?>
<p:cmLst xmlns:a="http://schemas.openxmlformats.org/drawingml/2006/main" xmlns:r="http://schemas.openxmlformats.org/officeDocument/2006/relationships" xmlns:p="http://schemas.openxmlformats.org/presentationml/2006/main">
  <p:cm authorId="0" dt="2025-12-13T17:02:55.255" idx="4">
    <p:pos x="6000" y="100"/>
    <p:text>@tah@allotropepartners.com and @chn@allotropepartners.com, this slide previously combined the Ninh Sim updates in the bottom corner and our broader work on the model. I split this out into 2 suggested slides on slide 8 and slide 13. Please review for accuracy and make sure this works for you.
_Assigned to you_</p:text>
  </p:cm>
  <p:cm authorId="0" dt="2025-12-15T03:09:31.628" idx="3">
    <p:pos x="6000" y="0"/>
    <p:text>Old version for reference. Suggest deletion</p:text>
  </p:cm>
  <p:cm authorId="2" dt="2025-12-15T03:09:31.628" idx="1">
    <p:pos x="6000" y="0"/>
    <p:text>agree</p:text>
  </p:cm>
</p:cmLst>
</file>

<file path=ppt/comments/comment4.xml><?xml version="1.0" encoding="utf-8"?>
<p:cmLst xmlns:a="http://schemas.openxmlformats.org/drawingml/2006/main" xmlns:r="http://schemas.openxmlformats.org/officeDocument/2006/relationships" xmlns:p="http://schemas.openxmlformats.org/presentationml/2006/main">
  <p:cm authorId="2" dt="2025-12-11T11:21:18.387" idx="2">
    <p:pos x="6000" y="0"/>
    <p:text>@httt@allotropevc.com please support to update progress since October for this slide by end of Friday this week in English
_Reassigned to Hang Tran_</p:text>
  </p:cm>
  <p:cm authorId="1" dt="2025-12-11T11:21:18.387" idx="2">
    <p:pos x="6000" y="0"/>
    <p:text>Please kindly check previous slide @tah@allotropevc.com
_Reassigned to you_</p:text>
  </p:cm>
</p:cmLst>
</file>

<file path=ppt/comments/comment5.xml><?xml version="1.0" encoding="utf-8"?>
<p:cmLst xmlns:a="http://schemas.openxmlformats.org/drawingml/2006/main" xmlns:r="http://schemas.openxmlformats.org/officeDocument/2006/relationships" xmlns:p="http://schemas.openxmlformats.org/presentationml/2006/main">
  <p:cm authorId="2" dt="2025-12-11T05:30:40.035" idx="3">
    <p:pos x="6000" y="0"/>
    <p:text>@hal@allotropevc.com please support to update progress since October for this slide by end of Friday this week in English
_Reassigned to Hong Anh Le_</p:text>
  </p:cm>
  <p:cm authorId="3" dt="2025-12-11T05:30:40.035" idx="1">
    <p:pos x="6000" y="0"/>
    <p:text>Updated, pls kindly check</p:text>
  </p:cm>
  <p:cm authorId="0" dt="2025-12-13T17:52:02.106" idx="5">
    <p:pos x="6000" y="100"/>
    <p:text>Old version for removal. Lauren suggested edits in the above slide.</p:text>
  </p:cm>
</p:cmLst>
</file>

<file path=ppt/comments/comment6.xml><?xml version="1.0" encoding="utf-8"?>
<p:cmLst xmlns:a="http://schemas.openxmlformats.org/drawingml/2006/main" xmlns:r="http://schemas.openxmlformats.org/officeDocument/2006/relationships" xmlns:p="http://schemas.openxmlformats.org/presentationml/2006/main">
  <p:cm authorId="2" dt="2025-12-11T11:21:24.247" idx="4">
    <p:pos x="6000" y="0"/>
    <p:text>@httt@allotropevc.com please support to update progress since October for this slide by end of Friday this week in English
_Reassigned to Hang Tran_</p:text>
  </p:cm>
  <p:cm authorId="1" dt="2025-12-11T11:21:24.247" idx="3">
    <p:pos x="6000" y="0"/>
    <p:text>Please kindly check previous slide @tah@allotropevc.com
_Reassigned to you_</p:text>
  </p:cm>
</p:cmLst>
</file>

<file path=ppt/comments/comment7.xml><?xml version="1.0" encoding="utf-8"?>
<p:cmLst xmlns:a="http://schemas.openxmlformats.org/drawingml/2006/main" xmlns:r="http://schemas.openxmlformats.org/officeDocument/2006/relationships" xmlns:p="http://schemas.openxmlformats.org/presentationml/2006/main">
  <p:cm authorId="2" dt="2025-12-11T11:21:31.942" idx="5">
    <p:pos x="6000" y="0"/>
    <p:text>@httt@allotropevc.com please support to update progress since October for this slide by end of Friday this week in English
_Reassigned to Hang Tran_</p:text>
  </p:cm>
  <p:cm authorId="1" dt="2025-12-11T11:21:31.942" idx="4">
    <p:pos x="6000" y="0"/>
    <p:text>Please kindly check previous slide @tah@allotropevc.com
_Reassigned to you_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docs.google.com/document/d/1FiCTE8AymsQRhkmPor6S4CtBSLjauuRa4oCbpskTXGw/edit?tab=t.0" TargetMode="External"/><Relationship Id="rId3" Type="http://schemas.openxmlformats.org/officeDocument/2006/relationships/hyperlink" Target="https://docs.google.com/document/d/1lNu75DV_dsuDCatkWwJVwZ9P2aEZFXGAneJqEtYxiqg/edit?usp=drive_web&amp;ouid=110129334967514612996" TargetMode="External"/><Relationship Id="rId7" Type="http://schemas.openxmlformats.org/officeDocument/2006/relationships/hyperlink" Target="https://docs.google.com/spreadsheets/d/11nW9LrXcM_mSuRHxOyVrIn4Wu0-rCcej/edit?usp=drive_web&amp;ouid=110129334967514612996&amp;rtpof=true"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docs.google.com/spreadsheets/d/18a7bp3UjUb8URdInX1H4RCImk-Vgo7Il/edit?gid=2002645182#gid=2002645182" TargetMode="External"/><Relationship Id="rId11" Type="http://schemas.openxmlformats.org/officeDocument/2006/relationships/hyperlink" Target="https://docs.google.com/document/d/1TOyMDouelzQ7ZwE_c7xdmpuhLcWhGLw71QwABO6-U1U/edit?tab=t.0" TargetMode="External"/><Relationship Id="rId5" Type="http://schemas.openxmlformats.org/officeDocument/2006/relationships/hyperlink" Target="https://docs.google.com/document/d/1tMYTZ2FfYfJdRIqlDjr8YqoAzWhzYb17o7RIIhdDynQ/edit?tab=t.0" TargetMode="External"/><Relationship Id="rId10" Type="http://schemas.openxmlformats.org/officeDocument/2006/relationships/hyperlink" Target="https://docs.google.com/document/d/1bo-TW5PvIBaRl-rAglnwz3v8at7ORtgOVaxXfDxda5Q/edit?tab=t.0" TargetMode="External"/><Relationship Id="rId4" Type="http://schemas.openxmlformats.org/officeDocument/2006/relationships/hyperlink" Target="https://docs.google.com/document/d/1vjYSWf2AaXVCbPSylEtoetOKLXQMj9b5tsP8fW8z96o/edit?usp=drive_web&amp;ouid=110129334967514612996" TargetMode="External"/><Relationship Id="rId9" Type="http://schemas.openxmlformats.org/officeDocument/2006/relationships/hyperlink" Target="https://docs.google.com/document/d/1ffcBplqD6JFLn95i4aYfDnWSWDNL3njL8PM5qyaYoBk/edit?usp=drive_web&amp;ouid=110129334967514612996" TargetMode="Externa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docs.google.com/document/d/1FiCTE8AymsQRhkmPor6S4CtBSLjauuRa4oCbpskTXGw/edit?tab=t.0" TargetMode="External"/><Relationship Id="rId3" Type="http://schemas.openxmlformats.org/officeDocument/2006/relationships/hyperlink" Target="https://docs.google.com/document/d/1lNu75DV_dsuDCatkWwJVwZ9P2aEZFXGAneJqEtYxiqg/edit?usp=drive_web&amp;ouid=110129334967514612996" TargetMode="External"/><Relationship Id="rId7" Type="http://schemas.openxmlformats.org/officeDocument/2006/relationships/hyperlink" Target="https://docs.google.com/spreadsheets/d/11nW9LrXcM_mSuRHxOyVrIn4Wu0-rCcej/edit?usp=drive_web&amp;ouid=110129334967514612996&amp;rtpof=true"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docs.google.com/spreadsheets/d/18a7bp3UjUb8URdInX1H4RCImk-Vgo7Il/edit?gid=2002645182#gid=2002645182" TargetMode="External"/><Relationship Id="rId11" Type="http://schemas.openxmlformats.org/officeDocument/2006/relationships/hyperlink" Target="https://docs.google.com/document/d/1TOyMDouelzQ7ZwE_c7xdmpuhLcWhGLw71QwABO6-U1U/edit?tab=t.0" TargetMode="External"/><Relationship Id="rId5" Type="http://schemas.openxmlformats.org/officeDocument/2006/relationships/hyperlink" Target="https://docs.google.com/document/d/1tMYTZ2FfYfJdRIqlDjr8YqoAzWhzYb17o7RIIhdDynQ/edit?tab=t.0" TargetMode="External"/><Relationship Id="rId10" Type="http://schemas.openxmlformats.org/officeDocument/2006/relationships/hyperlink" Target="https://docs.google.com/document/d/1bo-TW5PvIBaRl-rAglnwz3v8at7ORtgOVaxXfDxda5Q/edit?tab=t.0" TargetMode="External"/><Relationship Id="rId4" Type="http://schemas.openxmlformats.org/officeDocument/2006/relationships/hyperlink" Target="https://docs.google.com/document/d/1vjYSWf2AaXVCbPSylEtoetOKLXQMj9b5tsP8fW8z96o/edit?usp=drive_web&amp;ouid=110129334967514612996" TargetMode="External"/><Relationship Id="rId9" Type="http://schemas.openxmlformats.org/officeDocument/2006/relationships/hyperlink" Target="https://docs.google.com/document/d/1ffcBplqD6JFLn95i4aYfDnWSWDNL3njL8PM5qyaYoBk/edit?usp=drive_web&amp;ouid=110129334967514612996"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docs.google.com/document/d/1FiCTE8AymsQRhkmPor6S4CtBSLjauuRa4oCbpskTXGw/edit?tab=t.0" TargetMode="External"/><Relationship Id="rId3" Type="http://schemas.openxmlformats.org/officeDocument/2006/relationships/hyperlink" Target="https://docs.google.com/document/d/1lNu75DV_dsuDCatkWwJVwZ9P2aEZFXGAneJqEtYxiqg/edit?usp=drive_web&amp;ouid=110129334967514612996" TargetMode="External"/><Relationship Id="rId7" Type="http://schemas.openxmlformats.org/officeDocument/2006/relationships/hyperlink" Target="https://docs.google.com/spreadsheets/d/11nW9LrXcM_mSuRHxOyVrIn4Wu0-rCcej/edit?usp=drive_web&amp;ouid=110129334967514612996&amp;rtpof=true"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docs.google.com/spreadsheets/d/18a7bp3UjUb8URdInX1H4RCImk-Vgo7Il/edit?gid=2002645182#gid=2002645182" TargetMode="External"/><Relationship Id="rId11" Type="http://schemas.openxmlformats.org/officeDocument/2006/relationships/hyperlink" Target="https://docs.google.com/document/d/1TOyMDouelzQ7ZwE_c7xdmpuhLcWhGLw71QwABO6-U1U/edit?tab=t.0" TargetMode="External"/><Relationship Id="rId5" Type="http://schemas.openxmlformats.org/officeDocument/2006/relationships/hyperlink" Target="https://docs.google.com/document/d/1tMYTZ2FfYfJdRIqlDjr8YqoAzWhzYb17o7RIIhdDynQ/edit?tab=t.0" TargetMode="External"/><Relationship Id="rId10" Type="http://schemas.openxmlformats.org/officeDocument/2006/relationships/hyperlink" Target="https://docs.google.com/document/d/1bo-TW5PvIBaRl-rAglnwz3v8at7ORtgOVaxXfDxda5Q/edit?tab=t.0" TargetMode="External"/><Relationship Id="rId4" Type="http://schemas.openxmlformats.org/officeDocument/2006/relationships/hyperlink" Target="https://docs.google.com/document/d/1vjYSWf2AaXVCbPSylEtoetOKLXQMj9b5tsP8fW8z96o/edit?usp=drive_web&amp;ouid=110129334967514612996" TargetMode="External"/><Relationship Id="rId9" Type="http://schemas.openxmlformats.org/officeDocument/2006/relationships/hyperlink" Target="https://docs.google.com/document/d/1ffcBplqD6JFLn95i4aYfDnWSWDNL3njL8PM5qyaYoBk/edit?usp=drive_web&amp;ouid=110129334967514612996"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8" Type="http://schemas.openxmlformats.org/officeDocument/2006/relationships/hyperlink" Target="https://docs.google.com/document/d/1FiCTE8AymsQRhkmPor6S4CtBSLjauuRa4oCbpskTXGw/edit?tab=t.0" TargetMode="External"/><Relationship Id="rId3" Type="http://schemas.openxmlformats.org/officeDocument/2006/relationships/hyperlink" Target="https://docs.google.com/document/d/1lNu75DV_dsuDCatkWwJVwZ9P2aEZFXGAneJqEtYxiqg/edit?usp=drive_web&amp;ouid=110129334967514612996" TargetMode="External"/><Relationship Id="rId7" Type="http://schemas.openxmlformats.org/officeDocument/2006/relationships/hyperlink" Target="https://docs.google.com/spreadsheets/d/11nW9LrXcM_mSuRHxOyVrIn4Wu0-rCcej/edit?usp=drive_web&amp;ouid=110129334967514612996&amp;rtpof=true"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docs.google.com/spreadsheets/d/18a7bp3UjUb8URdInX1H4RCImk-Vgo7Il/edit?gid=2002645182#gid=2002645182" TargetMode="External"/><Relationship Id="rId11" Type="http://schemas.openxmlformats.org/officeDocument/2006/relationships/hyperlink" Target="https://docs.google.com/document/d/1TOyMDouelzQ7ZwE_c7xdmpuhLcWhGLw71QwABO6-U1U/edit?tab=t.0" TargetMode="External"/><Relationship Id="rId5" Type="http://schemas.openxmlformats.org/officeDocument/2006/relationships/hyperlink" Target="https://docs.google.com/document/d/1tMYTZ2FfYfJdRIqlDjr8YqoAzWhzYb17o7RIIhdDynQ/edit?tab=t.0" TargetMode="External"/><Relationship Id="rId10" Type="http://schemas.openxmlformats.org/officeDocument/2006/relationships/hyperlink" Target="https://docs.google.com/document/d/1bo-TW5PvIBaRl-rAglnwz3v8at7ORtgOVaxXfDxda5Q/edit?tab=t.0" TargetMode="External"/><Relationship Id="rId4" Type="http://schemas.openxmlformats.org/officeDocument/2006/relationships/hyperlink" Target="https://docs.google.com/document/d/1vjYSWf2AaXVCbPSylEtoetOKLXQMj9b5tsP8fW8z96o/edit?usp=drive_web&amp;ouid=110129334967514612996" TargetMode="External"/><Relationship Id="rId9" Type="http://schemas.openxmlformats.org/officeDocument/2006/relationships/hyperlink" Target="https://docs.google.com/document/d/1ffcBplqD6JFLn95i4aYfDnWSWDNL3njL8PM5qyaYoBk/edit?usp=drive_web&amp;ouid=110129334967514612996"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af7e9bc34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af7e9bc34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af7e9bc34a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6" name="Google Shape;416;g3af7e9bc34a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afa97814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3afa97814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22222"/>
                </a:solidFill>
                <a:highlight>
                  <a:srgbClr val="FFFFFF"/>
                </a:highlight>
              </a:rPr>
              <a:t>Deliverable 1 Carbon footprint and Emissions reduction strategies (06 reports + 02 tools)</a:t>
            </a:r>
            <a:endParaRPr b="1">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BIDV:</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3">
                  <a:extLst>
                    <a:ext uri="{A12FA001-AC4F-418D-AE19-62706E023703}">
                      <ahyp:hlinkClr xmlns:ahyp="http://schemas.microsoft.com/office/drawing/2018/hyperlinkcolor" val="tx"/>
                    </a:ext>
                  </a:extLst>
                </a:hlinkClick>
              </a:rPr>
              <a:t>Report for Scope 1&amp;2 emission reduction</a:t>
            </a:r>
            <a:r>
              <a:rPr lang="en">
                <a:solidFill>
                  <a:srgbClr val="222222"/>
                </a:solidFill>
                <a:highlight>
                  <a:srgbClr val="FFFFFF"/>
                </a:highlight>
              </a:rPr>
              <a: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2) </a:t>
            </a:r>
            <a:r>
              <a:rPr lang="en" u="sng">
                <a:solidFill>
                  <a:srgbClr val="1155CC"/>
                </a:solidFill>
                <a:highlight>
                  <a:srgbClr val="FFFFFF"/>
                </a:highlight>
                <a:hlinkClick r:id="rId4">
                  <a:extLst>
                    <a:ext uri="{A12FA001-AC4F-418D-AE19-62706E023703}">
                      <ahyp:hlinkClr xmlns:ahyp="http://schemas.microsoft.com/office/drawing/2018/hyperlinkcolor" val="tx"/>
                    </a:ext>
                  </a:extLst>
                </a:hlinkClick>
              </a:rPr>
              <a:t>Report for Scope 3 non financed emission</a:t>
            </a:r>
            <a:r>
              <a:rPr lang="en">
                <a:solidFill>
                  <a:srgbClr val="222222"/>
                </a:solidFill>
                <a:highlight>
                  <a:srgbClr val="FFFFFF"/>
                </a:highlight>
              </a:rPr>
              <a: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3)  </a:t>
            </a:r>
            <a:r>
              <a:rPr lang="en" u="sng">
                <a:solidFill>
                  <a:srgbClr val="1155CC"/>
                </a:solidFill>
                <a:highlight>
                  <a:srgbClr val="FFFFFF"/>
                </a:highlight>
                <a:hlinkClick r:id="rId5">
                  <a:extLst>
                    <a:ext uri="{A12FA001-AC4F-418D-AE19-62706E023703}">
                      <ahyp:hlinkClr xmlns:ahyp="http://schemas.microsoft.com/office/drawing/2018/hyperlinkcolor" val="tx"/>
                    </a:ext>
                  </a:extLst>
                </a:hlinkClick>
              </a:rPr>
              <a:t>Report for Scope 3 financed emission </a:t>
            </a:r>
            <a:r>
              <a:rPr lang="en">
                <a:solidFill>
                  <a:srgbClr val="222222"/>
                </a:solidFill>
                <a:highlight>
                  <a:srgbClr val="FFFFFF"/>
                </a:highlight>
              </a:rPr>
              <a:t>(almost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4) Calculation tool for Scope 3 (</a:t>
            </a:r>
            <a:r>
              <a:rPr lang="en" u="sng">
                <a:solidFill>
                  <a:srgbClr val="1155CC"/>
                </a:solidFill>
                <a:highlight>
                  <a:srgbClr val="FFFFFF"/>
                </a:highlight>
                <a:hlinkClick r:id="rId6">
                  <a:extLst>
                    <a:ext uri="{A12FA001-AC4F-418D-AE19-62706E023703}">
                      <ahyp:hlinkClr xmlns:ahyp="http://schemas.microsoft.com/office/drawing/2018/hyperlinkcolor" val="tx"/>
                    </a:ext>
                  </a:extLst>
                </a:hlinkClick>
              </a:rPr>
              <a:t>non financed</a:t>
            </a:r>
            <a:r>
              <a:rPr lang="en">
                <a:solidFill>
                  <a:srgbClr val="222222"/>
                </a:solidFill>
                <a:highlight>
                  <a:srgbClr val="FFFFFF"/>
                </a:highlight>
              </a:rPr>
              <a:t> and </a:t>
            </a:r>
            <a:r>
              <a:rPr lang="en" u="sng">
                <a:solidFill>
                  <a:srgbClr val="1155CC"/>
                </a:solidFill>
                <a:highlight>
                  <a:srgbClr val="FFFFFF"/>
                </a:highlight>
                <a:hlinkClick r:id="rId7">
                  <a:extLst>
                    <a:ext uri="{A12FA001-AC4F-418D-AE19-62706E023703}">
                      <ahyp:hlinkClr xmlns:ahyp="http://schemas.microsoft.com/office/drawing/2018/hyperlinkcolor" val="tx"/>
                    </a:ext>
                  </a:extLst>
                </a:hlinkClick>
              </a:rPr>
              <a:t>financed</a:t>
            </a:r>
            <a:r>
              <a:rPr lang="en">
                <a:solidFill>
                  <a:srgbClr val="222222"/>
                </a:solidFill>
                <a:highlight>
                  <a:srgbClr val="FFFFFF"/>
                </a:highlight>
              </a:rPr>
              <a:t>) (almost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TCB:</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8">
                  <a:extLst>
                    <a:ext uri="{A12FA001-AC4F-418D-AE19-62706E023703}">
                      <ahyp:hlinkClr xmlns:ahyp="http://schemas.microsoft.com/office/drawing/2018/hyperlinkcolor" val="tx"/>
                    </a:ext>
                  </a:extLst>
                </a:hlinkClick>
              </a:rPr>
              <a:t>Report for Scope 1&amp;2 emission reduction</a:t>
            </a:r>
            <a:r>
              <a:rPr lang="en">
                <a:solidFill>
                  <a:srgbClr val="222222"/>
                </a:solidFill>
                <a:highlight>
                  <a:srgbClr val="FFFFFF"/>
                </a:highlight>
              </a:rPr>
              <a: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2) </a:t>
            </a:r>
            <a:r>
              <a:rPr lang="en" u="sng">
                <a:solidFill>
                  <a:srgbClr val="1155CC"/>
                </a:solidFill>
                <a:highlight>
                  <a:srgbClr val="FFFFFF"/>
                </a:highlight>
                <a:hlinkClick r:id="rId9">
                  <a:extLst>
                    <a:ext uri="{A12FA001-AC4F-418D-AE19-62706E023703}">
                      <ahyp:hlinkClr xmlns:ahyp="http://schemas.microsoft.com/office/drawing/2018/hyperlinkcolor" val="tx"/>
                    </a:ext>
                  </a:extLst>
                </a:hlinkClick>
              </a:rPr>
              <a:t>Report for Scope 3 financed emission</a:t>
            </a:r>
            <a:r>
              <a:rPr lang="en">
                <a:solidFill>
                  <a:srgbClr val="222222"/>
                </a:solidFill>
                <a:highlight>
                  <a:srgbClr val="FFFFFF"/>
                </a:highlight>
              </a:rPr>
              <a:t> (almost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b="1">
                <a:solidFill>
                  <a:srgbClr val="222222"/>
                </a:solidFill>
                <a:highlight>
                  <a:srgbClr val="FFFFFF"/>
                </a:highlight>
              </a:rPr>
              <a:t>Deliverable 2 Net zero transition roadmap (02 report)</a:t>
            </a:r>
            <a:endParaRPr b="1">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BIDV:</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10">
                  <a:extLst>
                    <a:ext uri="{A12FA001-AC4F-418D-AE19-62706E023703}">
                      <ahyp:hlinkClr xmlns:ahyp="http://schemas.microsoft.com/office/drawing/2018/hyperlinkcolor" val="tx"/>
                    </a:ext>
                  </a:extLst>
                </a:hlinkClick>
              </a:rPr>
              <a:t>Net zero transition roadmap for financed emission</a:t>
            </a:r>
            <a:r>
              <a:rPr lang="en">
                <a:solidFill>
                  <a:srgbClr val="222222"/>
                </a:solidFill>
                <a:highlight>
                  <a:srgbClr val="FFFFFF"/>
                </a:highlight>
              </a:rPr>
              <a:t> (not yet)</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TCB:</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11">
                  <a:extLst>
                    <a:ext uri="{A12FA001-AC4F-418D-AE19-62706E023703}">
                      <ahyp:hlinkClr xmlns:ahyp="http://schemas.microsoft.com/office/drawing/2018/hyperlinkcolor" val="tx"/>
                    </a:ext>
                  </a:extLst>
                </a:hlinkClick>
              </a:rPr>
              <a:t>Report for setting target &amp; financed emission disclosure</a:t>
            </a:r>
            <a:r>
              <a:rPr lang="en">
                <a:solidFill>
                  <a:srgbClr val="222222"/>
                </a:solidFill>
                <a:highlight>
                  <a:srgbClr val="FFFFFF"/>
                </a:highlight>
              </a:rPr>
              <a:t> (almost completed)</a:t>
            </a:r>
            <a:endParaRPr>
              <a:solidFill>
                <a:srgbClr val="222222"/>
              </a:solidFill>
              <a:highlight>
                <a:srgbClr val="FFFFFF"/>
              </a:highlight>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b081b3d21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g3b081b3d21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22222"/>
                </a:solidFill>
                <a:highlight>
                  <a:srgbClr val="FFFFFF"/>
                </a:highlight>
              </a:rPr>
              <a:t>Deliverable 1 Carbon footprint and Emissions reduction strategies (06 reports + 02 tools)</a:t>
            </a:r>
            <a:endParaRPr b="1">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BIDV:</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3">
                  <a:extLst>
                    <a:ext uri="{A12FA001-AC4F-418D-AE19-62706E023703}">
                      <ahyp:hlinkClr xmlns:ahyp="http://schemas.microsoft.com/office/drawing/2018/hyperlinkcolor" val="tx"/>
                    </a:ext>
                  </a:extLst>
                </a:hlinkClick>
              </a:rPr>
              <a:t>Report for Scope 1&amp;2 emission reduction</a:t>
            </a:r>
            <a:r>
              <a:rPr lang="en">
                <a:solidFill>
                  <a:srgbClr val="222222"/>
                </a:solidFill>
                <a:highlight>
                  <a:srgbClr val="FFFFFF"/>
                </a:highlight>
              </a:rPr>
              <a: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2) </a:t>
            </a:r>
            <a:r>
              <a:rPr lang="en" u="sng">
                <a:solidFill>
                  <a:srgbClr val="1155CC"/>
                </a:solidFill>
                <a:highlight>
                  <a:srgbClr val="FFFFFF"/>
                </a:highlight>
                <a:hlinkClick r:id="rId4">
                  <a:extLst>
                    <a:ext uri="{A12FA001-AC4F-418D-AE19-62706E023703}">
                      <ahyp:hlinkClr xmlns:ahyp="http://schemas.microsoft.com/office/drawing/2018/hyperlinkcolor" val="tx"/>
                    </a:ext>
                  </a:extLst>
                </a:hlinkClick>
              </a:rPr>
              <a:t>Report for Scope 3 non financed emission</a:t>
            </a:r>
            <a:r>
              <a:rPr lang="en">
                <a:solidFill>
                  <a:srgbClr val="222222"/>
                </a:solidFill>
                <a:highlight>
                  <a:srgbClr val="FFFFFF"/>
                </a:highlight>
              </a:rPr>
              <a: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3)  </a:t>
            </a:r>
            <a:r>
              <a:rPr lang="en" u="sng">
                <a:solidFill>
                  <a:srgbClr val="1155CC"/>
                </a:solidFill>
                <a:highlight>
                  <a:srgbClr val="FFFFFF"/>
                </a:highlight>
                <a:hlinkClick r:id="rId5">
                  <a:extLst>
                    <a:ext uri="{A12FA001-AC4F-418D-AE19-62706E023703}">
                      <ahyp:hlinkClr xmlns:ahyp="http://schemas.microsoft.com/office/drawing/2018/hyperlinkcolor" val="tx"/>
                    </a:ext>
                  </a:extLst>
                </a:hlinkClick>
              </a:rPr>
              <a:t>Report for Scope 3 financed emission </a:t>
            </a:r>
            <a:r>
              <a:rPr lang="en">
                <a:solidFill>
                  <a:srgbClr val="222222"/>
                </a:solidFill>
                <a:highlight>
                  <a:srgbClr val="FFFFFF"/>
                </a:highlight>
              </a:rPr>
              <a:t>(almost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4) Calculation tool for Scope 3 (</a:t>
            </a:r>
            <a:r>
              <a:rPr lang="en" u="sng">
                <a:solidFill>
                  <a:srgbClr val="1155CC"/>
                </a:solidFill>
                <a:highlight>
                  <a:srgbClr val="FFFFFF"/>
                </a:highlight>
                <a:hlinkClick r:id="rId6">
                  <a:extLst>
                    <a:ext uri="{A12FA001-AC4F-418D-AE19-62706E023703}">
                      <ahyp:hlinkClr xmlns:ahyp="http://schemas.microsoft.com/office/drawing/2018/hyperlinkcolor" val="tx"/>
                    </a:ext>
                  </a:extLst>
                </a:hlinkClick>
              </a:rPr>
              <a:t>non financed</a:t>
            </a:r>
            <a:r>
              <a:rPr lang="en">
                <a:solidFill>
                  <a:srgbClr val="222222"/>
                </a:solidFill>
                <a:highlight>
                  <a:srgbClr val="FFFFFF"/>
                </a:highlight>
              </a:rPr>
              <a:t> and </a:t>
            </a:r>
            <a:r>
              <a:rPr lang="en" u="sng">
                <a:solidFill>
                  <a:srgbClr val="1155CC"/>
                </a:solidFill>
                <a:highlight>
                  <a:srgbClr val="FFFFFF"/>
                </a:highlight>
                <a:hlinkClick r:id="rId7">
                  <a:extLst>
                    <a:ext uri="{A12FA001-AC4F-418D-AE19-62706E023703}">
                      <ahyp:hlinkClr xmlns:ahyp="http://schemas.microsoft.com/office/drawing/2018/hyperlinkcolor" val="tx"/>
                    </a:ext>
                  </a:extLst>
                </a:hlinkClick>
              </a:rPr>
              <a:t>financed</a:t>
            </a:r>
            <a:r>
              <a:rPr lang="en">
                <a:solidFill>
                  <a:srgbClr val="222222"/>
                </a:solidFill>
                <a:highlight>
                  <a:srgbClr val="FFFFFF"/>
                </a:highlight>
              </a:rPr>
              <a:t>) (almost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TCB:</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8">
                  <a:extLst>
                    <a:ext uri="{A12FA001-AC4F-418D-AE19-62706E023703}">
                      <ahyp:hlinkClr xmlns:ahyp="http://schemas.microsoft.com/office/drawing/2018/hyperlinkcolor" val="tx"/>
                    </a:ext>
                  </a:extLst>
                </a:hlinkClick>
              </a:rPr>
              <a:t>Report for Scope 1&amp;2 emission reduction</a:t>
            </a:r>
            <a:r>
              <a:rPr lang="en">
                <a:solidFill>
                  <a:srgbClr val="222222"/>
                </a:solidFill>
                <a:highlight>
                  <a:srgbClr val="FFFFFF"/>
                </a:highlight>
              </a:rPr>
              <a: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2) </a:t>
            </a:r>
            <a:r>
              <a:rPr lang="en" u="sng">
                <a:solidFill>
                  <a:srgbClr val="1155CC"/>
                </a:solidFill>
                <a:highlight>
                  <a:srgbClr val="FFFFFF"/>
                </a:highlight>
                <a:hlinkClick r:id="rId9">
                  <a:extLst>
                    <a:ext uri="{A12FA001-AC4F-418D-AE19-62706E023703}">
                      <ahyp:hlinkClr xmlns:ahyp="http://schemas.microsoft.com/office/drawing/2018/hyperlinkcolor" val="tx"/>
                    </a:ext>
                  </a:extLst>
                </a:hlinkClick>
              </a:rPr>
              <a:t>Report for Scope 3 financed emission</a:t>
            </a:r>
            <a:r>
              <a:rPr lang="en">
                <a:solidFill>
                  <a:srgbClr val="222222"/>
                </a:solidFill>
                <a:highlight>
                  <a:srgbClr val="FFFFFF"/>
                </a:highlight>
              </a:rPr>
              <a:t> (almost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b="1">
                <a:solidFill>
                  <a:srgbClr val="222222"/>
                </a:solidFill>
                <a:highlight>
                  <a:srgbClr val="FFFFFF"/>
                </a:highlight>
              </a:rPr>
              <a:t>Deliverable 2 Net zero transition roadmap (02 report)</a:t>
            </a:r>
            <a:endParaRPr b="1">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BIDV:</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10">
                  <a:extLst>
                    <a:ext uri="{A12FA001-AC4F-418D-AE19-62706E023703}">
                      <ahyp:hlinkClr xmlns:ahyp="http://schemas.microsoft.com/office/drawing/2018/hyperlinkcolor" val="tx"/>
                    </a:ext>
                  </a:extLst>
                </a:hlinkClick>
              </a:rPr>
              <a:t>Net zero transition roadmap for financed emission</a:t>
            </a:r>
            <a:r>
              <a:rPr lang="en">
                <a:solidFill>
                  <a:srgbClr val="222222"/>
                </a:solidFill>
                <a:highlight>
                  <a:srgbClr val="FFFFFF"/>
                </a:highlight>
              </a:rPr>
              <a:t> (not yet)</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TCB:</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11">
                  <a:extLst>
                    <a:ext uri="{A12FA001-AC4F-418D-AE19-62706E023703}">
                      <ahyp:hlinkClr xmlns:ahyp="http://schemas.microsoft.com/office/drawing/2018/hyperlinkcolor" val="tx"/>
                    </a:ext>
                  </a:extLst>
                </a:hlinkClick>
              </a:rPr>
              <a:t>Report for setting target &amp; financed emission disclosure</a:t>
            </a:r>
            <a:r>
              <a:rPr lang="en">
                <a:solidFill>
                  <a:srgbClr val="222222"/>
                </a:solidFill>
                <a:highlight>
                  <a:srgbClr val="FFFFFF"/>
                </a:highlight>
              </a:rPr>
              <a:t> (almost completed)</a:t>
            </a:r>
            <a:endParaRPr>
              <a:solidFill>
                <a:srgbClr val="222222"/>
              </a:solidFill>
              <a:highlight>
                <a:srgbClr val="FFFFFF"/>
              </a:highlight>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b00ecbda0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2" name="Google Shape;462;g3b00ecbda0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Contingency Planning: If difficulties arise in structuring three viable SLL transactions within the timeframe due to market constraints, client readiness, or other factors, Allotrope can prioritize in-</a:t>
            </a:r>
            <a:endParaRPr sz="1050">
              <a:solidFill>
                <a:srgbClr val="444746"/>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depth support for structuring at least one highly robust and demonstrative SLL transaction rather than aiming for a larger number with less comprehensive support.</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b081b3d21f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9" name="Google Shape;479;g3b081b3d21f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22222"/>
                </a:solidFill>
                <a:highlight>
                  <a:srgbClr val="FFFFFF"/>
                </a:highlight>
              </a:rPr>
              <a:t>Deliverable 1 Carbon footprint and Emissions reduction strategies (06 reports + 02 tools)</a:t>
            </a:r>
            <a:endParaRPr b="1">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BIDV:</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3">
                  <a:extLst>
                    <a:ext uri="{A12FA001-AC4F-418D-AE19-62706E023703}">
                      <ahyp:hlinkClr xmlns:ahyp="http://schemas.microsoft.com/office/drawing/2018/hyperlinkcolor" val="tx"/>
                    </a:ext>
                  </a:extLst>
                </a:hlinkClick>
              </a:rPr>
              <a:t>Report for Scope 1&amp;2 emission reduction</a:t>
            </a:r>
            <a:r>
              <a:rPr lang="en">
                <a:solidFill>
                  <a:srgbClr val="222222"/>
                </a:solidFill>
                <a:highlight>
                  <a:srgbClr val="FFFFFF"/>
                </a:highlight>
              </a:rPr>
              <a: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2) </a:t>
            </a:r>
            <a:r>
              <a:rPr lang="en" u="sng">
                <a:solidFill>
                  <a:srgbClr val="1155CC"/>
                </a:solidFill>
                <a:highlight>
                  <a:srgbClr val="FFFFFF"/>
                </a:highlight>
                <a:hlinkClick r:id="rId4">
                  <a:extLst>
                    <a:ext uri="{A12FA001-AC4F-418D-AE19-62706E023703}">
                      <ahyp:hlinkClr xmlns:ahyp="http://schemas.microsoft.com/office/drawing/2018/hyperlinkcolor" val="tx"/>
                    </a:ext>
                  </a:extLst>
                </a:hlinkClick>
              </a:rPr>
              <a:t>Report for Scope 3 non financed emission</a:t>
            </a:r>
            <a:r>
              <a:rPr lang="en">
                <a:solidFill>
                  <a:srgbClr val="222222"/>
                </a:solidFill>
                <a:highlight>
                  <a:srgbClr val="FFFFFF"/>
                </a:highlight>
              </a:rPr>
              <a: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3)  </a:t>
            </a:r>
            <a:r>
              <a:rPr lang="en" u="sng">
                <a:solidFill>
                  <a:srgbClr val="1155CC"/>
                </a:solidFill>
                <a:highlight>
                  <a:srgbClr val="FFFFFF"/>
                </a:highlight>
                <a:hlinkClick r:id="rId5">
                  <a:extLst>
                    <a:ext uri="{A12FA001-AC4F-418D-AE19-62706E023703}">
                      <ahyp:hlinkClr xmlns:ahyp="http://schemas.microsoft.com/office/drawing/2018/hyperlinkcolor" val="tx"/>
                    </a:ext>
                  </a:extLst>
                </a:hlinkClick>
              </a:rPr>
              <a:t>Report for Scope 3 financed emission </a:t>
            </a:r>
            <a:r>
              <a:rPr lang="en">
                <a:solidFill>
                  <a:srgbClr val="222222"/>
                </a:solidFill>
                <a:highlight>
                  <a:srgbClr val="FFFFFF"/>
                </a:highlight>
              </a:rPr>
              <a:t>(almost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4) Calculation tool for Scope 3 (</a:t>
            </a:r>
            <a:r>
              <a:rPr lang="en" u="sng">
                <a:solidFill>
                  <a:srgbClr val="1155CC"/>
                </a:solidFill>
                <a:highlight>
                  <a:srgbClr val="FFFFFF"/>
                </a:highlight>
                <a:hlinkClick r:id="rId6">
                  <a:extLst>
                    <a:ext uri="{A12FA001-AC4F-418D-AE19-62706E023703}">
                      <ahyp:hlinkClr xmlns:ahyp="http://schemas.microsoft.com/office/drawing/2018/hyperlinkcolor" val="tx"/>
                    </a:ext>
                  </a:extLst>
                </a:hlinkClick>
              </a:rPr>
              <a:t>non financed</a:t>
            </a:r>
            <a:r>
              <a:rPr lang="en">
                <a:solidFill>
                  <a:srgbClr val="222222"/>
                </a:solidFill>
                <a:highlight>
                  <a:srgbClr val="FFFFFF"/>
                </a:highlight>
              </a:rPr>
              <a:t> and </a:t>
            </a:r>
            <a:r>
              <a:rPr lang="en" u="sng">
                <a:solidFill>
                  <a:srgbClr val="1155CC"/>
                </a:solidFill>
                <a:highlight>
                  <a:srgbClr val="FFFFFF"/>
                </a:highlight>
                <a:hlinkClick r:id="rId7">
                  <a:extLst>
                    <a:ext uri="{A12FA001-AC4F-418D-AE19-62706E023703}">
                      <ahyp:hlinkClr xmlns:ahyp="http://schemas.microsoft.com/office/drawing/2018/hyperlinkcolor" val="tx"/>
                    </a:ext>
                  </a:extLst>
                </a:hlinkClick>
              </a:rPr>
              <a:t>financed</a:t>
            </a:r>
            <a:r>
              <a:rPr lang="en">
                <a:solidFill>
                  <a:srgbClr val="222222"/>
                </a:solidFill>
                <a:highlight>
                  <a:srgbClr val="FFFFFF"/>
                </a:highlight>
              </a:rPr>
              <a:t>) (almost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TCB:</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8">
                  <a:extLst>
                    <a:ext uri="{A12FA001-AC4F-418D-AE19-62706E023703}">
                      <ahyp:hlinkClr xmlns:ahyp="http://schemas.microsoft.com/office/drawing/2018/hyperlinkcolor" val="tx"/>
                    </a:ext>
                  </a:extLst>
                </a:hlinkClick>
              </a:rPr>
              <a:t>Report for Scope 1&amp;2 emission reduction</a:t>
            </a:r>
            <a:r>
              <a:rPr lang="en">
                <a:solidFill>
                  <a:srgbClr val="222222"/>
                </a:solidFill>
                <a:highlight>
                  <a:srgbClr val="FFFFFF"/>
                </a:highlight>
              </a:rPr>
              <a: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2) </a:t>
            </a:r>
            <a:r>
              <a:rPr lang="en" u="sng">
                <a:solidFill>
                  <a:srgbClr val="1155CC"/>
                </a:solidFill>
                <a:highlight>
                  <a:srgbClr val="FFFFFF"/>
                </a:highlight>
                <a:hlinkClick r:id="rId9">
                  <a:extLst>
                    <a:ext uri="{A12FA001-AC4F-418D-AE19-62706E023703}">
                      <ahyp:hlinkClr xmlns:ahyp="http://schemas.microsoft.com/office/drawing/2018/hyperlinkcolor" val="tx"/>
                    </a:ext>
                  </a:extLst>
                </a:hlinkClick>
              </a:rPr>
              <a:t>Report for Scope 3 financed emission</a:t>
            </a:r>
            <a:r>
              <a:rPr lang="en">
                <a:solidFill>
                  <a:srgbClr val="222222"/>
                </a:solidFill>
                <a:highlight>
                  <a:srgbClr val="FFFFFF"/>
                </a:highlight>
              </a:rPr>
              <a:t> (almost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b="1">
                <a:solidFill>
                  <a:srgbClr val="222222"/>
                </a:solidFill>
                <a:highlight>
                  <a:srgbClr val="FFFFFF"/>
                </a:highlight>
              </a:rPr>
              <a:t>Deliverable 2 Net zero transition roadmap (02 report)</a:t>
            </a:r>
            <a:endParaRPr b="1">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BIDV:</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10">
                  <a:extLst>
                    <a:ext uri="{A12FA001-AC4F-418D-AE19-62706E023703}">
                      <ahyp:hlinkClr xmlns:ahyp="http://schemas.microsoft.com/office/drawing/2018/hyperlinkcolor" val="tx"/>
                    </a:ext>
                  </a:extLst>
                </a:hlinkClick>
              </a:rPr>
              <a:t>Net zero transition roadmap for financed emission</a:t>
            </a:r>
            <a:r>
              <a:rPr lang="en">
                <a:solidFill>
                  <a:srgbClr val="222222"/>
                </a:solidFill>
                <a:highlight>
                  <a:srgbClr val="FFFFFF"/>
                </a:highlight>
              </a:rPr>
              <a:t> (not yet)</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TCB:</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11">
                  <a:extLst>
                    <a:ext uri="{A12FA001-AC4F-418D-AE19-62706E023703}">
                      <ahyp:hlinkClr xmlns:ahyp="http://schemas.microsoft.com/office/drawing/2018/hyperlinkcolor" val="tx"/>
                    </a:ext>
                  </a:extLst>
                </a:hlinkClick>
              </a:rPr>
              <a:t>Report for setting target &amp; financed emission disclosure</a:t>
            </a:r>
            <a:r>
              <a:rPr lang="en">
                <a:solidFill>
                  <a:srgbClr val="222222"/>
                </a:solidFill>
                <a:highlight>
                  <a:srgbClr val="FFFFFF"/>
                </a:highlight>
              </a:rPr>
              <a:t> (almost completed)</a:t>
            </a:r>
            <a:endParaRPr>
              <a:solidFill>
                <a:srgbClr val="222222"/>
              </a:solidFill>
              <a:highlight>
                <a:srgbClr val="FFFFFF"/>
              </a:highlight>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af7e9bc34a_0_10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3" name="Google Shape;503;g3af7e9bc34a_0_1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3af7e9bc34a_0_11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1" name="Google Shape;511;g3af7e9bc34a_0_1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af7e9bc34a_0_7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3af7e9bc34a_0_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3af7e9bc34a_0_7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3af7e9bc34a_0_7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3b00ecbda08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8" name="Google Shape;538;g3b00ecbda08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af91d4e09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9" name="Google Shape;569;g3af91d4e09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3af91d4e09f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1" name="Google Shape;581;g3af91d4e09f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3af91d4e09f_0_3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5" name="Google Shape;595;g3af91d4e09f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3af91d4e09f_0_4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6" name="Google Shape;606;g3af91d4e09f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3b0af48c93b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7" name="Google Shape;617;g3b0af48c93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3a6d8b9fc6e_0_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5" name="Google Shape;625;g3a6d8b9fc6e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af91d4e09f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1" name="Google Shape;631;g3af91d4e09f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22222"/>
                </a:solidFill>
                <a:highlight>
                  <a:srgbClr val="FFFFFF"/>
                </a:highlight>
              </a:rPr>
              <a:t>Deliverable 1 Carbon footprint and Emissions reduction strategies (06 reports + 02 tools)</a:t>
            </a:r>
            <a:endParaRPr b="1">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BIDV:</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3">
                  <a:extLst>
                    <a:ext uri="{A12FA001-AC4F-418D-AE19-62706E023703}">
                      <ahyp:hlinkClr xmlns:ahyp="http://schemas.microsoft.com/office/drawing/2018/hyperlinkcolor" val="tx"/>
                    </a:ext>
                  </a:extLst>
                </a:hlinkClick>
              </a:rPr>
              <a:t>Report for Scope 1&amp;2 emission reduction</a:t>
            </a:r>
            <a:r>
              <a:rPr lang="en">
                <a:solidFill>
                  <a:srgbClr val="222222"/>
                </a:solidFill>
                <a:highlight>
                  <a:srgbClr val="FFFFFF"/>
                </a:highlight>
              </a:rPr>
              <a: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2) </a:t>
            </a:r>
            <a:r>
              <a:rPr lang="en" u="sng">
                <a:solidFill>
                  <a:srgbClr val="1155CC"/>
                </a:solidFill>
                <a:highlight>
                  <a:srgbClr val="FFFFFF"/>
                </a:highlight>
                <a:hlinkClick r:id="rId4">
                  <a:extLst>
                    <a:ext uri="{A12FA001-AC4F-418D-AE19-62706E023703}">
                      <ahyp:hlinkClr xmlns:ahyp="http://schemas.microsoft.com/office/drawing/2018/hyperlinkcolor" val="tx"/>
                    </a:ext>
                  </a:extLst>
                </a:hlinkClick>
              </a:rPr>
              <a:t>Report for Scope 3 non financed emission</a:t>
            </a:r>
            <a:r>
              <a:rPr lang="en">
                <a:solidFill>
                  <a:srgbClr val="222222"/>
                </a:solidFill>
                <a:highlight>
                  <a:srgbClr val="FFFFFF"/>
                </a:highlight>
              </a:rPr>
              <a: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3)  </a:t>
            </a:r>
            <a:r>
              <a:rPr lang="en" u="sng">
                <a:solidFill>
                  <a:srgbClr val="1155CC"/>
                </a:solidFill>
                <a:highlight>
                  <a:srgbClr val="FFFFFF"/>
                </a:highlight>
                <a:hlinkClick r:id="rId5">
                  <a:extLst>
                    <a:ext uri="{A12FA001-AC4F-418D-AE19-62706E023703}">
                      <ahyp:hlinkClr xmlns:ahyp="http://schemas.microsoft.com/office/drawing/2018/hyperlinkcolor" val="tx"/>
                    </a:ext>
                  </a:extLst>
                </a:hlinkClick>
              </a:rPr>
              <a:t>Report for Scope 3 financed emission </a:t>
            </a:r>
            <a:r>
              <a:rPr lang="en">
                <a:solidFill>
                  <a:srgbClr val="222222"/>
                </a:solidFill>
                <a:highlight>
                  <a:srgbClr val="FFFFFF"/>
                </a:highlight>
              </a:rPr>
              <a:t>(almost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4) Calculation tool for Scope 3 (</a:t>
            </a:r>
            <a:r>
              <a:rPr lang="en" u="sng">
                <a:solidFill>
                  <a:srgbClr val="1155CC"/>
                </a:solidFill>
                <a:highlight>
                  <a:srgbClr val="FFFFFF"/>
                </a:highlight>
                <a:hlinkClick r:id="rId6">
                  <a:extLst>
                    <a:ext uri="{A12FA001-AC4F-418D-AE19-62706E023703}">
                      <ahyp:hlinkClr xmlns:ahyp="http://schemas.microsoft.com/office/drawing/2018/hyperlinkcolor" val="tx"/>
                    </a:ext>
                  </a:extLst>
                </a:hlinkClick>
              </a:rPr>
              <a:t>non financed</a:t>
            </a:r>
            <a:r>
              <a:rPr lang="en">
                <a:solidFill>
                  <a:srgbClr val="222222"/>
                </a:solidFill>
                <a:highlight>
                  <a:srgbClr val="FFFFFF"/>
                </a:highlight>
              </a:rPr>
              <a:t> and </a:t>
            </a:r>
            <a:r>
              <a:rPr lang="en" u="sng">
                <a:solidFill>
                  <a:srgbClr val="1155CC"/>
                </a:solidFill>
                <a:highlight>
                  <a:srgbClr val="FFFFFF"/>
                </a:highlight>
                <a:hlinkClick r:id="rId7">
                  <a:extLst>
                    <a:ext uri="{A12FA001-AC4F-418D-AE19-62706E023703}">
                      <ahyp:hlinkClr xmlns:ahyp="http://schemas.microsoft.com/office/drawing/2018/hyperlinkcolor" val="tx"/>
                    </a:ext>
                  </a:extLst>
                </a:hlinkClick>
              </a:rPr>
              <a:t>financed</a:t>
            </a:r>
            <a:r>
              <a:rPr lang="en">
                <a:solidFill>
                  <a:srgbClr val="222222"/>
                </a:solidFill>
                <a:highlight>
                  <a:srgbClr val="FFFFFF"/>
                </a:highlight>
              </a:rPr>
              <a:t>) (almost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TCB:</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8">
                  <a:extLst>
                    <a:ext uri="{A12FA001-AC4F-418D-AE19-62706E023703}">
                      <ahyp:hlinkClr xmlns:ahyp="http://schemas.microsoft.com/office/drawing/2018/hyperlinkcolor" val="tx"/>
                    </a:ext>
                  </a:extLst>
                </a:hlinkClick>
              </a:rPr>
              <a:t>Report for Scope 1&amp;2 emission reduction</a:t>
            </a:r>
            <a:r>
              <a:rPr lang="en">
                <a:solidFill>
                  <a:srgbClr val="222222"/>
                </a:solidFill>
                <a:highlight>
                  <a:srgbClr val="FFFFFF"/>
                </a:highlight>
              </a:rPr>
              <a: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2) </a:t>
            </a:r>
            <a:r>
              <a:rPr lang="en" u="sng">
                <a:solidFill>
                  <a:srgbClr val="1155CC"/>
                </a:solidFill>
                <a:highlight>
                  <a:srgbClr val="FFFFFF"/>
                </a:highlight>
                <a:hlinkClick r:id="rId9">
                  <a:extLst>
                    <a:ext uri="{A12FA001-AC4F-418D-AE19-62706E023703}">
                      <ahyp:hlinkClr xmlns:ahyp="http://schemas.microsoft.com/office/drawing/2018/hyperlinkcolor" val="tx"/>
                    </a:ext>
                  </a:extLst>
                </a:hlinkClick>
              </a:rPr>
              <a:t>Report for Scope 3 financed emission</a:t>
            </a:r>
            <a:r>
              <a:rPr lang="en">
                <a:solidFill>
                  <a:srgbClr val="222222"/>
                </a:solidFill>
                <a:highlight>
                  <a:srgbClr val="FFFFFF"/>
                </a:highlight>
              </a:rPr>
              <a:t> (almost completed)</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b="1">
                <a:solidFill>
                  <a:srgbClr val="222222"/>
                </a:solidFill>
                <a:highlight>
                  <a:srgbClr val="FFFFFF"/>
                </a:highlight>
              </a:rPr>
              <a:t>Deliverable 2 Net zero transition roadmap (02 report)</a:t>
            </a:r>
            <a:endParaRPr b="1">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BIDV:</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10">
                  <a:extLst>
                    <a:ext uri="{A12FA001-AC4F-418D-AE19-62706E023703}">
                      <ahyp:hlinkClr xmlns:ahyp="http://schemas.microsoft.com/office/drawing/2018/hyperlinkcolor" val="tx"/>
                    </a:ext>
                  </a:extLst>
                </a:hlinkClick>
              </a:rPr>
              <a:t>Net zero transition roadmap for financed emission</a:t>
            </a:r>
            <a:r>
              <a:rPr lang="en">
                <a:solidFill>
                  <a:srgbClr val="222222"/>
                </a:solidFill>
                <a:highlight>
                  <a:srgbClr val="FFFFFF"/>
                </a:highlight>
              </a:rPr>
              <a:t> (not yet)</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For TCB:</a:t>
            </a:r>
            <a:endParaRPr>
              <a:solidFill>
                <a:srgbClr val="222222"/>
              </a:solidFill>
              <a:highlight>
                <a:srgbClr val="FFFFFF"/>
              </a:highlight>
            </a:endParaRPr>
          </a:p>
          <a:p>
            <a:pPr marL="0" lvl="0" indent="0" algn="l" rtl="0">
              <a:spcBef>
                <a:spcPts val="0"/>
              </a:spcBef>
              <a:spcAft>
                <a:spcPts val="0"/>
              </a:spcAft>
              <a:buClr>
                <a:schemeClr val="dk1"/>
              </a:buClr>
              <a:buSzPts val="1100"/>
              <a:buFont typeface="Arial"/>
              <a:buNone/>
            </a:pPr>
            <a:r>
              <a:rPr lang="en">
                <a:solidFill>
                  <a:srgbClr val="222222"/>
                </a:solidFill>
                <a:highlight>
                  <a:srgbClr val="FFFFFF"/>
                </a:highlight>
              </a:rPr>
              <a:t>1) </a:t>
            </a:r>
            <a:r>
              <a:rPr lang="en" u="sng">
                <a:solidFill>
                  <a:srgbClr val="1155CC"/>
                </a:solidFill>
                <a:highlight>
                  <a:srgbClr val="FFFFFF"/>
                </a:highlight>
                <a:hlinkClick r:id="rId11">
                  <a:extLst>
                    <a:ext uri="{A12FA001-AC4F-418D-AE19-62706E023703}">
                      <ahyp:hlinkClr xmlns:ahyp="http://schemas.microsoft.com/office/drawing/2018/hyperlinkcolor" val="tx"/>
                    </a:ext>
                  </a:extLst>
                </a:hlinkClick>
              </a:rPr>
              <a:t>Report for setting target &amp; financed emission disclosure</a:t>
            </a:r>
            <a:r>
              <a:rPr lang="en">
                <a:solidFill>
                  <a:srgbClr val="222222"/>
                </a:solidFill>
                <a:highlight>
                  <a:srgbClr val="FFFFFF"/>
                </a:highlight>
              </a:rPr>
              <a:t> (almost completed)</a:t>
            </a:r>
            <a:endParaRPr>
              <a:solidFill>
                <a:srgbClr val="222222"/>
              </a:solidFill>
              <a:highlight>
                <a:srgbClr val="FFFFFF"/>
              </a:highlight>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g3af7e9bc34a_0_4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2" name="Google Shape;652;g3af7e9bc34a_0_4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3afa97814d1_2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3" name="Google Shape;683;g3afa97814d1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3a6d8b9fc6e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3a6d8b9fc6e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3af7e9bc34a_0_2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g3af7e9bc34a_0_2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3af7e9bc34a_0_12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3" name="Google Shape;713;g3af7e9bc34a_0_12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3af7e9bc34a_0_2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0" name="Google Shape;730;g3af7e9bc34a_0_2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3af7e9bc34a_0_39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8" name="Google Shape;758;g3af7e9bc34a_0_3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hyperlink" Target="http://www.allotropepartners.com" TargetMode="Externa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2_Custom Layout">
  <p:cSld name="12_Custom Layout">
    <p:spTree>
      <p:nvGrpSpPr>
        <p:cNvPr id="1" name="Shape 50"/>
        <p:cNvGrpSpPr/>
        <p:nvPr/>
      </p:nvGrpSpPr>
      <p:grpSpPr>
        <a:xfrm>
          <a:off x="0" y="0"/>
          <a:ext cx="0" cy="0"/>
          <a:chOff x="0" y="0"/>
          <a:chExt cx="0" cy="0"/>
        </a:xfrm>
      </p:grpSpPr>
      <p:sp>
        <p:nvSpPr>
          <p:cNvPr id="51" name="Google Shape;51;p13"/>
          <p:cNvSpPr>
            <a:spLocks noGrp="1"/>
          </p:cNvSpPr>
          <p:nvPr>
            <p:ph type="pic" idx="2"/>
          </p:nvPr>
        </p:nvSpPr>
        <p:spPr>
          <a:xfrm>
            <a:off x="0" y="0"/>
            <a:ext cx="9144000" cy="51435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8" name="Google Shape;58;p1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9" name="Google Shape;59;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2" name="Google Shape;62;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3" name="Google Shape;63;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Custom Layout">
  <p:cSld name="1_Custom Layout">
    <p:bg>
      <p:bgPr>
        <a:solidFill>
          <a:srgbClr val="D6ECE8"/>
        </a:solidFill>
        <a:effectLst/>
      </p:bgPr>
    </p:bg>
    <p:spTree>
      <p:nvGrpSpPr>
        <p:cNvPr id="1" name="Shape 64"/>
        <p:cNvGrpSpPr/>
        <p:nvPr/>
      </p:nvGrpSpPr>
      <p:grpSpPr>
        <a:xfrm>
          <a:off x="0" y="0"/>
          <a:ext cx="0" cy="0"/>
          <a:chOff x="0" y="0"/>
          <a:chExt cx="0" cy="0"/>
        </a:xfrm>
      </p:grpSpPr>
      <p:sp>
        <p:nvSpPr>
          <p:cNvPr id="65" name="Google Shape;65;p17"/>
          <p:cNvSpPr/>
          <p:nvPr/>
        </p:nvSpPr>
        <p:spPr>
          <a:xfrm>
            <a:off x="65575" y="69625"/>
            <a:ext cx="8991000" cy="9201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17780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FBFBFB"/>
                </a:solidFill>
                <a:latin typeface="Cabin"/>
                <a:ea typeface="Cabin"/>
                <a:cs typeface="Cabin"/>
                <a:sym typeface="Cabin"/>
              </a:rPr>
              <a:t> </a:t>
            </a:r>
            <a:endParaRPr sz="1500" b="1" i="0" u="none" strike="noStrike" cap="none">
              <a:solidFill>
                <a:srgbClr val="FBFBFB"/>
              </a:solidFill>
              <a:latin typeface="Cabin"/>
              <a:ea typeface="Cabin"/>
              <a:cs typeface="Cabin"/>
              <a:sym typeface="Cabin"/>
            </a:endParaRPr>
          </a:p>
        </p:txBody>
      </p:sp>
      <p:sp>
        <p:nvSpPr>
          <p:cNvPr id="66" name="Google Shape;66;p17"/>
          <p:cNvSpPr txBox="1">
            <a:spLocks noGrp="1"/>
          </p:cNvSpPr>
          <p:nvPr>
            <p:ph type="title"/>
          </p:nvPr>
        </p:nvSpPr>
        <p:spPr>
          <a:xfrm>
            <a:off x="135056" y="269682"/>
            <a:ext cx="8229600" cy="675600"/>
          </a:xfrm>
          <a:prstGeom prst="rect">
            <a:avLst/>
          </a:prstGeom>
          <a:noFill/>
          <a:ln>
            <a:noFill/>
          </a:ln>
        </p:spPr>
        <p:txBody>
          <a:bodyPr spcFirstLastPara="1" wrap="square" lIns="68575" tIns="34275" rIns="68575" bIns="34275" anchor="t" anchorCtr="0">
            <a:noAutofit/>
          </a:bodyPr>
          <a:lstStyle>
            <a:lvl1pPr marR="0" lvl="0" algn="l">
              <a:lnSpc>
                <a:spcPct val="90000"/>
              </a:lnSpc>
              <a:spcBef>
                <a:spcPts val="0"/>
              </a:spcBef>
              <a:spcAft>
                <a:spcPts val="0"/>
              </a:spcAft>
              <a:buClr>
                <a:srgbClr val="FFFFFF"/>
              </a:buClr>
              <a:buSzPts val="2700"/>
              <a:buFont typeface="Cabin"/>
              <a:buNone/>
              <a:defRPr sz="2700" b="1" i="0" u="none" strike="noStrike" cap="none">
                <a:solidFill>
                  <a:srgbClr val="FFFFFF"/>
                </a:solidFill>
                <a:latin typeface="Cabin"/>
                <a:ea typeface="Cabin"/>
                <a:cs typeface="Cabin"/>
                <a:sym typeface="Cabin"/>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a:endParaRPr/>
          </a:p>
        </p:txBody>
      </p:sp>
      <p:sp>
        <p:nvSpPr>
          <p:cNvPr id="67" name="Google Shape;67;p17"/>
          <p:cNvSpPr txBox="1">
            <a:spLocks noGrp="1"/>
          </p:cNvSpPr>
          <p:nvPr>
            <p:ph type="body" idx="1"/>
          </p:nvPr>
        </p:nvSpPr>
        <p:spPr>
          <a:xfrm>
            <a:off x="457200" y="1129500"/>
            <a:ext cx="8106300" cy="3151500"/>
          </a:xfrm>
          <a:prstGeom prst="rect">
            <a:avLst/>
          </a:prstGeom>
          <a:noFill/>
          <a:ln>
            <a:noFill/>
          </a:ln>
        </p:spPr>
        <p:txBody>
          <a:bodyPr spcFirstLastPara="1" wrap="square" lIns="68575" tIns="34275" rIns="68575" bIns="34275" anchor="t" anchorCtr="0">
            <a:noAutofit/>
          </a:bodyPr>
          <a:lstStyle>
            <a:lvl1pPr marL="457200" marR="0" lvl="0" indent="-342900" algn="l">
              <a:lnSpc>
                <a:spcPct val="90000"/>
              </a:lnSpc>
              <a:spcBef>
                <a:spcPts val="800"/>
              </a:spcBef>
              <a:spcAft>
                <a:spcPts val="0"/>
              </a:spcAft>
              <a:buClr>
                <a:srgbClr val="000000"/>
              </a:buClr>
              <a:buSzPts val="1800"/>
              <a:buFont typeface="Cabin"/>
              <a:buChar char="●"/>
              <a:defRPr u="none" strike="noStrike" cap="none">
                <a:solidFill>
                  <a:srgbClr val="000000"/>
                </a:solidFill>
                <a:latin typeface="Cabin"/>
                <a:ea typeface="Cabin"/>
                <a:cs typeface="Cabin"/>
                <a:sym typeface="Cabin"/>
              </a:defRPr>
            </a:lvl1pPr>
            <a:lvl2pPr marL="914400" marR="0" lvl="1"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2pPr>
            <a:lvl3pPr marL="1371600" marR="0" lvl="2"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3pPr>
            <a:lvl4pPr marL="1828800" marR="0" lvl="3"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4pPr>
            <a:lvl5pPr marL="2286000" marR="0" lvl="4"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5pPr>
            <a:lvl6pPr marL="2743200" marR="0" lvl="5"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6pPr>
            <a:lvl7pPr marL="3200400" marR="0" lvl="6"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7pPr>
            <a:lvl8pPr marL="3657600" marR="0" lvl="7"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8pPr>
            <a:lvl9pPr marL="4114800" marR="0" lvl="8" indent="-342900" algn="l">
              <a:lnSpc>
                <a:spcPct val="90000"/>
              </a:lnSpc>
              <a:spcBef>
                <a:spcPts val="1600"/>
              </a:spcBef>
              <a:spcAft>
                <a:spcPts val="1600"/>
              </a:spcAft>
              <a:buClr>
                <a:srgbClr val="000000"/>
              </a:buClr>
              <a:buSzPts val="1800"/>
              <a:buFont typeface="Cabin"/>
              <a:buChar char="■"/>
              <a:defRPr sz="1800" u="none" strike="noStrike" cap="none">
                <a:solidFill>
                  <a:srgbClr val="000000"/>
                </a:solidFill>
                <a:latin typeface="Cabin"/>
                <a:ea typeface="Cabin"/>
                <a:cs typeface="Cabin"/>
                <a:sym typeface="Cabin"/>
              </a:defRPr>
            </a:lvl9pPr>
          </a:lstStyle>
          <a:p>
            <a:endParaRPr/>
          </a:p>
        </p:txBody>
      </p:sp>
      <p:pic>
        <p:nvPicPr>
          <p:cNvPr id="68" name="Google Shape;68;p17"/>
          <p:cNvPicPr preferRelativeResize="0"/>
          <p:nvPr/>
        </p:nvPicPr>
        <p:blipFill rotWithShape="1">
          <a:blip r:embed="rId2">
            <a:alphaModFix/>
          </a:blip>
          <a:srcRect/>
          <a:stretch/>
        </p:blipFill>
        <p:spPr>
          <a:xfrm>
            <a:off x="7830116" y="34050"/>
            <a:ext cx="1207990" cy="42043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9"/>
        <p:cNvGrpSpPr/>
        <p:nvPr/>
      </p:nvGrpSpPr>
      <p:grpSpPr>
        <a:xfrm>
          <a:off x="0" y="0"/>
          <a:ext cx="0" cy="0"/>
          <a:chOff x="0" y="0"/>
          <a:chExt cx="0" cy="0"/>
        </a:xfrm>
      </p:grpSpPr>
      <p:sp>
        <p:nvSpPr>
          <p:cNvPr id="70" name="Google Shape;70;p1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71" name="Google Shape;71;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4" name="Google Shape;74;p1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5" name="Google Shape;75;p1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0"/>
        <p:cNvGrpSpPr/>
        <p:nvPr/>
      </p:nvGrpSpPr>
      <p:grpSpPr>
        <a:xfrm>
          <a:off x="0" y="0"/>
          <a:ext cx="0" cy="0"/>
          <a:chOff x="0" y="0"/>
          <a:chExt cx="0" cy="0"/>
        </a:xfrm>
      </p:grpSpPr>
      <p:sp>
        <p:nvSpPr>
          <p:cNvPr id="81" name="Google Shape;81;p2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82" name="Google Shape;82;p2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83" name="Google Shape;83;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4"/>
        <p:cNvGrpSpPr/>
        <p:nvPr/>
      </p:nvGrpSpPr>
      <p:grpSpPr>
        <a:xfrm>
          <a:off x="0" y="0"/>
          <a:ext cx="0" cy="0"/>
          <a:chOff x="0" y="0"/>
          <a:chExt cx="0" cy="0"/>
        </a:xfrm>
      </p:grpSpPr>
      <p:sp>
        <p:nvSpPr>
          <p:cNvPr id="85" name="Google Shape;85;p2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6" name="Google Shape;86;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7"/>
        <p:cNvGrpSpPr/>
        <p:nvPr/>
      </p:nvGrpSpPr>
      <p:grpSpPr>
        <a:xfrm>
          <a:off x="0" y="0"/>
          <a:ext cx="0" cy="0"/>
          <a:chOff x="0" y="0"/>
          <a:chExt cx="0" cy="0"/>
        </a:xfrm>
      </p:grpSpPr>
      <p:sp>
        <p:nvSpPr>
          <p:cNvPr id="88" name="Google Shape;88;p2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89" name="Google Shape;89;p2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0" name="Google Shape;90;p2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1" name="Google Shape;91;p2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3"/>
        <p:cNvGrpSpPr/>
        <p:nvPr/>
      </p:nvGrpSpPr>
      <p:grpSpPr>
        <a:xfrm>
          <a:off x="0" y="0"/>
          <a:ext cx="0" cy="0"/>
          <a:chOff x="0" y="0"/>
          <a:chExt cx="0" cy="0"/>
        </a:xfrm>
      </p:grpSpPr>
      <p:sp>
        <p:nvSpPr>
          <p:cNvPr id="94" name="Google Shape;94;p2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95" name="Google Shape;95;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6"/>
        <p:cNvGrpSpPr/>
        <p:nvPr/>
      </p:nvGrpSpPr>
      <p:grpSpPr>
        <a:xfrm>
          <a:off x="0" y="0"/>
          <a:ext cx="0" cy="0"/>
          <a:chOff x="0" y="0"/>
          <a:chExt cx="0" cy="0"/>
        </a:xfrm>
      </p:grpSpPr>
      <p:sp>
        <p:nvSpPr>
          <p:cNvPr id="97" name="Google Shape;97;p2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8" name="Google Shape;98;p2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9" name="Google Shape;99;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0"/>
        <p:cNvGrpSpPr/>
        <p:nvPr/>
      </p:nvGrpSpPr>
      <p:grpSpPr>
        <a:xfrm>
          <a:off x="0" y="0"/>
          <a:ext cx="0" cy="0"/>
          <a:chOff x="0" y="0"/>
          <a:chExt cx="0" cy="0"/>
        </a:xfrm>
      </p:grpSpPr>
      <p:sp>
        <p:nvSpPr>
          <p:cNvPr id="101" name="Google Shape;101;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9_Custom Layout">
  <p:cSld name="9_Custom Layout">
    <p:spTree>
      <p:nvGrpSpPr>
        <p:cNvPr id="1" name="Shape 102"/>
        <p:cNvGrpSpPr/>
        <p:nvPr/>
      </p:nvGrpSpPr>
      <p:grpSpPr>
        <a:xfrm>
          <a:off x="0" y="0"/>
          <a:ext cx="0" cy="0"/>
          <a:chOff x="0" y="0"/>
          <a:chExt cx="0" cy="0"/>
        </a:xfrm>
      </p:grpSpPr>
      <p:sp>
        <p:nvSpPr>
          <p:cNvPr id="103" name="Google Shape;103;p27"/>
          <p:cNvSpPr>
            <a:spLocks noGrp="1"/>
          </p:cNvSpPr>
          <p:nvPr>
            <p:ph type="pic" idx="2"/>
          </p:nvPr>
        </p:nvSpPr>
        <p:spPr>
          <a:xfrm>
            <a:off x="1007472" y="998492"/>
            <a:ext cx="3146700" cy="31467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104"/>
        <p:cNvGrpSpPr/>
        <p:nvPr/>
      </p:nvGrpSpPr>
      <p:grpSpPr>
        <a:xfrm>
          <a:off x="0" y="0"/>
          <a:ext cx="0" cy="0"/>
          <a:chOff x="0" y="0"/>
          <a:chExt cx="0" cy="0"/>
        </a:xfrm>
      </p:grpSpPr>
      <p:sp>
        <p:nvSpPr>
          <p:cNvPr id="105" name="Google Shape;105;p28"/>
          <p:cNvSpPr>
            <a:spLocks noGrp="1"/>
          </p:cNvSpPr>
          <p:nvPr>
            <p:ph type="pic" idx="2"/>
          </p:nvPr>
        </p:nvSpPr>
        <p:spPr>
          <a:xfrm>
            <a:off x="3874182" y="-949180"/>
            <a:ext cx="5155200" cy="515520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06"/>
        <p:cNvGrpSpPr/>
        <p:nvPr/>
      </p:nvGrpSpPr>
      <p:grpSpPr>
        <a:xfrm>
          <a:off x="0" y="0"/>
          <a:ext cx="0" cy="0"/>
          <a:chOff x="0" y="0"/>
          <a:chExt cx="0" cy="0"/>
        </a:xfrm>
      </p:grpSpPr>
      <p:sp>
        <p:nvSpPr>
          <p:cNvPr id="107" name="Google Shape;107;p29"/>
          <p:cNvSpPr txBox="1">
            <a:spLocks noGrp="1"/>
          </p:cNvSpPr>
          <p:nvPr>
            <p:ph type="title"/>
          </p:nvPr>
        </p:nvSpPr>
        <p:spPr>
          <a:xfrm>
            <a:off x="319227" y="155194"/>
            <a:ext cx="8505600" cy="756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sz="2400" b="1" i="0">
                <a:solidFill>
                  <a:schemeClr val="dk1"/>
                </a:solidFill>
                <a:latin typeface="Verdana"/>
                <a:ea typeface="Verdana"/>
                <a:cs typeface="Verdana"/>
                <a:sym typeface="Verdana"/>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8" name="Google Shape;108;p29"/>
          <p:cNvSpPr txBox="1">
            <a:spLocks noGrp="1"/>
          </p:cNvSpPr>
          <p:nvPr>
            <p:ph type="body" idx="1"/>
          </p:nvPr>
        </p:nvSpPr>
        <p:spPr>
          <a:xfrm>
            <a:off x="417487" y="981202"/>
            <a:ext cx="8516700" cy="35256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800"/>
              <a:buNone/>
              <a:defRPr b="0" i="0">
                <a:solidFill>
                  <a:schemeClr val="dk1"/>
                </a:solidFill>
              </a:defRPr>
            </a:lvl1pPr>
            <a:lvl2pPr marL="914400" lvl="1" indent="-228600" algn="l">
              <a:lnSpc>
                <a:spcPct val="115000"/>
              </a:lnSpc>
              <a:spcBef>
                <a:spcPts val="1200"/>
              </a:spcBef>
              <a:spcAft>
                <a:spcPts val="0"/>
              </a:spcAft>
              <a:buSzPts val="1400"/>
              <a:buNone/>
              <a:defRPr/>
            </a:lvl2pPr>
            <a:lvl3pPr marL="1371600" lvl="2" indent="-228600" algn="l">
              <a:lnSpc>
                <a:spcPct val="115000"/>
              </a:lnSpc>
              <a:spcBef>
                <a:spcPts val="1200"/>
              </a:spcBef>
              <a:spcAft>
                <a:spcPts val="0"/>
              </a:spcAft>
              <a:buSzPts val="1400"/>
              <a:buNone/>
              <a:defRPr/>
            </a:lvl3pPr>
            <a:lvl4pPr marL="1828800" lvl="3" indent="-228600" algn="l">
              <a:lnSpc>
                <a:spcPct val="115000"/>
              </a:lnSpc>
              <a:spcBef>
                <a:spcPts val="1200"/>
              </a:spcBef>
              <a:spcAft>
                <a:spcPts val="0"/>
              </a:spcAft>
              <a:buSzPts val="1400"/>
              <a:buNone/>
              <a:defRPr/>
            </a:lvl4pPr>
            <a:lvl5pPr marL="2286000" lvl="4" indent="-228600" algn="l">
              <a:lnSpc>
                <a:spcPct val="115000"/>
              </a:lnSpc>
              <a:spcBef>
                <a:spcPts val="1200"/>
              </a:spcBef>
              <a:spcAft>
                <a:spcPts val="0"/>
              </a:spcAft>
              <a:buSzPts val="1400"/>
              <a:buNone/>
              <a:defRPr/>
            </a:lvl5pPr>
            <a:lvl6pPr marL="2743200" lvl="5" indent="-228600" algn="l">
              <a:lnSpc>
                <a:spcPct val="115000"/>
              </a:lnSpc>
              <a:spcBef>
                <a:spcPts val="1200"/>
              </a:spcBef>
              <a:spcAft>
                <a:spcPts val="0"/>
              </a:spcAft>
              <a:buSzPts val="1400"/>
              <a:buNone/>
              <a:defRPr/>
            </a:lvl6pPr>
            <a:lvl7pPr marL="3200400" lvl="6" indent="-228600" algn="l">
              <a:lnSpc>
                <a:spcPct val="115000"/>
              </a:lnSpc>
              <a:spcBef>
                <a:spcPts val="1200"/>
              </a:spcBef>
              <a:spcAft>
                <a:spcPts val="0"/>
              </a:spcAft>
              <a:buSzPts val="1400"/>
              <a:buNone/>
              <a:defRPr/>
            </a:lvl7pPr>
            <a:lvl8pPr marL="3657600" lvl="7" indent="-228600" algn="l">
              <a:lnSpc>
                <a:spcPct val="115000"/>
              </a:lnSpc>
              <a:spcBef>
                <a:spcPts val="1200"/>
              </a:spcBef>
              <a:spcAft>
                <a:spcPts val="0"/>
              </a:spcAft>
              <a:buSzPts val="1400"/>
              <a:buNone/>
              <a:defRPr/>
            </a:lvl8pPr>
            <a:lvl9pPr marL="4114800" lvl="8" indent="-228600" algn="l">
              <a:lnSpc>
                <a:spcPct val="115000"/>
              </a:lnSpc>
              <a:spcBef>
                <a:spcPts val="1200"/>
              </a:spcBef>
              <a:spcAft>
                <a:spcPts val="1200"/>
              </a:spcAft>
              <a:buSzPts val="1400"/>
              <a:buNone/>
              <a:defRPr/>
            </a:lvl9pPr>
          </a:lstStyle>
          <a:p>
            <a:endParaRPr/>
          </a:p>
        </p:txBody>
      </p:sp>
      <p:sp>
        <p:nvSpPr>
          <p:cNvPr id="109" name="Google Shape;109;p29"/>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0" name="Google Shape;110;p29"/>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1" name="Google Shape;111;p29"/>
          <p:cNvSpPr txBox="1">
            <a:spLocks noGrp="1"/>
          </p:cNvSpPr>
          <p:nvPr>
            <p:ph type="sldNum" idx="12"/>
          </p:nvPr>
        </p:nvSpPr>
        <p:spPr>
          <a:xfrm>
            <a:off x="286207" y="4763139"/>
            <a:ext cx="1062300" cy="153900"/>
          </a:xfrm>
          <a:prstGeom prst="rect">
            <a:avLst/>
          </a:prstGeom>
          <a:noFill/>
          <a:ln>
            <a:noFill/>
          </a:ln>
        </p:spPr>
        <p:txBody>
          <a:bodyPr spcFirstLastPara="1" wrap="square" lIns="0" tIns="0" rIns="0" bIns="0" anchor="t" anchorCtr="0">
            <a:spAutoFit/>
          </a:bodyPr>
          <a:lstStyle>
            <a:lvl1pPr marL="6350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1pPr>
            <a:lvl2pPr marL="6350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2pPr>
            <a:lvl3pPr marL="6350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3pPr>
            <a:lvl4pPr marL="6350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4pPr>
            <a:lvl5pPr marL="6350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5pPr>
            <a:lvl6pPr marL="6350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6pPr>
            <a:lvl7pPr marL="6350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7pPr>
            <a:lvl8pPr marL="6350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8pPr>
            <a:lvl9pPr marL="6350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9pPr>
          </a:lstStyle>
          <a:p>
            <a:pPr marL="63500" lvl="0" indent="0" algn="r" rtl="0">
              <a:spcBef>
                <a:spcPts val="0"/>
              </a:spcBef>
              <a:spcAft>
                <a:spcPts val="0"/>
              </a:spcAft>
              <a:buNone/>
            </a:pPr>
            <a:fld id="{00000000-1234-1234-1234-123412341234}" type="slidenum">
              <a:rPr lang="en"/>
              <a:t>‹#›</a:t>
            </a:fld>
            <a:endParaRPr>
              <a:solidFill>
                <a:schemeClr val="dk2"/>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Two Content">
  <p:cSld name="Two Content">
    <p:bg>
      <p:bgPr>
        <a:solidFill>
          <a:schemeClr val="lt1"/>
        </a:solidFill>
        <a:effectLst/>
      </p:bgPr>
    </p:bg>
    <p:spTree>
      <p:nvGrpSpPr>
        <p:cNvPr id="1" name="Shape 112"/>
        <p:cNvGrpSpPr/>
        <p:nvPr/>
      </p:nvGrpSpPr>
      <p:grpSpPr>
        <a:xfrm>
          <a:off x="0" y="0"/>
          <a:ext cx="0" cy="0"/>
          <a:chOff x="0" y="0"/>
          <a:chExt cx="0" cy="0"/>
        </a:xfrm>
      </p:grpSpPr>
      <p:sp>
        <p:nvSpPr>
          <p:cNvPr id="113" name="Google Shape;113;p30"/>
          <p:cNvSpPr txBox="1">
            <a:spLocks noGrp="1"/>
          </p:cNvSpPr>
          <p:nvPr>
            <p:ph type="title"/>
          </p:nvPr>
        </p:nvSpPr>
        <p:spPr>
          <a:xfrm>
            <a:off x="319227" y="155194"/>
            <a:ext cx="8505600" cy="756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sz="2400" b="1" i="0">
                <a:solidFill>
                  <a:schemeClr val="dk1"/>
                </a:solidFill>
                <a:latin typeface="Verdana"/>
                <a:ea typeface="Verdana"/>
                <a:cs typeface="Verdana"/>
                <a:sym typeface="Verdana"/>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4" name="Google Shape;114;p30"/>
          <p:cNvSpPr txBox="1">
            <a:spLocks noGrp="1"/>
          </p:cNvSpPr>
          <p:nvPr>
            <p:ph type="body" idx="1"/>
          </p:nvPr>
        </p:nvSpPr>
        <p:spPr>
          <a:xfrm>
            <a:off x="649223" y="1347216"/>
            <a:ext cx="2334900" cy="29781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800"/>
              <a:buNone/>
              <a:defRPr b="0" i="0">
                <a:solidFill>
                  <a:schemeClr val="dk1"/>
                </a:solidFill>
              </a:defRPr>
            </a:lvl1pPr>
            <a:lvl2pPr marL="914400" lvl="1" indent="-228600" algn="l">
              <a:lnSpc>
                <a:spcPct val="115000"/>
              </a:lnSpc>
              <a:spcBef>
                <a:spcPts val="1200"/>
              </a:spcBef>
              <a:spcAft>
                <a:spcPts val="0"/>
              </a:spcAft>
              <a:buSzPts val="1400"/>
              <a:buNone/>
              <a:defRPr/>
            </a:lvl2pPr>
            <a:lvl3pPr marL="1371600" lvl="2" indent="-228600" algn="l">
              <a:lnSpc>
                <a:spcPct val="115000"/>
              </a:lnSpc>
              <a:spcBef>
                <a:spcPts val="1200"/>
              </a:spcBef>
              <a:spcAft>
                <a:spcPts val="0"/>
              </a:spcAft>
              <a:buSzPts val="1400"/>
              <a:buNone/>
              <a:defRPr/>
            </a:lvl3pPr>
            <a:lvl4pPr marL="1828800" lvl="3" indent="-228600" algn="l">
              <a:lnSpc>
                <a:spcPct val="115000"/>
              </a:lnSpc>
              <a:spcBef>
                <a:spcPts val="1200"/>
              </a:spcBef>
              <a:spcAft>
                <a:spcPts val="0"/>
              </a:spcAft>
              <a:buSzPts val="1400"/>
              <a:buNone/>
              <a:defRPr/>
            </a:lvl4pPr>
            <a:lvl5pPr marL="2286000" lvl="4" indent="-228600" algn="l">
              <a:lnSpc>
                <a:spcPct val="115000"/>
              </a:lnSpc>
              <a:spcBef>
                <a:spcPts val="1200"/>
              </a:spcBef>
              <a:spcAft>
                <a:spcPts val="0"/>
              </a:spcAft>
              <a:buSzPts val="1400"/>
              <a:buNone/>
              <a:defRPr/>
            </a:lvl5pPr>
            <a:lvl6pPr marL="2743200" lvl="5" indent="-228600" algn="l">
              <a:lnSpc>
                <a:spcPct val="115000"/>
              </a:lnSpc>
              <a:spcBef>
                <a:spcPts val="1200"/>
              </a:spcBef>
              <a:spcAft>
                <a:spcPts val="0"/>
              </a:spcAft>
              <a:buSzPts val="1400"/>
              <a:buNone/>
              <a:defRPr/>
            </a:lvl6pPr>
            <a:lvl7pPr marL="3200400" lvl="6" indent="-228600" algn="l">
              <a:lnSpc>
                <a:spcPct val="115000"/>
              </a:lnSpc>
              <a:spcBef>
                <a:spcPts val="1200"/>
              </a:spcBef>
              <a:spcAft>
                <a:spcPts val="0"/>
              </a:spcAft>
              <a:buSzPts val="1400"/>
              <a:buNone/>
              <a:defRPr/>
            </a:lvl7pPr>
            <a:lvl8pPr marL="3657600" lvl="7" indent="-228600" algn="l">
              <a:lnSpc>
                <a:spcPct val="115000"/>
              </a:lnSpc>
              <a:spcBef>
                <a:spcPts val="1200"/>
              </a:spcBef>
              <a:spcAft>
                <a:spcPts val="0"/>
              </a:spcAft>
              <a:buSzPts val="1400"/>
              <a:buNone/>
              <a:defRPr/>
            </a:lvl8pPr>
            <a:lvl9pPr marL="4114800" lvl="8" indent="-228600" algn="l">
              <a:lnSpc>
                <a:spcPct val="115000"/>
              </a:lnSpc>
              <a:spcBef>
                <a:spcPts val="1200"/>
              </a:spcBef>
              <a:spcAft>
                <a:spcPts val="1200"/>
              </a:spcAft>
              <a:buSzPts val="1400"/>
              <a:buNone/>
              <a:defRPr/>
            </a:lvl9pPr>
          </a:lstStyle>
          <a:p>
            <a:endParaRPr/>
          </a:p>
        </p:txBody>
      </p:sp>
      <p:sp>
        <p:nvSpPr>
          <p:cNvPr id="115" name="Google Shape;115;p30"/>
          <p:cNvSpPr txBox="1">
            <a:spLocks noGrp="1"/>
          </p:cNvSpPr>
          <p:nvPr>
            <p:ph type="body" idx="2"/>
          </p:nvPr>
        </p:nvSpPr>
        <p:spPr>
          <a:xfrm>
            <a:off x="5518403" y="1243583"/>
            <a:ext cx="2976600" cy="33438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800"/>
              <a:buNone/>
              <a:defRPr b="0" i="0">
                <a:solidFill>
                  <a:schemeClr val="dk1"/>
                </a:solidFill>
              </a:defRPr>
            </a:lvl1pPr>
            <a:lvl2pPr marL="914400" lvl="1" indent="-228600" algn="l">
              <a:lnSpc>
                <a:spcPct val="115000"/>
              </a:lnSpc>
              <a:spcBef>
                <a:spcPts val="1200"/>
              </a:spcBef>
              <a:spcAft>
                <a:spcPts val="0"/>
              </a:spcAft>
              <a:buSzPts val="1400"/>
              <a:buNone/>
              <a:defRPr/>
            </a:lvl2pPr>
            <a:lvl3pPr marL="1371600" lvl="2" indent="-228600" algn="l">
              <a:lnSpc>
                <a:spcPct val="115000"/>
              </a:lnSpc>
              <a:spcBef>
                <a:spcPts val="1200"/>
              </a:spcBef>
              <a:spcAft>
                <a:spcPts val="0"/>
              </a:spcAft>
              <a:buSzPts val="1400"/>
              <a:buNone/>
              <a:defRPr/>
            </a:lvl3pPr>
            <a:lvl4pPr marL="1828800" lvl="3" indent="-228600" algn="l">
              <a:lnSpc>
                <a:spcPct val="115000"/>
              </a:lnSpc>
              <a:spcBef>
                <a:spcPts val="1200"/>
              </a:spcBef>
              <a:spcAft>
                <a:spcPts val="0"/>
              </a:spcAft>
              <a:buSzPts val="1400"/>
              <a:buNone/>
              <a:defRPr/>
            </a:lvl4pPr>
            <a:lvl5pPr marL="2286000" lvl="4" indent="-228600" algn="l">
              <a:lnSpc>
                <a:spcPct val="115000"/>
              </a:lnSpc>
              <a:spcBef>
                <a:spcPts val="1200"/>
              </a:spcBef>
              <a:spcAft>
                <a:spcPts val="0"/>
              </a:spcAft>
              <a:buSzPts val="1400"/>
              <a:buNone/>
              <a:defRPr/>
            </a:lvl5pPr>
            <a:lvl6pPr marL="2743200" lvl="5" indent="-228600" algn="l">
              <a:lnSpc>
                <a:spcPct val="115000"/>
              </a:lnSpc>
              <a:spcBef>
                <a:spcPts val="1200"/>
              </a:spcBef>
              <a:spcAft>
                <a:spcPts val="0"/>
              </a:spcAft>
              <a:buSzPts val="1400"/>
              <a:buNone/>
              <a:defRPr/>
            </a:lvl6pPr>
            <a:lvl7pPr marL="3200400" lvl="6" indent="-228600" algn="l">
              <a:lnSpc>
                <a:spcPct val="115000"/>
              </a:lnSpc>
              <a:spcBef>
                <a:spcPts val="1200"/>
              </a:spcBef>
              <a:spcAft>
                <a:spcPts val="0"/>
              </a:spcAft>
              <a:buSzPts val="1400"/>
              <a:buNone/>
              <a:defRPr/>
            </a:lvl7pPr>
            <a:lvl8pPr marL="3657600" lvl="7" indent="-228600" algn="l">
              <a:lnSpc>
                <a:spcPct val="115000"/>
              </a:lnSpc>
              <a:spcBef>
                <a:spcPts val="1200"/>
              </a:spcBef>
              <a:spcAft>
                <a:spcPts val="0"/>
              </a:spcAft>
              <a:buSzPts val="1400"/>
              <a:buNone/>
              <a:defRPr/>
            </a:lvl8pPr>
            <a:lvl9pPr marL="4114800" lvl="8" indent="-228600" algn="l">
              <a:lnSpc>
                <a:spcPct val="115000"/>
              </a:lnSpc>
              <a:spcBef>
                <a:spcPts val="1200"/>
              </a:spcBef>
              <a:spcAft>
                <a:spcPts val="1200"/>
              </a:spcAft>
              <a:buSzPts val="1400"/>
              <a:buNone/>
              <a:defRPr/>
            </a:lvl9pPr>
          </a:lstStyle>
          <a:p>
            <a:endParaRPr/>
          </a:p>
        </p:txBody>
      </p:sp>
      <p:sp>
        <p:nvSpPr>
          <p:cNvPr id="116" name="Google Shape;116;p30"/>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7" name="Google Shape;117;p30"/>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8" name="Google Shape;118;p30"/>
          <p:cNvSpPr txBox="1">
            <a:spLocks noGrp="1"/>
          </p:cNvSpPr>
          <p:nvPr>
            <p:ph type="sldNum" idx="12"/>
          </p:nvPr>
        </p:nvSpPr>
        <p:spPr>
          <a:xfrm>
            <a:off x="286207" y="4763139"/>
            <a:ext cx="1062300" cy="153900"/>
          </a:xfrm>
          <a:prstGeom prst="rect">
            <a:avLst/>
          </a:prstGeom>
          <a:noFill/>
          <a:ln>
            <a:noFill/>
          </a:ln>
        </p:spPr>
        <p:txBody>
          <a:bodyPr spcFirstLastPara="1" wrap="square" lIns="0" tIns="0" rIns="0" bIns="0" anchor="t" anchorCtr="0">
            <a:spAutoFit/>
          </a:bodyPr>
          <a:lstStyle>
            <a:lvl1pPr marL="6350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1pPr>
            <a:lvl2pPr marL="6350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2pPr>
            <a:lvl3pPr marL="6350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3pPr>
            <a:lvl4pPr marL="6350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4pPr>
            <a:lvl5pPr marL="6350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5pPr>
            <a:lvl6pPr marL="6350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6pPr>
            <a:lvl7pPr marL="6350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7pPr>
            <a:lvl8pPr marL="6350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8pPr>
            <a:lvl9pPr marL="6350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Verdana"/>
                <a:ea typeface="Verdana"/>
                <a:cs typeface="Verdana"/>
                <a:sym typeface="Verdana"/>
              </a:defRPr>
            </a:lvl9pPr>
          </a:lstStyle>
          <a:p>
            <a:pPr marL="63500" lvl="0" indent="0" algn="r" rtl="0">
              <a:spcBef>
                <a:spcPts val="0"/>
              </a:spcBef>
              <a:spcAft>
                <a:spcPts val="0"/>
              </a:spcAft>
              <a:buNone/>
            </a:pPr>
            <a:fld id="{00000000-1234-1234-1234-123412341234}" type="slidenum">
              <a:rPr lang="en"/>
              <a:t>‹#›</a:t>
            </a:fld>
            <a:endParaRPr>
              <a:solidFill>
                <a:schemeClr val="dk2"/>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Custom Layout 1">
  <p:cSld name="1_Custom Layout_1">
    <p:bg>
      <p:bgPr>
        <a:solidFill>
          <a:srgbClr val="D6ECE8"/>
        </a:solidFill>
        <a:effectLst/>
      </p:bgPr>
    </p:bg>
    <p:spTree>
      <p:nvGrpSpPr>
        <p:cNvPr id="1" name="Shape 119"/>
        <p:cNvGrpSpPr/>
        <p:nvPr/>
      </p:nvGrpSpPr>
      <p:grpSpPr>
        <a:xfrm>
          <a:off x="0" y="0"/>
          <a:ext cx="0" cy="0"/>
          <a:chOff x="0" y="0"/>
          <a:chExt cx="0" cy="0"/>
        </a:xfrm>
      </p:grpSpPr>
      <p:sp>
        <p:nvSpPr>
          <p:cNvPr id="120" name="Google Shape;120;p31"/>
          <p:cNvSpPr txBox="1"/>
          <p:nvPr/>
        </p:nvSpPr>
        <p:spPr>
          <a:xfrm>
            <a:off x="-94" y="-23756"/>
            <a:ext cx="9144000" cy="975000"/>
          </a:xfrm>
          <a:prstGeom prst="rect">
            <a:avLst/>
          </a:prstGeom>
          <a:solidFill>
            <a:srgbClr val="1D7E74"/>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1" i="0" u="none" strike="noStrike" cap="none">
              <a:solidFill>
                <a:srgbClr val="FFFFFF"/>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highlight>
                <a:srgbClr val="64B4A3"/>
              </a:highlight>
              <a:latin typeface="Arial"/>
              <a:ea typeface="Arial"/>
              <a:cs typeface="Arial"/>
              <a:sym typeface="Arial"/>
            </a:endParaRPr>
          </a:p>
        </p:txBody>
      </p:sp>
      <p:sp>
        <p:nvSpPr>
          <p:cNvPr id="121" name="Google Shape;121;p31"/>
          <p:cNvSpPr txBox="1">
            <a:spLocks noGrp="1"/>
          </p:cNvSpPr>
          <p:nvPr>
            <p:ph type="title"/>
          </p:nvPr>
        </p:nvSpPr>
        <p:spPr>
          <a:xfrm>
            <a:off x="135056" y="269682"/>
            <a:ext cx="8229600" cy="675600"/>
          </a:xfrm>
          <a:prstGeom prst="rect">
            <a:avLst/>
          </a:prstGeom>
          <a:noFill/>
          <a:ln>
            <a:noFill/>
          </a:ln>
        </p:spPr>
        <p:txBody>
          <a:bodyPr spcFirstLastPara="1" wrap="square" lIns="68575" tIns="34275" rIns="68575" bIns="34275" anchor="t" anchorCtr="0">
            <a:noAutofit/>
          </a:bodyPr>
          <a:lstStyle>
            <a:lvl1pPr marR="0" lvl="0" algn="l">
              <a:lnSpc>
                <a:spcPct val="90000"/>
              </a:lnSpc>
              <a:spcBef>
                <a:spcPts val="0"/>
              </a:spcBef>
              <a:spcAft>
                <a:spcPts val="0"/>
              </a:spcAft>
              <a:buClr>
                <a:srgbClr val="FFFFFF"/>
              </a:buClr>
              <a:buSzPts val="2700"/>
              <a:buFont typeface="Cabin"/>
              <a:buNone/>
              <a:defRPr sz="2700" b="1" i="0" u="none" strike="noStrike" cap="none">
                <a:solidFill>
                  <a:srgbClr val="FFFFFF"/>
                </a:solidFill>
                <a:latin typeface="Cabin"/>
                <a:ea typeface="Cabin"/>
                <a:cs typeface="Cabin"/>
                <a:sym typeface="Cabin"/>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a:endParaRPr/>
          </a:p>
        </p:txBody>
      </p:sp>
      <p:sp>
        <p:nvSpPr>
          <p:cNvPr id="122" name="Google Shape;122;p31"/>
          <p:cNvSpPr txBox="1">
            <a:spLocks noGrp="1"/>
          </p:cNvSpPr>
          <p:nvPr>
            <p:ph type="body" idx="1"/>
          </p:nvPr>
        </p:nvSpPr>
        <p:spPr>
          <a:xfrm>
            <a:off x="457200" y="1129500"/>
            <a:ext cx="8106300" cy="3151500"/>
          </a:xfrm>
          <a:prstGeom prst="rect">
            <a:avLst/>
          </a:prstGeom>
          <a:noFill/>
          <a:ln>
            <a:noFill/>
          </a:ln>
        </p:spPr>
        <p:txBody>
          <a:bodyPr spcFirstLastPara="1" wrap="square" lIns="68575" tIns="34275" rIns="68575" bIns="34275" anchor="t" anchorCtr="0">
            <a:noAutofit/>
          </a:bodyPr>
          <a:lstStyle>
            <a:lvl1pPr marL="457200" marR="0" lvl="0" indent="-342900" algn="l">
              <a:lnSpc>
                <a:spcPct val="90000"/>
              </a:lnSpc>
              <a:spcBef>
                <a:spcPts val="800"/>
              </a:spcBef>
              <a:spcAft>
                <a:spcPts val="0"/>
              </a:spcAft>
              <a:buClr>
                <a:srgbClr val="000000"/>
              </a:buClr>
              <a:buSzPts val="1800"/>
              <a:buFont typeface="Cabin"/>
              <a:buChar char="●"/>
              <a:defRPr u="none" strike="noStrike" cap="none">
                <a:solidFill>
                  <a:srgbClr val="000000"/>
                </a:solidFill>
                <a:latin typeface="Cabin"/>
                <a:ea typeface="Cabin"/>
                <a:cs typeface="Cabin"/>
                <a:sym typeface="Cabin"/>
              </a:defRPr>
            </a:lvl1pPr>
            <a:lvl2pPr marL="914400" marR="0" lvl="1"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2pPr>
            <a:lvl3pPr marL="1371600" marR="0" lvl="2"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3pPr>
            <a:lvl4pPr marL="1828800" marR="0" lvl="3"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4pPr>
            <a:lvl5pPr marL="2286000" marR="0" lvl="4"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5pPr>
            <a:lvl6pPr marL="2743200" marR="0" lvl="5"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6pPr>
            <a:lvl7pPr marL="3200400" marR="0" lvl="6"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7pPr>
            <a:lvl8pPr marL="3657600" marR="0" lvl="7"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8pPr>
            <a:lvl9pPr marL="4114800" marR="0" lvl="8" indent="-342900" algn="l">
              <a:lnSpc>
                <a:spcPct val="90000"/>
              </a:lnSpc>
              <a:spcBef>
                <a:spcPts val="1600"/>
              </a:spcBef>
              <a:spcAft>
                <a:spcPts val="1600"/>
              </a:spcAft>
              <a:buClr>
                <a:srgbClr val="000000"/>
              </a:buClr>
              <a:buSzPts val="1800"/>
              <a:buFont typeface="Cabin"/>
              <a:buChar char="■"/>
              <a:defRPr sz="1800" u="none" strike="noStrike" cap="none">
                <a:solidFill>
                  <a:srgbClr val="000000"/>
                </a:solidFill>
                <a:latin typeface="Cabin"/>
                <a:ea typeface="Cabin"/>
                <a:cs typeface="Cabin"/>
                <a:sym typeface="Cabin"/>
              </a:defRPr>
            </a:lvl9pPr>
          </a:lstStyle>
          <a:p>
            <a:endParaRPr/>
          </a:p>
        </p:txBody>
      </p:sp>
      <p:pic>
        <p:nvPicPr>
          <p:cNvPr id="123" name="Google Shape;123;p31"/>
          <p:cNvPicPr preferRelativeResize="0"/>
          <p:nvPr/>
        </p:nvPicPr>
        <p:blipFill rotWithShape="1">
          <a:blip r:embed="rId2">
            <a:alphaModFix/>
          </a:blip>
          <a:srcRect/>
          <a:stretch/>
        </p:blipFill>
        <p:spPr>
          <a:xfrm>
            <a:off x="7830116" y="34050"/>
            <a:ext cx="1207990" cy="42043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p:cSld name="CUSTOM">
    <p:bg>
      <p:bgPr>
        <a:solidFill>
          <a:srgbClr val="D6ECE8"/>
        </a:solidFill>
        <a:effectLst/>
      </p:bgPr>
    </p:bg>
    <p:spTree>
      <p:nvGrpSpPr>
        <p:cNvPr id="1" name="Shape 127"/>
        <p:cNvGrpSpPr/>
        <p:nvPr/>
      </p:nvGrpSpPr>
      <p:grpSpPr>
        <a:xfrm>
          <a:off x="0" y="0"/>
          <a:ext cx="0" cy="0"/>
          <a:chOff x="0" y="0"/>
          <a:chExt cx="0" cy="0"/>
        </a:xfrm>
      </p:grpSpPr>
      <p:sp>
        <p:nvSpPr>
          <p:cNvPr id="128" name="Google Shape;128;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Clr>
                <a:srgbClr val="000000"/>
              </a:buClr>
              <a:buSzPts val="1000"/>
              <a:buFont typeface="Arial"/>
              <a:buNone/>
              <a:defRPr/>
            </a:lvl1pPr>
            <a:lvl2pPr lvl="1">
              <a:buClr>
                <a:srgbClr val="000000"/>
              </a:buClr>
              <a:buSzPts val="1000"/>
              <a:buFont typeface="Arial"/>
              <a:buNone/>
              <a:defRPr/>
            </a:lvl2pPr>
            <a:lvl3pPr lvl="2">
              <a:buClr>
                <a:srgbClr val="000000"/>
              </a:buClr>
              <a:buSzPts val="1000"/>
              <a:buFont typeface="Arial"/>
              <a:buNone/>
              <a:defRPr/>
            </a:lvl3pPr>
            <a:lvl4pPr lvl="3">
              <a:buClr>
                <a:srgbClr val="000000"/>
              </a:buClr>
              <a:buSzPts val="1000"/>
              <a:buFont typeface="Arial"/>
              <a:buNone/>
              <a:defRPr/>
            </a:lvl4pPr>
            <a:lvl5pPr lvl="4">
              <a:buClr>
                <a:srgbClr val="000000"/>
              </a:buClr>
              <a:buSzPts val="1000"/>
              <a:buFont typeface="Arial"/>
              <a:buNone/>
              <a:defRPr/>
            </a:lvl5pPr>
            <a:lvl6pPr lvl="5">
              <a:buClr>
                <a:srgbClr val="000000"/>
              </a:buClr>
              <a:buSzPts val="1000"/>
              <a:buFont typeface="Arial"/>
              <a:buNone/>
              <a:defRPr/>
            </a:lvl6pPr>
            <a:lvl7pPr lvl="6">
              <a:buClr>
                <a:srgbClr val="000000"/>
              </a:buClr>
              <a:buSzPts val="1000"/>
              <a:buFont typeface="Arial"/>
              <a:buNone/>
              <a:defRPr/>
            </a:lvl7pPr>
            <a:lvl8pPr lvl="7">
              <a:buClr>
                <a:srgbClr val="000000"/>
              </a:buClr>
              <a:buSzPts val="1000"/>
              <a:buFont typeface="Arial"/>
              <a:buNone/>
              <a:defRPr/>
            </a:lvl8pPr>
            <a:lvl9pPr lvl="8">
              <a:buClr>
                <a:srgbClr val="000000"/>
              </a:buClr>
              <a:buSzPts val="1000"/>
              <a:buFont typeface="Arial"/>
              <a:buNone/>
              <a:defRPr/>
            </a:lvl9pPr>
          </a:lstStyle>
          <a:p>
            <a:pPr marL="0" lvl="0" indent="0" algn="l" rtl="0">
              <a:spcBef>
                <a:spcPts val="0"/>
              </a:spcBef>
              <a:spcAft>
                <a:spcPts val="0"/>
              </a:spcAft>
              <a:buNone/>
            </a:pPr>
            <a:fld id="{00000000-1234-1234-1234-123412341234}" type="slidenum">
              <a:rPr lang="en"/>
              <a:t>‹#›</a:t>
            </a:fld>
            <a:endParaRPr/>
          </a:p>
        </p:txBody>
      </p:sp>
      <p:pic>
        <p:nvPicPr>
          <p:cNvPr id="129" name="Google Shape;129;p33"/>
          <p:cNvPicPr preferRelativeResize="0"/>
          <p:nvPr/>
        </p:nvPicPr>
        <p:blipFill rotWithShape="1">
          <a:blip r:embed="rId2">
            <a:alphaModFix/>
          </a:blip>
          <a:srcRect t="10929"/>
          <a:stretch/>
        </p:blipFill>
        <p:spPr>
          <a:xfrm>
            <a:off x="-25546" y="333375"/>
            <a:ext cx="9169542" cy="4810125"/>
          </a:xfrm>
          <a:prstGeom prst="rect">
            <a:avLst/>
          </a:prstGeom>
          <a:solidFill>
            <a:srgbClr val="D7ECE8"/>
          </a:solidFill>
          <a:ln>
            <a:noFill/>
          </a:ln>
        </p:spPr>
      </p:pic>
      <p:sp>
        <p:nvSpPr>
          <p:cNvPr id="130" name="Google Shape;130;p33"/>
          <p:cNvSpPr txBox="1"/>
          <p:nvPr/>
        </p:nvSpPr>
        <p:spPr>
          <a:xfrm>
            <a:off x="-25546" y="-5"/>
            <a:ext cx="6016800" cy="2124000"/>
          </a:xfrm>
          <a:prstGeom prst="rect">
            <a:avLst/>
          </a:prstGeom>
          <a:solidFill>
            <a:srgbClr val="D6ECE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1" name="Google Shape;131;p33"/>
          <p:cNvPicPr preferRelativeResize="0"/>
          <p:nvPr/>
        </p:nvPicPr>
        <p:blipFill rotWithShape="1">
          <a:blip r:embed="rId3">
            <a:alphaModFix/>
          </a:blip>
          <a:srcRect/>
          <a:stretch/>
        </p:blipFill>
        <p:spPr>
          <a:xfrm>
            <a:off x="81650" y="0"/>
            <a:ext cx="4490350" cy="1563802"/>
          </a:xfrm>
          <a:prstGeom prst="rect">
            <a:avLst/>
          </a:prstGeom>
          <a:noFill/>
          <a:ln>
            <a:noFill/>
          </a:ln>
        </p:spPr>
      </p:pic>
      <p:sp>
        <p:nvSpPr>
          <p:cNvPr id="132" name="Google Shape;132;p33"/>
          <p:cNvSpPr txBox="1">
            <a:spLocks noGrp="1"/>
          </p:cNvSpPr>
          <p:nvPr>
            <p:ph type="title"/>
          </p:nvPr>
        </p:nvSpPr>
        <p:spPr>
          <a:xfrm>
            <a:off x="267875" y="1563800"/>
            <a:ext cx="7091700" cy="393600"/>
          </a:xfrm>
          <a:prstGeom prst="rect">
            <a:avLst/>
          </a:prstGeom>
        </p:spPr>
        <p:txBody>
          <a:bodyPr spcFirstLastPara="1" wrap="square" lIns="91425" tIns="91425" rIns="91425" bIns="91425" anchor="t" anchorCtr="0">
            <a:noAutofit/>
          </a:bodyPr>
          <a:lstStyle>
            <a:lvl1pPr lvl="0">
              <a:spcBef>
                <a:spcPts val="0"/>
              </a:spcBef>
              <a:spcAft>
                <a:spcPts val="0"/>
              </a:spcAft>
              <a:buClr>
                <a:srgbClr val="2F645B"/>
              </a:buClr>
              <a:buSzPts val="1900"/>
              <a:buFont typeface="Cabin"/>
              <a:buNone/>
              <a:defRPr sz="1900" b="1">
                <a:solidFill>
                  <a:srgbClr val="2F645B"/>
                </a:solidFill>
                <a:latin typeface="Cabin"/>
                <a:ea typeface="Cabin"/>
                <a:cs typeface="Cabin"/>
                <a:sym typeface="Cabi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Intro Slide">
  <p:cSld name="CUSTOM_1">
    <p:spTree>
      <p:nvGrpSpPr>
        <p:cNvPr id="1" name="Shape 133"/>
        <p:cNvGrpSpPr/>
        <p:nvPr/>
      </p:nvGrpSpPr>
      <p:grpSpPr>
        <a:xfrm>
          <a:off x="0" y="0"/>
          <a:ext cx="0" cy="0"/>
          <a:chOff x="0" y="0"/>
          <a:chExt cx="0" cy="0"/>
        </a:xfrm>
      </p:grpSpPr>
      <p:sp>
        <p:nvSpPr>
          <p:cNvPr id="134" name="Google Shape;134;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pic>
        <p:nvPicPr>
          <p:cNvPr id="135" name="Google Shape;135;p34"/>
          <p:cNvPicPr preferRelativeResize="0"/>
          <p:nvPr/>
        </p:nvPicPr>
        <p:blipFill rotWithShape="1">
          <a:blip r:embed="rId2">
            <a:alphaModFix/>
          </a:blip>
          <a:srcRect l="57610" t="38748" r="15264" b="36169"/>
          <a:stretch/>
        </p:blipFill>
        <p:spPr>
          <a:xfrm>
            <a:off x="0" y="0"/>
            <a:ext cx="9144000" cy="5143500"/>
          </a:xfrm>
          <a:prstGeom prst="rect">
            <a:avLst/>
          </a:prstGeom>
          <a:noFill/>
          <a:ln>
            <a:noFill/>
          </a:ln>
          <a:effectLst>
            <a:outerShdw blurRad="57150" dist="19050" algn="bl" rotWithShape="0">
              <a:srgbClr val="000000">
                <a:alpha val="50000"/>
              </a:srgbClr>
            </a:outerShdw>
          </a:effectLst>
        </p:spPr>
      </p:pic>
      <p:sp>
        <p:nvSpPr>
          <p:cNvPr id="136" name="Google Shape;136;p34"/>
          <p:cNvSpPr/>
          <p:nvPr/>
        </p:nvSpPr>
        <p:spPr>
          <a:xfrm>
            <a:off x="856200" y="1239275"/>
            <a:ext cx="7479900" cy="2845200"/>
          </a:xfrm>
          <a:prstGeom prst="round2DiagRect">
            <a:avLst>
              <a:gd name="adj1" fmla="val 16667"/>
              <a:gd name="adj2" fmla="val 0"/>
            </a:avLst>
          </a:prstGeom>
          <a:solidFill>
            <a:srgbClr val="CFE9E3"/>
          </a:solidFill>
          <a:ln w="9525" cap="flat" cmpd="sng">
            <a:solidFill>
              <a:srgbClr val="1D7E74"/>
            </a:solidFill>
            <a:prstDash val="solid"/>
            <a:round/>
            <a:headEnd type="none" w="sm" len="sm"/>
            <a:tailEnd type="none" w="sm" len="sm"/>
          </a:ln>
          <a:effectLst>
            <a:outerShdw blurRad="57150" dist="66675" dir="1800000" algn="bl" rotWithShape="0">
              <a:srgbClr val="000000">
                <a:alpha val="50000"/>
              </a:srgbClr>
            </a:outerShdw>
          </a:effectLst>
        </p:spPr>
        <p:txBody>
          <a:bodyPr spcFirstLastPara="1" wrap="square" lIns="91425" tIns="91425" rIns="91425" bIns="91425" anchor="ctr" anchorCtr="0">
            <a:noAutofit/>
          </a:bodyPr>
          <a:lstStyle/>
          <a:p>
            <a:pPr marL="400050" lvl="0" indent="0" algn="l" rtl="0">
              <a:lnSpc>
                <a:spcPct val="115000"/>
              </a:lnSpc>
              <a:spcBef>
                <a:spcPts val="1000"/>
              </a:spcBef>
              <a:spcAft>
                <a:spcPts val="0"/>
              </a:spcAft>
              <a:buNone/>
            </a:pPr>
            <a:endParaRPr>
              <a:solidFill>
                <a:srgbClr val="2F645B"/>
              </a:solidFill>
            </a:endParaRPr>
          </a:p>
        </p:txBody>
      </p:sp>
      <p:pic>
        <p:nvPicPr>
          <p:cNvPr id="137" name="Google Shape;137;p34"/>
          <p:cNvPicPr preferRelativeResize="0"/>
          <p:nvPr/>
        </p:nvPicPr>
        <p:blipFill rotWithShape="1">
          <a:blip r:embed="rId3">
            <a:alphaModFix/>
          </a:blip>
          <a:srcRect/>
          <a:stretch/>
        </p:blipFill>
        <p:spPr>
          <a:xfrm>
            <a:off x="6892774" y="193175"/>
            <a:ext cx="2094225" cy="729350"/>
          </a:xfrm>
          <a:prstGeom prst="rect">
            <a:avLst/>
          </a:prstGeom>
          <a:noFill/>
          <a:ln>
            <a:noFill/>
          </a:ln>
        </p:spPr>
      </p:pic>
      <p:sp>
        <p:nvSpPr>
          <p:cNvPr id="138" name="Google Shape;138;p34"/>
          <p:cNvSpPr txBox="1">
            <a:spLocks noGrp="1"/>
          </p:cNvSpPr>
          <p:nvPr>
            <p:ph type="title"/>
          </p:nvPr>
        </p:nvSpPr>
        <p:spPr>
          <a:xfrm>
            <a:off x="1347900" y="1555250"/>
            <a:ext cx="6496500" cy="684600"/>
          </a:xfrm>
          <a:prstGeom prst="rect">
            <a:avLst/>
          </a:prstGeom>
        </p:spPr>
        <p:txBody>
          <a:bodyPr spcFirstLastPara="1" wrap="square" lIns="91425" tIns="91425" rIns="91425" bIns="91425" anchor="t" anchorCtr="0">
            <a:noAutofit/>
          </a:bodyPr>
          <a:lstStyle>
            <a:lvl1pPr lvl="0">
              <a:spcBef>
                <a:spcPts val="0"/>
              </a:spcBef>
              <a:spcAft>
                <a:spcPts val="0"/>
              </a:spcAft>
              <a:buClr>
                <a:srgbClr val="2F645B"/>
              </a:buClr>
              <a:buSzPts val="3300"/>
              <a:buFont typeface="Cabin"/>
              <a:buNone/>
              <a:defRPr sz="3300" b="1">
                <a:solidFill>
                  <a:srgbClr val="2F645B"/>
                </a:solidFill>
                <a:latin typeface="Cabin"/>
                <a:ea typeface="Cabin"/>
                <a:cs typeface="Cabin"/>
                <a:sym typeface="Cabi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9" name="Google Shape;139;p34"/>
          <p:cNvSpPr txBox="1">
            <a:spLocks noGrp="1"/>
          </p:cNvSpPr>
          <p:nvPr>
            <p:ph type="subTitle" idx="1"/>
          </p:nvPr>
        </p:nvSpPr>
        <p:spPr>
          <a:xfrm>
            <a:off x="1347900" y="2448200"/>
            <a:ext cx="6459000" cy="945000"/>
          </a:xfrm>
          <a:prstGeom prst="rect">
            <a:avLst/>
          </a:prstGeom>
        </p:spPr>
        <p:txBody>
          <a:bodyPr spcFirstLastPara="1" wrap="square" lIns="91425" tIns="91425" rIns="91425" bIns="91425" anchor="t" anchorCtr="0">
            <a:noAutofit/>
          </a:bodyPr>
          <a:lstStyle>
            <a:lvl1pPr lvl="0">
              <a:spcBef>
                <a:spcPts val="0"/>
              </a:spcBef>
              <a:spcAft>
                <a:spcPts val="0"/>
              </a:spcAft>
              <a:buClr>
                <a:srgbClr val="2F645B"/>
              </a:buClr>
              <a:buSzPts val="2300"/>
              <a:buFont typeface="Cabin"/>
              <a:buNone/>
              <a:defRPr sz="2300" b="1">
                <a:solidFill>
                  <a:srgbClr val="2F645B"/>
                </a:solidFill>
                <a:latin typeface="Cabin"/>
                <a:ea typeface="Cabin"/>
                <a:cs typeface="Cabin"/>
                <a:sym typeface="Cabin"/>
              </a:defRPr>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0"/>
        <p:cNvGrpSpPr/>
        <p:nvPr/>
      </p:nvGrpSpPr>
      <p:grpSpPr>
        <a:xfrm>
          <a:off x="0" y="0"/>
          <a:ext cx="0" cy="0"/>
          <a:chOff x="0" y="0"/>
          <a:chExt cx="0" cy="0"/>
        </a:xfrm>
      </p:grpSpPr>
      <p:sp>
        <p:nvSpPr>
          <p:cNvPr id="141" name="Google Shape;141;p3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0"/>
              </a:spcBef>
              <a:spcAft>
                <a:spcPts val="0"/>
              </a:spcAft>
              <a:buClr>
                <a:schemeClr val="dk1"/>
              </a:buClr>
              <a:buSzPts val="1800"/>
              <a:buFont typeface="Cabin"/>
              <a:buChar char="●"/>
              <a:defRPr>
                <a:solidFill>
                  <a:schemeClr val="dk1"/>
                </a:solidFill>
                <a:latin typeface="Cabin"/>
                <a:ea typeface="Cabin"/>
                <a:cs typeface="Cabin"/>
                <a:sym typeface="Cabin"/>
              </a:defRPr>
            </a:lvl1pPr>
            <a:lvl2pPr marL="914400" lvl="1" indent="-317500" algn="l">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2pPr>
            <a:lvl3pPr marL="1371600" lvl="2" indent="-317500" algn="l">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3pPr>
            <a:lvl4pPr marL="1828800" lvl="3" indent="-317500" algn="l">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4pPr>
            <a:lvl5pPr marL="2286000" lvl="4" indent="-317500" algn="l">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5pPr>
            <a:lvl6pPr marL="2743200" lvl="5" indent="-317500" algn="l">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6pPr>
            <a:lvl7pPr marL="3200400" lvl="6" indent="-317500" algn="l">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7pPr>
            <a:lvl8pPr marL="3657600" lvl="7" indent="-317500" algn="l">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8pPr>
            <a:lvl9pPr marL="4114800" lvl="8" indent="-317500" algn="l">
              <a:lnSpc>
                <a:spcPct val="100000"/>
              </a:lnSpc>
              <a:spcBef>
                <a:spcPts val="800"/>
              </a:spcBef>
              <a:spcAft>
                <a:spcPts val="800"/>
              </a:spcAft>
              <a:buClr>
                <a:schemeClr val="dk1"/>
              </a:buClr>
              <a:buSzPts val="1400"/>
              <a:buFont typeface="Cabin"/>
              <a:buChar char="■"/>
              <a:defRPr>
                <a:solidFill>
                  <a:schemeClr val="dk1"/>
                </a:solidFill>
                <a:latin typeface="Cabin"/>
                <a:ea typeface="Cabin"/>
                <a:cs typeface="Cabin"/>
                <a:sym typeface="Cabin"/>
              </a:defRPr>
            </a:lvl9pPr>
          </a:lstStyle>
          <a:p>
            <a:endParaRPr/>
          </a:p>
        </p:txBody>
      </p:sp>
      <p:sp>
        <p:nvSpPr>
          <p:cNvPr id="142" name="Google Shape;142;p35"/>
          <p:cNvSpPr/>
          <p:nvPr/>
        </p:nvSpPr>
        <p:spPr>
          <a:xfrm>
            <a:off x="26725" y="16325"/>
            <a:ext cx="9030000" cy="9234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2400" b="1">
                <a:solidFill>
                  <a:srgbClr val="FFFFFF"/>
                </a:solidFill>
                <a:latin typeface="Cabin"/>
                <a:ea typeface="Cabin"/>
                <a:cs typeface="Cabin"/>
                <a:sym typeface="Cabin"/>
              </a:rPr>
              <a:t> </a:t>
            </a:r>
            <a:endParaRPr sz="2400" b="1">
              <a:solidFill>
                <a:srgbClr val="FFFFFF"/>
              </a:solidFill>
              <a:latin typeface="Cabin"/>
              <a:ea typeface="Cabin"/>
              <a:cs typeface="Cabin"/>
              <a:sym typeface="Cabin"/>
            </a:endParaRPr>
          </a:p>
        </p:txBody>
      </p:sp>
      <p:sp>
        <p:nvSpPr>
          <p:cNvPr id="143" name="Google Shape;143;p35"/>
          <p:cNvSpPr txBox="1">
            <a:spLocks noGrp="1"/>
          </p:cNvSpPr>
          <p:nvPr>
            <p:ph type="title"/>
          </p:nvPr>
        </p:nvSpPr>
        <p:spPr>
          <a:xfrm>
            <a:off x="235425" y="290225"/>
            <a:ext cx="6381600" cy="429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2400"/>
              <a:buFont typeface="Cabin"/>
              <a:buNone/>
              <a:defRPr sz="2400" b="1">
                <a:solidFill>
                  <a:schemeClr val="lt1"/>
                </a:solidFill>
                <a:latin typeface="Cabin"/>
                <a:ea typeface="Cabin"/>
                <a:cs typeface="Cabin"/>
                <a:sym typeface="Cabi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pic>
        <p:nvPicPr>
          <p:cNvPr id="144" name="Google Shape;144;p35"/>
          <p:cNvPicPr preferRelativeResize="0"/>
          <p:nvPr/>
        </p:nvPicPr>
        <p:blipFill rotWithShape="1">
          <a:blip r:embed="rId2">
            <a:alphaModFix/>
          </a:blip>
          <a:srcRect/>
          <a:stretch/>
        </p:blipFill>
        <p:spPr>
          <a:xfrm>
            <a:off x="7740100" y="78975"/>
            <a:ext cx="1251600" cy="4339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5"/>
        <p:cNvGrpSpPr/>
        <p:nvPr/>
      </p:nvGrpSpPr>
      <p:grpSpPr>
        <a:xfrm>
          <a:off x="0" y="0"/>
          <a:ext cx="0" cy="0"/>
          <a:chOff x="0" y="0"/>
          <a:chExt cx="0" cy="0"/>
        </a:xfrm>
      </p:grpSpPr>
      <p:sp>
        <p:nvSpPr>
          <p:cNvPr id="146" name="Google Shape;146;p3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chemeClr val="dk1"/>
              </a:buClr>
              <a:buSzPts val="1400"/>
              <a:buFont typeface="Cabin"/>
              <a:buChar char="●"/>
              <a:defRPr sz="1400">
                <a:solidFill>
                  <a:schemeClr val="dk1"/>
                </a:solidFill>
                <a:latin typeface="Cabin"/>
                <a:ea typeface="Cabin"/>
                <a:cs typeface="Cabin"/>
                <a:sym typeface="Cabin"/>
              </a:defRPr>
            </a:lvl1pPr>
            <a:lvl2pPr marL="914400" lvl="1"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2pPr>
            <a:lvl3pPr marL="1371600" lvl="2"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3pPr>
            <a:lvl4pPr marL="1828800" lvl="3"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4pPr>
            <a:lvl5pPr marL="2286000" lvl="4"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5pPr>
            <a:lvl6pPr marL="2743200" lvl="5"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6pPr>
            <a:lvl7pPr marL="3200400" lvl="6"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7pPr>
            <a:lvl8pPr marL="3657600" lvl="7"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8pPr>
            <a:lvl9pPr marL="4114800" lvl="8" indent="-304800" algn="l">
              <a:lnSpc>
                <a:spcPct val="100000"/>
              </a:lnSpc>
              <a:spcBef>
                <a:spcPts val="800"/>
              </a:spcBef>
              <a:spcAft>
                <a:spcPts val="800"/>
              </a:spcAft>
              <a:buClr>
                <a:schemeClr val="dk1"/>
              </a:buClr>
              <a:buSzPts val="1200"/>
              <a:buFont typeface="Cabin"/>
              <a:buChar char="■"/>
              <a:defRPr sz="1200">
                <a:solidFill>
                  <a:schemeClr val="dk1"/>
                </a:solidFill>
                <a:latin typeface="Cabin"/>
                <a:ea typeface="Cabin"/>
                <a:cs typeface="Cabin"/>
                <a:sym typeface="Cabin"/>
              </a:defRPr>
            </a:lvl9pPr>
          </a:lstStyle>
          <a:p>
            <a:endParaRPr/>
          </a:p>
        </p:txBody>
      </p:sp>
      <p:sp>
        <p:nvSpPr>
          <p:cNvPr id="147" name="Google Shape;147;p3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chemeClr val="dk1"/>
              </a:buClr>
              <a:buSzPts val="1400"/>
              <a:buFont typeface="Cabin"/>
              <a:buChar char="●"/>
              <a:defRPr sz="1400">
                <a:solidFill>
                  <a:schemeClr val="dk1"/>
                </a:solidFill>
                <a:latin typeface="Cabin"/>
                <a:ea typeface="Cabin"/>
                <a:cs typeface="Cabin"/>
                <a:sym typeface="Cabin"/>
              </a:defRPr>
            </a:lvl1pPr>
            <a:lvl2pPr marL="914400" lvl="1"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2pPr>
            <a:lvl3pPr marL="1371600" lvl="2"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3pPr>
            <a:lvl4pPr marL="1828800" lvl="3"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4pPr>
            <a:lvl5pPr marL="2286000" lvl="4"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5pPr>
            <a:lvl6pPr marL="2743200" lvl="5"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6pPr>
            <a:lvl7pPr marL="3200400" lvl="6"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7pPr>
            <a:lvl8pPr marL="3657600" lvl="7"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8pPr>
            <a:lvl9pPr marL="4114800" lvl="8" indent="-304800" algn="l">
              <a:lnSpc>
                <a:spcPct val="100000"/>
              </a:lnSpc>
              <a:spcBef>
                <a:spcPts val="800"/>
              </a:spcBef>
              <a:spcAft>
                <a:spcPts val="800"/>
              </a:spcAft>
              <a:buClr>
                <a:schemeClr val="dk1"/>
              </a:buClr>
              <a:buSzPts val="1200"/>
              <a:buFont typeface="Cabin"/>
              <a:buChar char="■"/>
              <a:defRPr sz="1200">
                <a:solidFill>
                  <a:schemeClr val="dk1"/>
                </a:solidFill>
                <a:latin typeface="Cabin"/>
                <a:ea typeface="Cabin"/>
                <a:cs typeface="Cabin"/>
                <a:sym typeface="Cabin"/>
              </a:defRPr>
            </a:lvl9pPr>
          </a:lstStyle>
          <a:p>
            <a:endParaRPr/>
          </a:p>
        </p:txBody>
      </p:sp>
      <p:sp>
        <p:nvSpPr>
          <p:cNvPr id="148" name="Google Shape;148;p36"/>
          <p:cNvSpPr/>
          <p:nvPr/>
        </p:nvSpPr>
        <p:spPr>
          <a:xfrm>
            <a:off x="26725" y="16325"/>
            <a:ext cx="9030000" cy="9234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2400" b="1">
                <a:solidFill>
                  <a:srgbClr val="FFFFFF"/>
                </a:solidFill>
                <a:latin typeface="Cabin"/>
                <a:ea typeface="Cabin"/>
                <a:cs typeface="Cabin"/>
                <a:sym typeface="Cabin"/>
              </a:rPr>
              <a:t> </a:t>
            </a:r>
            <a:endParaRPr sz="2400" b="1">
              <a:solidFill>
                <a:srgbClr val="FFFFFF"/>
              </a:solidFill>
              <a:latin typeface="Cabin"/>
              <a:ea typeface="Cabin"/>
              <a:cs typeface="Cabin"/>
              <a:sym typeface="Cabin"/>
            </a:endParaRPr>
          </a:p>
        </p:txBody>
      </p:sp>
      <p:pic>
        <p:nvPicPr>
          <p:cNvPr id="149" name="Google Shape;149;p36"/>
          <p:cNvPicPr preferRelativeResize="0"/>
          <p:nvPr/>
        </p:nvPicPr>
        <p:blipFill rotWithShape="1">
          <a:blip r:embed="rId2">
            <a:alphaModFix/>
          </a:blip>
          <a:srcRect/>
          <a:stretch/>
        </p:blipFill>
        <p:spPr>
          <a:xfrm>
            <a:off x="7453650" y="52331"/>
            <a:ext cx="1538044" cy="533194"/>
          </a:xfrm>
          <a:prstGeom prst="rect">
            <a:avLst/>
          </a:prstGeom>
          <a:noFill/>
          <a:ln>
            <a:noFill/>
          </a:ln>
        </p:spPr>
      </p:pic>
      <p:sp>
        <p:nvSpPr>
          <p:cNvPr id="150" name="Google Shape;150;p36"/>
          <p:cNvSpPr txBox="1">
            <a:spLocks noGrp="1"/>
          </p:cNvSpPr>
          <p:nvPr>
            <p:ph type="title"/>
          </p:nvPr>
        </p:nvSpPr>
        <p:spPr>
          <a:xfrm>
            <a:off x="235425" y="290225"/>
            <a:ext cx="6381600" cy="429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2400"/>
              <a:buFont typeface="Cabin"/>
              <a:buNone/>
              <a:defRPr sz="2400" b="1">
                <a:solidFill>
                  <a:schemeClr val="lt1"/>
                </a:solidFill>
                <a:latin typeface="Cabin"/>
                <a:ea typeface="Cabin"/>
                <a:cs typeface="Cabin"/>
                <a:sym typeface="Cabi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ontent slide blank_white" type="titleOnly">
  <p:cSld name="TITLE_ONLY">
    <p:spTree>
      <p:nvGrpSpPr>
        <p:cNvPr id="1" name="Shape 151"/>
        <p:cNvGrpSpPr/>
        <p:nvPr/>
      </p:nvGrpSpPr>
      <p:grpSpPr>
        <a:xfrm>
          <a:off x="0" y="0"/>
          <a:ext cx="0" cy="0"/>
          <a:chOff x="0" y="0"/>
          <a:chExt cx="0" cy="0"/>
        </a:xfrm>
      </p:grpSpPr>
      <p:sp>
        <p:nvSpPr>
          <p:cNvPr id="152" name="Google Shape;152;p37"/>
          <p:cNvSpPr/>
          <p:nvPr/>
        </p:nvSpPr>
        <p:spPr>
          <a:xfrm>
            <a:off x="26725" y="16325"/>
            <a:ext cx="9030000" cy="9234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2400" b="1">
                <a:solidFill>
                  <a:srgbClr val="FFFFFF"/>
                </a:solidFill>
                <a:latin typeface="Cabin"/>
                <a:ea typeface="Cabin"/>
                <a:cs typeface="Cabin"/>
                <a:sym typeface="Cabin"/>
              </a:rPr>
              <a:t> </a:t>
            </a:r>
            <a:endParaRPr sz="2400" b="1">
              <a:solidFill>
                <a:srgbClr val="FFFFFF"/>
              </a:solidFill>
              <a:latin typeface="Cabin"/>
              <a:ea typeface="Cabin"/>
              <a:cs typeface="Cabin"/>
              <a:sym typeface="Cabin"/>
            </a:endParaRPr>
          </a:p>
        </p:txBody>
      </p:sp>
      <p:pic>
        <p:nvPicPr>
          <p:cNvPr id="153" name="Google Shape;153;p37"/>
          <p:cNvPicPr preferRelativeResize="0"/>
          <p:nvPr/>
        </p:nvPicPr>
        <p:blipFill rotWithShape="1">
          <a:blip r:embed="rId2">
            <a:alphaModFix/>
          </a:blip>
          <a:srcRect/>
          <a:stretch/>
        </p:blipFill>
        <p:spPr>
          <a:xfrm>
            <a:off x="7453650" y="52331"/>
            <a:ext cx="1538044" cy="533194"/>
          </a:xfrm>
          <a:prstGeom prst="rect">
            <a:avLst/>
          </a:prstGeom>
          <a:noFill/>
          <a:ln>
            <a:noFill/>
          </a:ln>
        </p:spPr>
      </p:pic>
      <p:sp>
        <p:nvSpPr>
          <p:cNvPr id="154" name="Google Shape;154;p37"/>
          <p:cNvSpPr txBox="1">
            <a:spLocks noGrp="1"/>
          </p:cNvSpPr>
          <p:nvPr>
            <p:ph type="title"/>
          </p:nvPr>
        </p:nvSpPr>
        <p:spPr>
          <a:xfrm>
            <a:off x="235425" y="290225"/>
            <a:ext cx="6381600" cy="429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2400"/>
              <a:buFont typeface="Cabin"/>
              <a:buNone/>
              <a:defRPr sz="2400" b="1">
                <a:solidFill>
                  <a:schemeClr val="lt1"/>
                </a:solidFill>
                <a:latin typeface="Cabin"/>
                <a:ea typeface="Cabin"/>
                <a:cs typeface="Cabin"/>
                <a:sym typeface="Cabi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slide blank_green">
  <p:cSld name="TITLE_ONLY_1">
    <p:bg>
      <p:bgPr>
        <a:solidFill>
          <a:srgbClr val="80CBBC"/>
        </a:solidFill>
        <a:effectLst/>
      </p:bgPr>
    </p:bg>
    <p:spTree>
      <p:nvGrpSpPr>
        <p:cNvPr id="1" name="Shape 155"/>
        <p:cNvGrpSpPr/>
        <p:nvPr/>
      </p:nvGrpSpPr>
      <p:grpSpPr>
        <a:xfrm>
          <a:off x="0" y="0"/>
          <a:ext cx="0" cy="0"/>
          <a:chOff x="0" y="0"/>
          <a:chExt cx="0" cy="0"/>
        </a:xfrm>
      </p:grpSpPr>
      <p:sp>
        <p:nvSpPr>
          <p:cNvPr id="156" name="Google Shape;156;p38"/>
          <p:cNvSpPr/>
          <p:nvPr/>
        </p:nvSpPr>
        <p:spPr>
          <a:xfrm>
            <a:off x="26725" y="16325"/>
            <a:ext cx="9030000" cy="9234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2400" b="1">
                <a:solidFill>
                  <a:srgbClr val="FFFFFF"/>
                </a:solidFill>
                <a:latin typeface="Cabin"/>
                <a:ea typeface="Cabin"/>
                <a:cs typeface="Cabin"/>
                <a:sym typeface="Cabin"/>
              </a:rPr>
              <a:t> </a:t>
            </a:r>
            <a:endParaRPr sz="2400" b="1">
              <a:solidFill>
                <a:srgbClr val="FFFFFF"/>
              </a:solidFill>
              <a:latin typeface="Cabin"/>
              <a:ea typeface="Cabin"/>
              <a:cs typeface="Cabin"/>
              <a:sym typeface="Cabin"/>
            </a:endParaRPr>
          </a:p>
        </p:txBody>
      </p:sp>
      <p:pic>
        <p:nvPicPr>
          <p:cNvPr id="157" name="Google Shape;157;p38"/>
          <p:cNvPicPr preferRelativeResize="0"/>
          <p:nvPr/>
        </p:nvPicPr>
        <p:blipFill rotWithShape="1">
          <a:blip r:embed="rId2">
            <a:alphaModFix/>
          </a:blip>
          <a:srcRect/>
          <a:stretch/>
        </p:blipFill>
        <p:spPr>
          <a:xfrm>
            <a:off x="7453650" y="52331"/>
            <a:ext cx="1538044" cy="533194"/>
          </a:xfrm>
          <a:prstGeom prst="rect">
            <a:avLst/>
          </a:prstGeom>
          <a:noFill/>
          <a:ln>
            <a:noFill/>
          </a:ln>
        </p:spPr>
      </p:pic>
      <p:sp>
        <p:nvSpPr>
          <p:cNvPr id="158" name="Google Shape;158;p38"/>
          <p:cNvSpPr txBox="1">
            <a:spLocks noGrp="1"/>
          </p:cNvSpPr>
          <p:nvPr>
            <p:ph type="title"/>
          </p:nvPr>
        </p:nvSpPr>
        <p:spPr>
          <a:xfrm>
            <a:off x="235425" y="290225"/>
            <a:ext cx="6381600" cy="429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2400"/>
              <a:buFont typeface="Cabin"/>
              <a:buNone/>
              <a:defRPr sz="2400" b="1">
                <a:solidFill>
                  <a:schemeClr val="lt1"/>
                </a:solidFill>
                <a:latin typeface="Cabin"/>
                <a:ea typeface="Cabin"/>
                <a:cs typeface="Cabin"/>
                <a:sym typeface="Cabi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tent slide blank_light green">
  <p:cSld name="TITLE_ONLY_1_1">
    <p:bg>
      <p:bgPr>
        <a:solidFill>
          <a:srgbClr val="E6F4F1"/>
        </a:solidFill>
        <a:effectLst/>
      </p:bgPr>
    </p:bg>
    <p:spTree>
      <p:nvGrpSpPr>
        <p:cNvPr id="1" name="Shape 159"/>
        <p:cNvGrpSpPr/>
        <p:nvPr/>
      </p:nvGrpSpPr>
      <p:grpSpPr>
        <a:xfrm>
          <a:off x="0" y="0"/>
          <a:ext cx="0" cy="0"/>
          <a:chOff x="0" y="0"/>
          <a:chExt cx="0" cy="0"/>
        </a:xfrm>
      </p:grpSpPr>
      <p:sp>
        <p:nvSpPr>
          <p:cNvPr id="160" name="Google Shape;160;p39"/>
          <p:cNvSpPr/>
          <p:nvPr/>
        </p:nvSpPr>
        <p:spPr>
          <a:xfrm>
            <a:off x="26725" y="16325"/>
            <a:ext cx="9030000" cy="9234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2400" b="1">
                <a:solidFill>
                  <a:srgbClr val="FFFFFF"/>
                </a:solidFill>
                <a:latin typeface="Cabin"/>
                <a:ea typeface="Cabin"/>
                <a:cs typeface="Cabin"/>
                <a:sym typeface="Cabin"/>
              </a:rPr>
              <a:t> </a:t>
            </a:r>
            <a:endParaRPr sz="2400" b="1">
              <a:solidFill>
                <a:srgbClr val="FFFFFF"/>
              </a:solidFill>
              <a:latin typeface="Cabin"/>
              <a:ea typeface="Cabin"/>
              <a:cs typeface="Cabin"/>
              <a:sym typeface="Cabin"/>
            </a:endParaRPr>
          </a:p>
        </p:txBody>
      </p:sp>
      <p:pic>
        <p:nvPicPr>
          <p:cNvPr id="161" name="Google Shape;161;p39"/>
          <p:cNvPicPr preferRelativeResize="0"/>
          <p:nvPr/>
        </p:nvPicPr>
        <p:blipFill rotWithShape="1">
          <a:blip r:embed="rId2">
            <a:alphaModFix/>
          </a:blip>
          <a:srcRect/>
          <a:stretch/>
        </p:blipFill>
        <p:spPr>
          <a:xfrm>
            <a:off x="7453650" y="52331"/>
            <a:ext cx="1538044" cy="533194"/>
          </a:xfrm>
          <a:prstGeom prst="rect">
            <a:avLst/>
          </a:prstGeom>
          <a:noFill/>
          <a:ln>
            <a:noFill/>
          </a:ln>
        </p:spPr>
      </p:pic>
      <p:sp>
        <p:nvSpPr>
          <p:cNvPr id="162" name="Google Shape;162;p39"/>
          <p:cNvSpPr txBox="1">
            <a:spLocks noGrp="1"/>
          </p:cNvSpPr>
          <p:nvPr>
            <p:ph type="title"/>
          </p:nvPr>
        </p:nvSpPr>
        <p:spPr>
          <a:xfrm>
            <a:off x="235425" y="290225"/>
            <a:ext cx="6381600" cy="429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2400"/>
              <a:buFont typeface="Cabin"/>
              <a:buNone/>
              <a:defRPr sz="2400" b="1">
                <a:solidFill>
                  <a:schemeClr val="lt1"/>
                </a:solidFill>
                <a:latin typeface="Cabin"/>
                <a:ea typeface="Cabin"/>
                <a:cs typeface="Cabin"/>
                <a:sym typeface="Cabi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3"/>
        <p:cNvGrpSpPr/>
        <p:nvPr/>
      </p:nvGrpSpPr>
      <p:grpSpPr>
        <a:xfrm>
          <a:off x="0" y="0"/>
          <a:ext cx="0" cy="0"/>
          <a:chOff x="0" y="0"/>
          <a:chExt cx="0" cy="0"/>
        </a:xfrm>
      </p:grpSpPr>
      <p:sp>
        <p:nvSpPr>
          <p:cNvPr id="164" name="Google Shape;164;p4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1pPr>
            <a:lvl2pPr marL="914400" lvl="1"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2pPr>
            <a:lvl3pPr marL="1371600" lvl="2"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3pPr>
            <a:lvl4pPr marL="1828800" lvl="3"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4pPr>
            <a:lvl5pPr marL="2286000" lvl="4"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5pPr>
            <a:lvl6pPr marL="2743200" lvl="5"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6pPr>
            <a:lvl7pPr marL="3200400" lvl="6"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7pPr>
            <a:lvl8pPr marL="3657600" lvl="7" indent="-304800" algn="l">
              <a:lnSpc>
                <a:spcPct val="100000"/>
              </a:lnSpc>
              <a:spcBef>
                <a:spcPts val="800"/>
              </a:spcBef>
              <a:spcAft>
                <a:spcPts val="0"/>
              </a:spcAft>
              <a:buClr>
                <a:schemeClr val="dk1"/>
              </a:buClr>
              <a:buSzPts val="1200"/>
              <a:buFont typeface="Cabin"/>
              <a:buChar char="○"/>
              <a:defRPr sz="1200">
                <a:solidFill>
                  <a:schemeClr val="dk1"/>
                </a:solidFill>
                <a:latin typeface="Cabin"/>
                <a:ea typeface="Cabin"/>
                <a:cs typeface="Cabin"/>
                <a:sym typeface="Cabin"/>
              </a:defRPr>
            </a:lvl8pPr>
            <a:lvl9pPr marL="4114800" lvl="8" indent="-304800" algn="l">
              <a:lnSpc>
                <a:spcPct val="100000"/>
              </a:lnSpc>
              <a:spcBef>
                <a:spcPts val="800"/>
              </a:spcBef>
              <a:spcAft>
                <a:spcPts val="800"/>
              </a:spcAft>
              <a:buClr>
                <a:schemeClr val="dk1"/>
              </a:buClr>
              <a:buSzPts val="1200"/>
              <a:buFont typeface="Cabin"/>
              <a:buChar char="■"/>
              <a:defRPr sz="1200">
                <a:solidFill>
                  <a:schemeClr val="dk1"/>
                </a:solidFill>
                <a:latin typeface="Cabin"/>
                <a:ea typeface="Cabin"/>
                <a:cs typeface="Cabin"/>
                <a:sym typeface="Cabin"/>
              </a:defRPr>
            </a:lvl9pPr>
          </a:lstStyle>
          <a:p>
            <a:endParaRPr/>
          </a:p>
        </p:txBody>
      </p:sp>
      <p:sp>
        <p:nvSpPr>
          <p:cNvPr id="165" name="Google Shape;165;p40"/>
          <p:cNvSpPr/>
          <p:nvPr/>
        </p:nvSpPr>
        <p:spPr>
          <a:xfrm>
            <a:off x="26725" y="16325"/>
            <a:ext cx="9030000" cy="9234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2400" b="1">
                <a:solidFill>
                  <a:srgbClr val="FFFFFF"/>
                </a:solidFill>
                <a:latin typeface="Cabin"/>
                <a:ea typeface="Cabin"/>
                <a:cs typeface="Cabin"/>
                <a:sym typeface="Cabin"/>
              </a:rPr>
              <a:t> </a:t>
            </a:r>
            <a:endParaRPr sz="2400" b="1">
              <a:solidFill>
                <a:srgbClr val="FFFFFF"/>
              </a:solidFill>
              <a:latin typeface="Cabin"/>
              <a:ea typeface="Cabin"/>
              <a:cs typeface="Cabin"/>
              <a:sym typeface="Cabin"/>
            </a:endParaRPr>
          </a:p>
        </p:txBody>
      </p:sp>
      <p:pic>
        <p:nvPicPr>
          <p:cNvPr id="166" name="Google Shape;166;p40"/>
          <p:cNvPicPr preferRelativeResize="0"/>
          <p:nvPr/>
        </p:nvPicPr>
        <p:blipFill rotWithShape="1">
          <a:blip r:embed="rId2">
            <a:alphaModFix/>
          </a:blip>
          <a:srcRect/>
          <a:stretch/>
        </p:blipFill>
        <p:spPr>
          <a:xfrm>
            <a:off x="7453650" y="52331"/>
            <a:ext cx="1538044" cy="533194"/>
          </a:xfrm>
          <a:prstGeom prst="rect">
            <a:avLst/>
          </a:prstGeom>
          <a:noFill/>
          <a:ln>
            <a:noFill/>
          </a:ln>
        </p:spPr>
      </p:pic>
      <p:sp>
        <p:nvSpPr>
          <p:cNvPr id="167" name="Google Shape;167;p40"/>
          <p:cNvSpPr txBox="1">
            <a:spLocks noGrp="1"/>
          </p:cNvSpPr>
          <p:nvPr>
            <p:ph type="title"/>
          </p:nvPr>
        </p:nvSpPr>
        <p:spPr>
          <a:xfrm>
            <a:off x="235425" y="290225"/>
            <a:ext cx="6381600" cy="429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2400"/>
              <a:buFont typeface="Cabin"/>
              <a:buNone/>
              <a:defRPr sz="2400" b="1">
                <a:solidFill>
                  <a:schemeClr val="lt1"/>
                </a:solidFill>
                <a:latin typeface="Cabin"/>
                <a:ea typeface="Cabin"/>
                <a:cs typeface="Cabin"/>
                <a:sym typeface="Cabi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8"/>
        <p:cNvGrpSpPr/>
        <p:nvPr/>
      </p:nvGrpSpPr>
      <p:grpSpPr>
        <a:xfrm>
          <a:off x="0" y="0"/>
          <a:ext cx="0" cy="0"/>
          <a:chOff x="0" y="0"/>
          <a:chExt cx="0" cy="0"/>
        </a:xfrm>
      </p:grpSpPr>
      <p:sp>
        <p:nvSpPr>
          <p:cNvPr id="169" name="Google Shape;169;p4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4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1B786E"/>
              </a:buClr>
              <a:buSzPts val="4200"/>
              <a:buFont typeface="Cabin"/>
              <a:buNone/>
              <a:defRPr sz="4200" b="1">
                <a:solidFill>
                  <a:srgbClr val="1B786E"/>
                </a:solidFill>
                <a:latin typeface="Cabin"/>
                <a:ea typeface="Cabin"/>
                <a:cs typeface="Cabin"/>
                <a:sym typeface="Cabin"/>
              </a:defRPr>
            </a:lvl1pPr>
            <a:lvl2pPr lvl="1" algn="ctr">
              <a:lnSpc>
                <a:spcPct val="100000"/>
              </a:lnSpc>
              <a:spcBef>
                <a:spcPts val="0"/>
              </a:spcBef>
              <a:spcAft>
                <a:spcPts val="0"/>
              </a:spcAft>
              <a:buClr>
                <a:srgbClr val="1B786E"/>
              </a:buClr>
              <a:buSzPts val="4200"/>
              <a:buFont typeface="Cabin"/>
              <a:buNone/>
              <a:defRPr sz="4200" b="1">
                <a:solidFill>
                  <a:srgbClr val="1B786E"/>
                </a:solidFill>
                <a:latin typeface="Cabin"/>
                <a:ea typeface="Cabin"/>
                <a:cs typeface="Cabin"/>
                <a:sym typeface="Cabin"/>
              </a:defRPr>
            </a:lvl2pPr>
            <a:lvl3pPr lvl="2" algn="ctr">
              <a:lnSpc>
                <a:spcPct val="100000"/>
              </a:lnSpc>
              <a:spcBef>
                <a:spcPts val="0"/>
              </a:spcBef>
              <a:spcAft>
                <a:spcPts val="0"/>
              </a:spcAft>
              <a:buClr>
                <a:srgbClr val="1B786E"/>
              </a:buClr>
              <a:buSzPts val="4200"/>
              <a:buFont typeface="Cabin"/>
              <a:buNone/>
              <a:defRPr sz="4200" b="1">
                <a:solidFill>
                  <a:srgbClr val="1B786E"/>
                </a:solidFill>
                <a:latin typeface="Cabin"/>
                <a:ea typeface="Cabin"/>
                <a:cs typeface="Cabin"/>
                <a:sym typeface="Cabin"/>
              </a:defRPr>
            </a:lvl3pPr>
            <a:lvl4pPr lvl="3" algn="ctr">
              <a:lnSpc>
                <a:spcPct val="100000"/>
              </a:lnSpc>
              <a:spcBef>
                <a:spcPts val="0"/>
              </a:spcBef>
              <a:spcAft>
                <a:spcPts val="0"/>
              </a:spcAft>
              <a:buClr>
                <a:srgbClr val="1B786E"/>
              </a:buClr>
              <a:buSzPts val="4200"/>
              <a:buFont typeface="Cabin"/>
              <a:buNone/>
              <a:defRPr sz="4200" b="1">
                <a:solidFill>
                  <a:srgbClr val="1B786E"/>
                </a:solidFill>
                <a:latin typeface="Cabin"/>
                <a:ea typeface="Cabin"/>
                <a:cs typeface="Cabin"/>
                <a:sym typeface="Cabin"/>
              </a:defRPr>
            </a:lvl4pPr>
            <a:lvl5pPr lvl="4" algn="ctr">
              <a:lnSpc>
                <a:spcPct val="100000"/>
              </a:lnSpc>
              <a:spcBef>
                <a:spcPts val="0"/>
              </a:spcBef>
              <a:spcAft>
                <a:spcPts val="0"/>
              </a:spcAft>
              <a:buClr>
                <a:srgbClr val="1B786E"/>
              </a:buClr>
              <a:buSzPts val="4200"/>
              <a:buFont typeface="Cabin"/>
              <a:buNone/>
              <a:defRPr sz="4200" b="1">
                <a:solidFill>
                  <a:srgbClr val="1B786E"/>
                </a:solidFill>
                <a:latin typeface="Cabin"/>
                <a:ea typeface="Cabin"/>
                <a:cs typeface="Cabin"/>
                <a:sym typeface="Cabin"/>
              </a:defRPr>
            </a:lvl5pPr>
            <a:lvl6pPr lvl="5" algn="ctr">
              <a:lnSpc>
                <a:spcPct val="100000"/>
              </a:lnSpc>
              <a:spcBef>
                <a:spcPts val="0"/>
              </a:spcBef>
              <a:spcAft>
                <a:spcPts val="0"/>
              </a:spcAft>
              <a:buClr>
                <a:srgbClr val="1B786E"/>
              </a:buClr>
              <a:buSzPts val="4200"/>
              <a:buFont typeface="Cabin"/>
              <a:buNone/>
              <a:defRPr sz="4200" b="1">
                <a:solidFill>
                  <a:srgbClr val="1B786E"/>
                </a:solidFill>
                <a:latin typeface="Cabin"/>
                <a:ea typeface="Cabin"/>
                <a:cs typeface="Cabin"/>
                <a:sym typeface="Cabin"/>
              </a:defRPr>
            </a:lvl6pPr>
            <a:lvl7pPr lvl="6" algn="ctr">
              <a:lnSpc>
                <a:spcPct val="100000"/>
              </a:lnSpc>
              <a:spcBef>
                <a:spcPts val="0"/>
              </a:spcBef>
              <a:spcAft>
                <a:spcPts val="0"/>
              </a:spcAft>
              <a:buClr>
                <a:srgbClr val="1B786E"/>
              </a:buClr>
              <a:buSzPts val="4200"/>
              <a:buFont typeface="Cabin"/>
              <a:buNone/>
              <a:defRPr sz="4200" b="1">
                <a:solidFill>
                  <a:srgbClr val="1B786E"/>
                </a:solidFill>
                <a:latin typeface="Cabin"/>
                <a:ea typeface="Cabin"/>
                <a:cs typeface="Cabin"/>
                <a:sym typeface="Cabin"/>
              </a:defRPr>
            </a:lvl7pPr>
            <a:lvl8pPr lvl="7" algn="ctr">
              <a:lnSpc>
                <a:spcPct val="100000"/>
              </a:lnSpc>
              <a:spcBef>
                <a:spcPts val="0"/>
              </a:spcBef>
              <a:spcAft>
                <a:spcPts val="0"/>
              </a:spcAft>
              <a:buClr>
                <a:srgbClr val="1B786E"/>
              </a:buClr>
              <a:buSzPts val="4200"/>
              <a:buFont typeface="Cabin"/>
              <a:buNone/>
              <a:defRPr sz="4200" b="1">
                <a:solidFill>
                  <a:srgbClr val="1B786E"/>
                </a:solidFill>
                <a:latin typeface="Cabin"/>
                <a:ea typeface="Cabin"/>
                <a:cs typeface="Cabin"/>
                <a:sym typeface="Cabin"/>
              </a:defRPr>
            </a:lvl8pPr>
            <a:lvl9pPr lvl="8" algn="ctr">
              <a:lnSpc>
                <a:spcPct val="100000"/>
              </a:lnSpc>
              <a:spcBef>
                <a:spcPts val="0"/>
              </a:spcBef>
              <a:spcAft>
                <a:spcPts val="0"/>
              </a:spcAft>
              <a:buClr>
                <a:srgbClr val="1B786E"/>
              </a:buClr>
              <a:buSzPts val="4200"/>
              <a:buFont typeface="Cabin"/>
              <a:buNone/>
              <a:defRPr sz="4200" b="1">
                <a:solidFill>
                  <a:srgbClr val="1B786E"/>
                </a:solidFill>
                <a:latin typeface="Cabin"/>
                <a:ea typeface="Cabin"/>
                <a:cs typeface="Cabin"/>
                <a:sym typeface="Cabin"/>
              </a:defRPr>
            </a:lvl9pPr>
          </a:lstStyle>
          <a:p>
            <a:endParaRPr/>
          </a:p>
        </p:txBody>
      </p:sp>
      <p:sp>
        <p:nvSpPr>
          <p:cNvPr id="171" name="Google Shape;171;p4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1pPr>
            <a:lvl2pPr lvl="1"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2pPr>
            <a:lvl3pPr lvl="2"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3pPr>
            <a:lvl4pPr lvl="3"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4pPr>
            <a:lvl5pPr lvl="4"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5pPr>
            <a:lvl6pPr lvl="5"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6pPr>
            <a:lvl7pPr lvl="6"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7pPr>
            <a:lvl8pPr lvl="7"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8pPr>
            <a:lvl9pPr lvl="8"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9pPr>
          </a:lstStyle>
          <a:p>
            <a:endParaRPr/>
          </a:p>
        </p:txBody>
      </p:sp>
      <p:sp>
        <p:nvSpPr>
          <p:cNvPr id="172" name="Google Shape;172;p4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00000"/>
              </a:lnSpc>
              <a:spcBef>
                <a:spcPts val="0"/>
              </a:spcBef>
              <a:spcAft>
                <a:spcPts val="0"/>
              </a:spcAft>
              <a:buClr>
                <a:schemeClr val="dk1"/>
              </a:buClr>
              <a:buSzPts val="1800"/>
              <a:buFont typeface="Cabin"/>
              <a:buChar char="●"/>
              <a:defRPr>
                <a:solidFill>
                  <a:schemeClr val="dk1"/>
                </a:solidFill>
                <a:latin typeface="Cabin"/>
                <a:ea typeface="Cabin"/>
                <a:cs typeface="Cabin"/>
                <a:sym typeface="Cabin"/>
              </a:defRPr>
            </a:lvl1pPr>
            <a:lvl2pPr marL="914400" lvl="1" indent="-317500" algn="l">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2pPr>
            <a:lvl3pPr marL="1371600" lvl="2" indent="-317500" algn="l">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3pPr>
            <a:lvl4pPr marL="1828800" lvl="3" indent="-317500" algn="l">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4pPr>
            <a:lvl5pPr marL="2286000" lvl="4" indent="-317500" algn="l">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5pPr>
            <a:lvl6pPr marL="2743200" lvl="5" indent="-317500" algn="l">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6pPr>
            <a:lvl7pPr marL="3200400" lvl="6" indent="-317500" algn="l">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7pPr>
            <a:lvl8pPr marL="3657600" lvl="7" indent="-317500" algn="l">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8pPr>
            <a:lvl9pPr marL="4114800" lvl="8" indent="-317500" algn="l">
              <a:lnSpc>
                <a:spcPct val="100000"/>
              </a:lnSpc>
              <a:spcBef>
                <a:spcPts val="800"/>
              </a:spcBef>
              <a:spcAft>
                <a:spcPts val="800"/>
              </a:spcAft>
              <a:buClr>
                <a:schemeClr val="dk1"/>
              </a:buClr>
              <a:buSzPts val="1400"/>
              <a:buFont typeface="Cabin"/>
              <a:buChar char="■"/>
              <a:defRPr>
                <a:solidFill>
                  <a:schemeClr val="dk1"/>
                </a:solidFill>
                <a:latin typeface="Cabin"/>
                <a:ea typeface="Cabin"/>
                <a:cs typeface="Cabin"/>
                <a:sym typeface="Cabin"/>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73"/>
        <p:cNvGrpSpPr/>
        <p:nvPr/>
      </p:nvGrpSpPr>
      <p:grpSpPr>
        <a:xfrm>
          <a:off x="0" y="0"/>
          <a:ext cx="0" cy="0"/>
          <a:chOff x="0" y="0"/>
          <a:chExt cx="0" cy="0"/>
        </a:xfrm>
      </p:grpSpPr>
      <p:sp>
        <p:nvSpPr>
          <p:cNvPr id="174" name="Google Shape;174;p4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1B786E"/>
              </a:buClr>
              <a:buSzPts val="12000"/>
              <a:buFont typeface="Cabin"/>
              <a:buNone/>
              <a:defRPr sz="12000">
                <a:solidFill>
                  <a:srgbClr val="1B786E"/>
                </a:solidFill>
                <a:latin typeface="Cabin"/>
                <a:ea typeface="Cabin"/>
                <a:cs typeface="Cabin"/>
                <a:sym typeface="Cabin"/>
              </a:defRPr>
            </a:lvl1pPr>
            <a:lvl2pPr lvl="1" algn="ctr">
              <a:lnSpc>
                <a:spcPct val="100000"/>
              </a:lnSpc>
              <a:spcBef>
                <a:spcPts val="0"/>
              </a:spcBef>
              <a:spcAft>
                <a:spcPts val="0"/>
              </a:spcAft>
              <a:buSzPts val="12000"/>
              <a:buFont typeface="Cabin"/>
              <a:buNone/>
              <a:defRPr sz="12000">
                <a:latin typeface="Cabin"/>
                <a:ea typeface="Cabin"/>
                <a:cs typeface="Cabin"/>
                <a:sym typeface="Cabin"/>
              </a:defRPr>
            </a:lvl2pPr>
            <a:lvl3pPr lvl="2" algn="ctr">
              <a:lnSpc>
                <a:spcPct val="100000"/>
              </a:lnSpc>
              <a:spcBef>
                <a:spcPts val="0"/>
              </a:spcBef>
              <a:spcAft>
                <a:spcPts val="0"/>
              </a:spcAft>
              <a:buSzPts val="12000"/>
              <a:buFont typeface="Cabin"/>
              <a:buNone/>
              <a:defRPr sz="12000">
                <a:latin typeface="Cabin"/>
                <a:ea typeface="Cabin"/>
                <a:cs typeface="Cabin"/>
                <a:sym typeface="Cabin"/>
              </a:defRPr>
            </a:lvl3pPr>
            <a:lvl4pPr lvl="3" algn="ctr">
              <a:lnSpc>
                <a:spcPct val="100000"/>
              </a:lnSpc>
              <a:spcBef>
                <a:spcPts val="0"/>
              </a:spcBef>
              <a:spcAft>
                <a:spcPts val="0"/>
              </a:spcAft>
              <a:buSzPts val="12000"/>
              <a:buFont typeface="Cabin"/>
              <a:buNone/>
              <a:defRPr sz="12000">
                <a:latin typeface="Cabin"/>
                <a:ea typeface="Cabin"/>
                <a:cs typeface="Cabin"/>
                <a:sym typeface="Cabin"/>
              </a:defRPr>
            </a:lvl4pPr>
            <a:lvl5pPr lvl="4" algn="ctr">
              <a:lnSpc>
                <a:spcPct val="100000"/>
              </a:lnSpc>
              <a:spcBef>
                <a:spcPts val="0"/>
              </a:spcBef>
              <a:spcAft>
                <a:spcPts val="0"/>
              </a:spcAft>
              <a:buSzPts val="12000"/>
              <a:buFont typeface="Cabin"/>
              <a:buNone/>
              <a:defRPr sz="12000">
                <a:latin typeface="Cabin"/>
                <a:ea typeface="Cabin"/>
                <a:cs typeface="Cabin"/>
                <a:sym typeface="Cabin"/>
              </a:defRPr>
            </a:lvl5pPr>
            <a:lvl6pPr lvl="5" algn="ctr">
              <a:lnSpc>
                <a:spcPct val="100000"/>
              </a:lnSpc>
              <a:spcBef>
                <a:spcPts val="0"/>
              </a:spcBef>
              <a:spcAft>
                <a:spcPts val="0"/>
              </a:spcAft>
              <a:buSzPts val="12000"/>
              <a:buFont typeface="Cabin"/>
              <a:buNone/>
              <a:defRPr sz="12000">
                <a:latin typeface="Cabin"/>
                <a:ea typeface="Cabin"/>
                <a:cs typeface="Cabin"/>
                <a:sym typeface="Cabin"/>
              </a:defRPr>
            </a:lvl6pPr>
            <a:lvl7pPr lvl="6" algn="ctr">
              <a:lnSpc>
                <a:spcPct val="100000"/>
              </a:lnSpc>
              <a:spcBef>
                <a:spcPts val="0"/>
              </a:spcBef>
              <a:spcAft>
                <a:spcPts val="0"/>
              </a:spcAft>
              <a:buSzPts val="12000"/>
              <a:buFont typeface="Cabin"/>
              <a:buNone/>
              <a:defRPr sz="12000">
                <a:latin typeface="Cabin"/>
                <a:ea typeface="Cabin"/>
                <a:cs typeface="Cabin"/>
                <a:sym typeface="Cabin"/>
              </a:defRPr>
            </a:lvl7pPr>
            <a:lvl8pPr lvl="7" algn="ctr">
              <a:lnSpc>
                <a:spcPct val="100000"/>
              </a:lnSpc>
              <a:spcBef>
                <a:spcPts val="0"/>
              </a:spcBef>
              <a:spcAft>
                <a:spcPts val="0"/>
              </a:spcAft>
              <a:buSzPts val="12000"/>
              <a:buFont typeface="Cabin"/>
              <a:buNone/>
              <a:defRPr sz="12000">
                <a:latin typeface="Cabin"/>
                <a:ea typeface="Cabin"/>
                <a:cs typeface="Cabin"/>
                <a:sym typeface="Cabin"/>
              </a:defRPr>
            </a:lvl8pPr>
            <a:lvl9pPr lvl="8" algn="ctr">
              <a:lnSpc>
                <a:spcPct val="100000"/>
              </a:lnSpc>
              <a:spcBef>
                <a:spcPts val="0"/>
              </a:spcBef>
              <a:spcAft>
                <a:spcPts val="0"/>
              </a:spcAft>
              <a:buSzPts val="12000"/>
              <a:buFont typeface="Cabin"/>
              <a:buNone/>
              <a:defRPr sz="12000">
                <a:latin typeface="Cabin"/>
                <a:ea typeface="Cabin"/>
                <a:cs typeface="Cabin"/>
                <a:sym typeface="Cabin"/>
              </a:defRPr>
            </a:lvl9pPr>
          </a:lstStyle>
          <a:p>
            <a:r>
              <a:t>xx%</a:t>
            </a:r>
          </a:p>
        </p:txBody>
      </p:sp>
      <p:sp>
        <p:nvSpPr>
          <p:cNvPr id="175" name="Google Shape;175;p4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00000"/>
              </a:lnSpc>
              <a:spcBef>
                <a:spcPts val="0"/>
              </a:spcBef>
              <a:spcAft>
                <a:spcPts val="0"/>
              </a:spcAft>
              <a:buClr>
                <a:schemeClr val="dk1"/>
              </a:buClr>
              <a:buSzPts val="1800"/>
              <a:buFont typeface="Cabin"/>
              <a:buChar char="●"/>
              <a:defRPr>
                <a:solidFill>
                  <a:schemeClr val="dk1"/>
                </a:solidFill>
                <a:latin typeface="Cabin"/>
                <a:ea typeface="Cabin"/>
                <a:cs typeface="Cabin"/>
                <a:sym typeface="Cabin"/>
              </a:defRPr>
            </a:lvl1pPr>
            <a:lvl2pPr marL="914400" lvl="1" indent="-317500" algn="ctr">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2pPr>
            <a:lvl3pPr marL="1371600" lvl="2" indent="-317500" algn="ctr">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3pPr>
            <a:lvl4pPr marL="1828800" lvl="3" indent="-317500" algn="ctr">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4pPr>
            <a:lvl5pPr marL="2286000" lvl="4" indent="-317500" algn="ctr">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5pPr>
            <a:lvl6pPr marL="2743200" lvl="5" indent="-317500" algn="ctr">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6pPr>
            <a:lvl7pPr marL="3200400" lvl="6" indent="-317500" algn="ctr">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7pPr>
            <a:lvl8pPr marL="3657600" lvl="7" indent="-317500" algn="ctr">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8pPr>
            <a:lvl9pPr marL="4114800" lvl="8" indent="-317500" algn="ctr">
              <a:lnSpc>
                <a:spcPct val="100000"/>
              </a:lnSpc>
              <a:spcBef>
                <a:spcPts val="800"/>
              </a:spcBef>
              <a:spcAft>
                <a:spcPts val="800"/>
              </a:spcAft>
              <a:buClr>
                <a:schemeClr val="dk1"/>
              </a:buClr>
              <a:buSzPts val="1400"/>
              <a:buFont typeface="Cabin"/>
              <a:buChar char="■"/>
              <a:defRPr>
                <a:solidFill>
                  <a:schemeClr val="dk1"/>
                </a:solidFill>
                <a:latin typeface="Cabin"/>
                <a:ea typeface="Cabin"/>
                <a:cs typeface="Cabin"/>
                <a:sym typeface="Cabin"/>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6"/>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ontact slide">
  <p:cSld name="BLANK_1">
    <p:bg>
      <p:bgPr>
        <a:solidFill>
          <a:srgbClr val="D6ECE8"/>
        </a:solidFill>
        <a:effectLst/>
      </p:bgPr>
    </p:bg>
    <p:spTree>
      <p:nvGrpSpPr>
        <p:cNvPr id="1" name="Shape 177"/>
        <p:cNvGrpSpPr/>
        <p:nvPr/>
      </p:nvGrpSpPr>
      <p:grpSpPr>
        <a:xfrm>
          <a:off x="0" y="0"/>
          <a:ext cx="0" cy="0"/>
          <a:chOff x="0" y="0"/>
          <a:chExt cx="0" cy="0"/>
        </a:xfrm>
      </p:grpSpPr>
      <p:sp>
        <p:nvSpPr>
          <p:cNvPr id="178" name="Google Shape;178;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79" name="Google Shape;179;p44"/>
          <p:cNvPicPr preferRelativeResize="0"/>
          <p:nvPr/>
        </p:nvPicPr>
        <p:blipFill rotWithShape="1">
          <a:blip r:embed="rId2">
            <a:alphaModFix/>
          </a:blip>
          <a:srcRect t="10929"/>
          <a:stretch/>
        </p:blipFill>
        <p:spPr>
          <a:xfrm>
            <a:off x="-27196" y="332508"/>
            <a:ext cx="9171194" cy="4810992"/>
          </a:xfrm>
          <a:prstGeom prst="rect">
            <a:avLst/>
          </a:prstGeom>
          <a:solidFill>
            <a:srgbClr val="D7ECE8"/>
          </a:solidFill>
          <a:ln>
            <a:noFill/>
          </a:ln>
        </p:spPr>
      </p:pic>
      <p:sp>
        <p:nvSpPr>
          <p:cNvPr id="180" name="Google Shape;180;p44"/>
          <p:cNvSpPr txBox="1"/>
          <p:nvPr/>
        </p:nvSpPr>
        <p:spPr>
          <a:xfrm>
            <a:off x="-25546" y="-83130"/>
            <a:ext cx="6016800" cy="2124000"/>
          </a:xfrm>
          <a:prstGeom prst="rect">
            <a:avLst/>
          </a:prstGeom>
          <a:solidFill>
            <a:srgbClr val="D6ECE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81" name="Google Shape;181;p44"/>
          <p:cNvPicPr preferRelativeResize="0"/>
          <p:nvPr/>
        </p:nvPicPr>
        <p:blipFill rotWithShape="1">
          <a:blip r:embed="rId3">
            <a:alphaModFix/>
          </a:blip>
          <a:srcRect/>
          <a:stretch/>
        </p:blipFill>
        <p:spPr>
          <a:xfrm>
            <a:off x="157842" y="28575"/>
            <a:ext cx="3790703" cy="1329170"/>
          </a:xfrm>
          <a:prstGeom prst="rect">
            <a:avLst/>
          </a:prstGeom>
          <a:noFill/>
          <a:ln>
            <a:noFill/>
          </a:ln>
        </p:spPr>
      </p:pic>
      <p:sp>
        <p:nvSpPr>
          <p:cNvPr id="182" name="Google Shape;182;p44"/>
          <p:cNvSpPr/>
          <p:nvPr/>
        </p:nvSpPr>
        <p:spPr>
          <a:xfrm>
            <a:off x="250625" y="1357750"/>
            <a:ext cx="7157400" cy="704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2300" b="1" u="sng">
                <a:solidFill>
                  <a:schemeClr val="hlink"/>
                </a:solidFill>
                <a:latin typeface="Cabin"/>
                <a:ea typeface="Cabin"/>
                <a:cs typeface="Cabin"/>
                <a:sym typeface="Cabin"/>
                <a:hlinkClick r:id="rId4"/>
              </a:rPr>
              <a:t>www.allotropepartners.com</a:t>
            </a:r>
            <a:endParaRPr sz="1900" b="1">
              <a:latin typeface="Cabin"/>
              <a:ea typeface="Cabin"/>
              <a:cs typeface="Cabin"/>
              <a:sym typeface="Cabin"/>
            </a:endParaRPr>
          </a:p>
        </p:txBody>
      </p:sp>
      <p:sp>
        <p:nvSpPr>
          <p:cNvPr id="183" name="Google Shape;183;p44"/>
          <p:cNvSpPr txBox="1">
            <a:spLocks noGrp="1"/>
          </p:cNvSpPr>
          <p:nvPr>
            <p:ph type="subTitle" idx="1"/>
          </p:nvPr>
        </p:nvSpPr>
        <p:spPr>
          <a:xfrm>
            <a:off x="250625" y="1872900"/>
            <a:ext cx="4045200" cy="12351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rgbClr val="2F645B"/>
              </a:buClr>
              <a:buSzPts val="1900"/>
              <a:buFont typeface="Cabin"/>
              <a:buNone/>
              <a:defRPr sz="1900" b="1">
                <a:solidFill>
                  <a:srgbClr val="2F645B"/>
                </a:solidFill>
                <a:latin typeface="Cabin"/>
                <a:ea typeface="Cabin"/>
                <a:cs typeface="Cabin"/>
                <a:sym typeface="Cabin"/>
              </a:defRPr>
            </a:lvl1pPr>
            <a:lvl2pPr lvl="1"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2pPr>
            <a:lvl3pPr lvl="2"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3pPr>
            <a:lvl4pPr lvl="3"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4pPr>
            <a:lvl5pPr lvl="4"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5pPr>
            <a:lvl6pPr lvl="5"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6pPr>
            <a:lvl7pPr lvl="6"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7pPr>
            <a:lvl8pPr lvl="7"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8pPr>
            <a:lvl9pPr lvl="8" algn="ctr">
              <a:lnSpc>
                <a:spcPct val="100000"/>
              </a:lnSpc>
              <a:spcBef>
                <a:spcPts val="0"/>
              </a:spcBef>
              <a:spcAft>
                <a:spcPts val="0"/>
              </a:spcAft>
              <a:buClr>
                <a:srgbClr val="1B786E"/>
              </a:buClr>
              <a:buSzPts val="2100"/>
              <a:buFont typeface="Cabin"/>
              <a:buNone/>
              <a:defRPr sz="2100" b="1">
                <a:solidFill>
                  <a:srgbClr val="1B786E"/>
                </a:solidFill>
                <a:latin typeface="Cabin"/>
                <a:ea typeface="Cabin"/>
                <a:cs typeface="Cabin"/>
                <a:sym typeface="Cabin"/>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_Custom Layout">
  <p:cSld name="1_Custom Layout">
    <p:bg>
      <p:bgPr>
        <a:solidFill>
          <a:srgbClr val="D6ECE8"/>
        </a:solidFill>
        <a:effectLst/>
      </p:bgPr>
    </p:bg>
    <p:spTree>
      <p:nvGrpSpPr>
        <p:cNvPr id="1" name="Shape 188"/>
        <p:cNvGrpSpPr/>
        <p:nvPr/>
      </p:nvGrpSpPr>
      <p:grpSpPr>
        <a:xfrm>
          <a:off x="0" y="0"/>
          <a:ext cx="0" cy="0"/>
          <a:chOff x="0" y="0"/>
          <a:chExt cx="0" cy="0"/>
        </a:xfrm>
      </p:grpSpPr>
      <p:sp>
        <p:nvSpPr>
          <p:cNvPr id="189" name="Google Shape;189;p46"/>
          <p:cNvSpPr/>
          <p:nvPr/>
        </p:nvSpPr>
        <p:spPr>
          <a:xfrm>
            <a:off x="26725" y="16325"/>
            <a:ext cx="9030000" cy="9234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 sz="2400" b="1">
                <a:solidFill>
                  <a:srgbClr val="FFFFFF"/>
                </a:solidFill>
                <a:latin typeface="Cabin"/>
                <a:ea typeface="Cabin"/>
                <a:cs typeface="Cabin"/>
                <a:sym typeface="Cabin"/>
              </a:rPr>
              <a:t> </a:t>
            </a:r>
            <a:endParaRPr sz="2400" b="1">
              <a:solidFill>
                <a:srgbClr val="FFFFFF"/>
              </a:solidFill>
              <a:latin typeface="Cabin"/>
              <a:ea typeface="Cabin"/>
              <a:cs typeface="Cabin"/>
              <a:sym typeface="Cabin"/>
            </a:endParaRPr>
          </a:p>
        </p:txBody>
      </p:sp>
      <p:sp>
        <p:nvSpPr>
          <p:cNvPr id="190" name="Google Shape;190;p46"/>
          <p:cNvSpPr txBox="1">
            <a:spLocks noGrp="1"/>
          </p:cNvSpPr>
          <p:nvPr>
            <p:ph type="title"/>
          </p:nvPr>
        </p:nvSpPr>
        <p:spPr>
          <a:xfrm>
            <a:off x="135056" y="269682"/>
            <a:ext cx="8229600" cy="675600"/>
          </a:xfrm>
          <a:prstGeom prst="rect">
            <a:avLst/>
          </a:prstGeom>
          <a:noFill/>
          <a:ln>
            <a:noFill/>
          </a:ln>
        </p:spPr>
        <p:txBody>
          <a:bodyPr spcFirstLastPara="1" wrap="square" lIns="68575" tIns="34275" rIns="68575" bIns="34275" anchor="t" anchorCtr="0">
            <a:noAutofit/>
          </a:bodyPr>
          <a:lstStyle>
            <a:lvl1pPr marR="0" lvl="0" algn="l">
              <a:lnSpc>
                <a:spcPct val="90000"/>
              </a:lnSpc>
              <a:spcBef>
                <a:spcPts val="0"/>
              </a:spcBef>
              <a:spcAft>
                <a:spcPts val="0"/>
              </a:spcAft>
              <a:buClr>
                <a:srgbClr val="FFFFFF"/>
              </a:buClr>
              <a:buSzPts val="2700"/>
              <a:buFont typeface="Cabin"/>
              <a:buNone/>
              <a:defRPr sz="2700" b="1" i="0" u="none" strike="noStrike" cap="none">
                <a:solidFill>
                  <a:srgbClr val="FFFFFF"/>
                </a:solidFill>
                <a:latin typeface="Cabin"/>
                <a:ea typeface="Cabin"/>
                <a:cs typeface="Cabin"/>
                <a:sym typeface="Cabin"/>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a:endParaRPr/>
          </a:p>
        </p:txBody>
      </p:sp>
      <p:sp>
        <p:nvSpPr>
          <p:cNvPr id="191" name="Google Shape;191;p46"/>
          <p:cNvSpPr txBox="1">
            <a:spLocks noGrp="1"/>
          </p:cNvSpPr>
          <p:nvPr>
            <p:ph type="body" idx="1"/>
          </p:nvPr>
        </p:nvSpPr>
        <p:spPr>
          <a:xfrm>
            <a:off x="457200" y="1129500"/>
            <a:ext cx="8106300" cy="3151500"/>
          </a:xfrm>
          <a:prstGeom prst="rect">
            <a:avLst/>
          </a:prstGeom>
          <a:noFill/>
          <a:ln>
            <a:noFill/>
          </a:ln>
        </p:spPr>
        <p:txBody>
          <a:bodyPr spcFirstLastPara="1" wrap="square" lIns="68575" tIns="34275" rIns="68575" bIns="34275" anchor="t" anchorCtr="0">
            <a:noAutofit/>
          </a:bodyPr>
          <a:lstStyle>
            <a:lvl1pPr marL="457200" marR="0" lvl="0" indent="-342900" algn="l">
              <a:lnSpc>
                <a:spcPct val="90000"/>
              </a:lnSpc>
              <a:spcBef>
                <a:spcPts val="800"/>
              </a:spcBef>
              <a:spcAft>
                <a:spcPts val="0"/>
              </a:spcAft>
              <a:buClr>
                <a:srgbClr val="000000"/>
              </a:buClr>
              <a:buSzPts val="1800"/>
              <a:buFont typeface="Cabin"/>
              <a:buChar char="●"/>
              <a:defRPr u="none" strike="noStrike" cap="none">
                <a:solidFill>
                  <a:srgbClr val="000000"/>
                </a:solidFill>
                <a:latin typeface="Cabin"/>
                <a:ea typeface="Cabin"/>
                <a:cs typeface="Cabin"/>
                <a:sym typeface="Cabin"/>
              </a:defRPr>
            </a:lvl1pPr>
            <a:lvl2pPr marL="914400" marR="0" lvl="1"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2pPr>
            <a:lvl3pPr marL="1371600" marR="0" lvl="2"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3pPr>
            <a:lvl4pPr marL="1828800" marR="0" lvl="3"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4pPr>
            <a:lvl5pPr marL="2286000" marR="0" lvl="4"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5pPr>
            <a:lvl6pPr marL="2743200" marR="0" lvl="5"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6pPr>
            <a:lvl7pPr marL="3200400" marR="0" lvl="6"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7pPr>
            <a:lvl8pPr marL="3657600" marR="0" lvl="7" indent="-342900" algn="l">
              <a:lnSpc>
                <a:spcPct val="90000"/>
              </a:lnSpc>
              <a:spcBef>
                <a:spcPts val="16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8pPr>
            <a:lvl9pPr marL="4114800" marR="0" lvl="8" indent="-342900" algn="l">
              <a:lnSpc>
                <a:spcPct val="90000"/>
              </a:lnSpc>
              <a:spcBef>
                <a:spcPts val="1600"/>
              </a:spcBef>
              <a:spcAft>
                <a:spcPts val="1600"/>
              </a:spcAft>
              <a:buClr>
                <a:srgbClr val="000000"/>
              </a:buClr>
              <a:buSzPts val="1800"/>
              <a:buFont typeface="Cabin"/>
              <a:buChar char="■"/>
              <a:defRPr sz="1800" u="none" strike="noStrike" cap="none">
                <a:solidFill>
                  <a:srgbClr val="000000"/>
                </a:solidFill>
                <a:latin typeface="Cabin"/>
                <a:ea typeface="Cabin"/>
                <a:cs typeface="Cabin"/>
                <a:sym typeface="Cabin"/>
              </a:defRPr>
            </a:lvl9pPr>
          </a:lstStyle>
          <a:p>
            <a:endParaRPr/>
          </a:p>
        </p:txBody>
      </p:sp>
      <p:pic>
        <p:nvPicPr>
          <p:cNvPr id="192" name="Google Shape;192;p46"/>
          <p:cNvPicPr preferRelativeResize="0"/>
          <p:nvPr/>
        </p:nvPicPr>
        <p:blipFill rotWithShape="1">
          <a:blip r:embed="rId2">
            <a:alphaModFix/>
          </a:blip>
          <a:srcRect/>
          <a:stretch/>
        </p:blipFill>
        <p:spPr>
          <a:xfrm>
            <a:off x="7830116" y="34050"/>
            <a:ext cx="1207990" cy="42043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3"/>
        <p:cNvGrpSpPr/>
        <p:nvPr/>
      </p:nvGrpSpPr>
      <p:grpSpPr>
        <a:xfrm>
          <a:off x="0" y="0"/>
          <a:ext cx="0" cy="0"/>
          <a:chOff x="0" y="0"/>
          <a:chExt cx="0" cy="0"/>
        </a:xfrm>
      </p:grpSpPr>
      <p:sp>
        <p:nvSpPr>
          <p:cNvPr id="194" name="Google Shape;194;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5"/>
        <p:cNvGrpSpPr/>
        <p:nvPr/>
      </p:nvGrpSpPr>
      <p:grpSpPr>
        <a:xfrm>
          <a:off x="0" y="0"/>
          <a:ext cx="0" cy="0"/>
          <a:chOff x="0" y="0"/>
          <a:chExt cx="0" cy="0"/>
        </a:xfrm>
      </p:grpSpPr>
      <p:sp>
        <p:nvSpPr>
          <p:cNvPr id="196" name="Google Shape;196;p4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97" name="Google Shape;197;p4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98" name="Google Shape;198;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1_Custom Layout 1 1">
  <p:cSld name="1_Custom Layout_1_1">
    <p:spTree>
      <p:nvGrpSpPr>
        <p:cNvPr id="1" name="Shape 199"/>
        <p:cNvGrpSpPr/>
        <p:nvPr/>
      </p:nvGrpSpPr>
      <p:grpSpPr>
        <a:xfrm>
          <a:off x="0" y="0"/>
          <a:ext cx="0" cy="0"/>
          <a:chOff x="0" y="0"/>
          <a:chExt cx="0" cy="0"/>
        </a:xfrm>
      </p:grpSpPr>
      <p:sp>
        <p:nvSpPr>
          <p:cNvPr id="200" name="Google Shape;200;p49"/>
          <p:cNvSpPr/>
          <p:nvPr/>
        </p:nvSpPr>
        <p:spPr>
          <a:xfrm>
            <a:off x="0" y="-12694"/>
            <a:ext cx="9144000" cy="993600"/>
          </a:xfrm>
          <a:prstGeom prst="rect">
            <a:avLst/>
          </a:prstGeom>
          <a:solidFill>
            <a:srgbClr val="13665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BFBFB"/>
              </a:solidFill>
              <a:latin typeface="Calibri"/>
              <a:ea typeface="Calibri"/>
              <a:cs typeface="Calibri"/>
              <a:sym typeface="Calibri"/>
            </a:endParaRPr>
          </a:p>
        </p:txBody>
      </p:sp>
      <p:sp>
        <p:nvSpPr>
          <p:cNvPr id="201" name="Google Shape;201;p49"/>
          <p:cNvSpPr txBox="1">
            <a:spLocks noGrp="1"/>
          </p:cNvSpPr>
          <p:nvPr>
            <p:ph type="title"/>
          </p:nvPr>
        </p:nvSpPr>
        <p:spPr>
          <a:xfrm>
            <a:off x="457200" y="317104"/>
            <a:ext cx="8229600" cy="857400"/>
          </a:xfrm>
          <a:prstGeom prst="rect">
            <a:avLst/>
          </a:prstGeom>
          <a:noFill/>
          <a:ln>
            <a:noFill/>
          </a:ln>
        </p:spPr>
        <p:txBody>
          <a:bodyPr spcFirstLastPara="1" wrap="square" lIns="68575" tIns="34275" rIns="68575" bIns="34275" anchor="t" anchorCtr="0">
            <a:noAutofit/>
          </a:bodyPr>
          <a:lstStyle>
            <a:lvl1pPr marR="0" lvl="0" algn="l">
              <a:lnSpc>
                <a:spcPct val="90000"/>
              </a:lnSpc>
              <a:spcBef>
                <a:spcPts val="0"/>
              </a:spcBef>
              <a:spcAft>
                <a:spcPts val="0"/>
              </a:spcAft>
              <a:buClr>
                <a:srgbClr val="FFFFFF"/>
              </a:buClr>
              <a:buSzPts val="2700"/>
              <a:buFont typeface="Cabin"/>
              <a:buNone/>
              <a:defRPr sz="2700" b="1" i="0" u="none" strike="noStrike" cap="none">
                <a:solidFill>
                  <a:srgbClr val="FFFFFF"/>
                </a:solidFill>
                <a:latin typeface="Cabin"/>
                <a:ea typeface="Cabin"/>
                <a:cs typeface="Cabin"/>
                <a:sym typeface="Cabin"/>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a:endParaRPr/>
          </a:p>
        </p:txBody>
      </p:sp>
      <p:sp>
        <p:nvSpPr>
          <p:cNvPr id="202" name="Google Shape;202;p49"/>
          <p:cNvSpPr txBox="1">
            <a:spLocks noGrp="1"/>
          </p:cNvSpPr>
          <p:nvPr>
            <p:ph type="body" idx="1"/>
          </p:nvPr>
        </p:nvSpPr>
        <p:spPr>
          <a:xfrm>
            <a:off x="457200" y="1472400"/>
            <a:ext cx="8106300" cy="3151500"/>
          </a:xfrm>
          <a:prstGeom prst="rect">
            <a:avLst/>
          </a:prstGeom>
          <a:noFill/>
          <a:ln>
            <a:noFill/>
          </a:ln>
        </p:spPr>
        <p:txBody>
          <a:bodyPr spcFirstLastPara="1" wrap="square" lIns="68575" tIns="34275" rIns="68575" bIns="34275" anchor="t" anchorCtr="0">
            <a:noAutofit/>
          </a:bodyPr>
          <a:lstStyle>
            <a:lvl1pPr marL="457200" marR="0" lvl="0" indent="-342900" algn="l">
              <a:lnSpc>
                <a:spcPct val="90000"/>
              </a:lnSpc>
              <a:spcBef>
                <a:spcPts val="800"/>
              </a:spcBef>
              <a:spcAft>
                <a:spcPts val="0"/>
              </a:spcAft>
              <a:buClr>
                <a:srgbClr val="000000"/>
              </a:buClr>
              <a:buSzPts val="1800"/>
              <a:buFont typeface="Cabin"/>
              <a:buChar char="●"/>
              <a:defRPr u="none" strike="noStrike" cap="none">
                <a:solidFill>
                  <a:srgbClr val="000000"/>
                </a:solidFill>
                <a:latin typeface="Cabin"/>
                <a:ea typeface="Cabin"/>
                <a:cs typeface="Cabin"/>
                <a:sym typeface="Cabin"/>
              </a:defRPr>
            </a:lvl1pPr>
            <a:lvl2pPr marL="914400" marR="0" lvl="1"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2pPr>
            <a:lvl3pPr marL="1371600" marR="0" lvl="2"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3pPr>
            <a:lvl4pPr marL="1828800" marR="0" lvl="3"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4pPr>
            <a:lvl5pPr marL="2286000" marR="0" lvl="4"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5pPr>
            <a:lvl6pPr marL="2743200" marR="0" lvl="5"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6pPr>
            <a:lvl7pPr marL="3200400" marR="0" lvl="6"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7pPr>
            <a:lvl8pPr marL="3657600" marR="0" lvl="7"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8pPr>
            <a:lvl9pPr marL="4114800" marR="0" lvl="8" indent="-342900" algn="l">
              <a:lnSpc>
                <a:spcPct val="90000"/>
              </a:lnSpc>
              <a:spcBef>
                <a:spcPts val="400"/>
              </a:spcBef>
              <a:spcAft>
                <a:spcPts val="1600"/>
              </a:spcAft>
              <a:buClr>
                <a:srgbClr val="000000"/>
              </a:buClr>
              <a:buSzPts val="1800"/>
              <a:buFont typeface="Cabin"/>
              <a:buChar char="■"/>
              <a:defRPr sz="1800" u="none" strike="noStrike" cap="none">
                <a:solidFill>
                  <a:srgbClr val="000000"/>
                </a:solidFill>
                <a:latin typeface="Cabin"/>
                <a:ea typeface="Cabin"/>
                <a:cs typeface="Cabin"/>
                <a:sym typeface="Cabin"/>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1_Custom Layout 3">
  <p:cSld name="1_Custom Layout_3">
    <p:spTree>
      <p:nvGrpSpPr>
        <p:cNvPr id="1" name="Shape 203"/>
        <p:cNvGrpSpPr/>
        <p:nvPr/>
      </p:nvGrpSpPr>
      <p:grpSpPr>
        <a:xfrm>
          <a:off x="0" y="0"/>
          <a:ext cx="0" cy="0"/>
          <a:chOff x="0" y="0"/>
          <a:chExt cx="0" cy="0"/>
        </a:xfrm>
      </p:grpSpPr>
      <p:sp>
        <p:nvSpPr>
          <p:cNvPr id="204" name="Google Shape;204;p50"/>
          <p:cNvSpPr/>
          <p:nvPr/>
        </p:nvSpPr>
        <p:spPr>
          <a:xfrm>
            <a:off x="0" y="-12700"/>
            <a:ext cx="9144000" cy="1187100"/>
          </a:xfrm>
          <a:prstGeom prst="rect">
            <a:avLst/>
          </a:prstGeom>
          <a:solidFill>
            <a:schemeClr val="dk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BFBFB"/>
              </a:solidFill>
              <a:latin typeface="Calibri"/>
              <a:ea typeface="Calibri"/>
              <a:cs typeface="Calibri"/>
              <a:sym typeface="Calibri"/>
            </a:endParaRPr>
          </a:p>
        </p:txBody>
      </p:sp>
      <p:sp>
        <p:nvSpPr>
          <p:cNvPr id="205" name="Google Shape;205;p50"/>
          <p:cNvSpPr txBox="1">
            <a:spLocks noGrp="1"/>
          </p:cNvSpPr>
          <p:nvPr>
            <p:ph type="title"/>
          </p:nvPr>
        </p:nvSpPr>
        <p:spPr>
          <a:xfrm>
            <a:off x="457200" y="317104"/>
            <a:ext cx="8229600" cy="857400"/>
          </a:xfrm>
          <a:prstGeom prst="rect">
            <a:avLst/>
          </a:prstGeom>
          <a:noFill/>
          <a:ln>
            <a:noFill/>
          </a:ln>
        </p:spPr>
        <p:txBody>
          <a:bodyPr spcFirstLastPara="1" wrap="square" lIns="68575" tIns="34275" rIns="68575" bIns="34275" anchor="t" anchorCtr="0">
            <a:noAutofit/>
          </a:bodyPr>
          <a:lstStyle>
            <a:lvl1pPr marR="0" lvl="0" algn="l">
              <a:lnSpc>
                <a:spcPct val="90000"/>
              </a:lnSpc>
              <a:spcBef>
                <a:spcPts val="0"/>
              </a:spcBef>
              <a:spcAft>
                <a:spcPts val="0"/>
              </a:spcAft>
              <a:buClr>
                <a:srgbClr val="FFFFFF"/>
              </a:buClr>
              <a:buSzPts val="2700"/>
              <a:buFont typeface="Cabin"/>
              <a:buNone/>
              <a:defRPr sz="2700" b="1" i="0" u="none" strike="noStrike" cap="none">
                <a:solidFill>
                  <a:srgbClr val="FFFFFF"/>
                </a:solidFill>
                <a:latin typeface="Cabin"/>
                <a:ea typeface="Cabin"/>
                <a:cs typeface="Cabin"/>
                <a:sym typeface="Cabin"/>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a:endParaRPr/>
          </a:p>
        </p:txBody>
      </p:sp>
      <p:sp>
        <p:nvSpPr>
          <p:cNvPr id="206" name="Google Shape;206;p50"/>
          <p:cNvSpPr txBox="1">
            <a:spLocks noGrp="1"/>
          </p:cNvSpPr>
          <p:nvPr>
            <p:ph type="body" idx="1"/>
          </p:nvPr>
        </p:nvSpPr>
        <p:spPr>
          <a:xfrm>
            <a:off x="457200" y="1472400"/>
            <a:ext cx="8106300" cy="3151500"/>
          </a:xfrm>
          <a:prstGeom prst="rect">
            <a:avLst/>
          </a:prstGeom>
          <a:noFill/>
          <a:ln>
            <a:noFill/>
          </a:ln>
        </p:spPr>
        <p:txBody>
          <a:bodyPr spcFirstLastPara="1" wrap="square" lIns="68575" tIns="34275" rIns="68575" bIns="34275" anchor="t" anchorCtr="0">
            <a:noAutofit/>
          </a:bodyPr>
          <a:lstStyle>
            <a:lvl1pPr marL="457200" marR="0" lvl="0" indent="-342900" algn="l">
              <a:lnSpc>
                <a:spcPct val="90000"/>
              </a:lnSpc>
              <a:spcBef>
                <a:spcPts val="800"/>
              </a:spcBef>
              <a:spcAft>
                <a:spcPts val="0"/>
              </a:spcAft>
              <a:buClr>
                <a:srgbClr val="000000"/>
              </a:buClr>
              <a:buSzPts val="1800"/>
              <a:buFont typeface="Cabin"/>
              <a:buChar char="●"/>
              <a:defRPr u="none" strike="noStrike" cap="none">
                <a:solidFill>
                  <a:srgbClr val="000000"/>
                </a:solidFill>
                <a:latin typeface="Cabin"/>
                <a:ea typeface="Cabin"/>
                <a:cs typeface="Cabin"/>
                <a:sym typeface="Cabin"/>
              </a:defRPr>
            </a:lvl1pPr>
            <a:lvl2pPr marL="914400" marR="0" lvl="1"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2pPr>
            <a:lvl3pPr marL="1371600" marR="0" lvl="2"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3pPr>
            <a:lvl4pPr marL="1828800" marR="0" lvl="3"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4pPr>
            <a:lvl5pPr marL="2286000" marR="0" lvl="4"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5pPr>
            <a:lvl6pPr marL="2743200" marR="0" lvl="5"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6pPr>
            <a:lvl7pPr marL="3200400" marR="0" lvl="6"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7pPr>
            <a:lvl8pPr marL="3657600" marR="0" lvl="7"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8pPr>
            <a:lvl9pPr marL="4114800" marR="0" lvl="8" indent="-342900" algn="l">
              <a:lnSpc>
                <a:spcPct val="90000"/>
              </a:lnSpc>
              <a:spcBef>
                <a:spcPts val="400"/>
              </a:spcBef>
              <a:spcAft>
                <a:spcPts val="1600"/>
              </a:spcAft>
              <a:buClr>
                <a:srgbClr val="000000"/>
              </a:buClr>
              <a:buSzPts val="1800"/>
              <a:buFont typeface="Cabin"/>
              <a:buChar char="■"/>
              <a:defRPr sz="1800" u="none" strike="noStrike" cap="none">
                <a:solidFill>
                  <a:srgbClr val="000000"/>
                </a:solidFill>
                <a:latin typeface="Cabin"/>
                <a:ea typeface="Cabin"/>
                <a:cs typeface="Cabin"/>
                <a:sym typeface="Cabin"/>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1_Custom Layout 1">
  <p:cSld name="1_Custom Layout_1">
    <p:spTree>
      <p:nvGrpSpPr>
        <p:cNvPr id="1" name="Shape 207"/>
        <p:cNvGrpSpPr/>
        <p:nvPr/>
      </p:nvGrpSpPr>
      <p:grpSpPr>
        <a:xfrm>
          <a:off x="0" y="0"/>
          <a:ext cx="0" cy="0"/>
          <a:chOff x="0" y="0"/>
          <a:chExt cx="0" cy="0"/>
        </a:xfrm>
      </p:grpSpPr>
      <p:sp>
        <p:nvSpPr>
          <p:cNvPr id="208" name="Google Shape;208;p51"/>
          <p:cNvSpPr/>
          <p:nvPr/>
        </p:nvSpPr>
        <p:spPr>
          <a:xfrm>
            <a:off x="0" y="-12694"/>
            <a:ext cx="9144000" cy="993600"/>
          </a:xfrm>
          <a:prstGeom prst="rect">
            <a:avLst/>
          </a:prstGeom>
          <a:solidFill>
            <a:srgbClr val="13665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BFBFB"/>
              </a:solidFill>
              <a:latin typeface="Calibri"/>
              <a:ea typeface="Calibri"/>
              <a:cs typeface="Calibri"/>
              <a:sym typeface="Calibri"/>
            </a:endParaRPr>
          </a:p>
        </p:txBody>
      </p:sp>
      <p:sp>
        <p:nvSpPr>
          <p:cNvPr id="209" name="Google Shape;209;p51"/>
          <p:cNvSpPr txBox="1">
            <a:spLocks noGrp="1"/>
          </p:cNvSpPr>
          <p:nvPr>
            <p:ph type="title"/>
          </p:nvPr>
        </p:nvSpPr>
        <p:spPr>
          <a:xfrm>
            <a:off x="457200" y="317104"/>
            <a:ext cx="8229600" cy="857400"/>
          </a:xfrm>
          <a:prstGeom prst="rect">
            <a:avLst/>
          </a:prstGeom>
          <a:noFill/>
          <a:ln>
            <a:noFill/>
          </a:ln>
        </p:spPr>
        <p:txBody>
          <a:bodyPr spcFirstLastPara="1" wrap="square" lIns="68575" tIns="34275" rIns="68575" bIns="34275" anchor="t" anchorCtr="0">
            <a:noAutofit/>
          </a:bodyPr>
          <a:lstStyle>
            <a:lvl1pPr marR="0" lvl="0" algn="l">
              <a:lnSpc>
                <a:spcPct val="90000"/>
              </a:lnSpc>
              <a:spcBef>
                <a:spcPts val="0"/>
              </a:spcBef>
              <a:spcAft>
                <a:spcPts val="0"/>
              </a:spcAft>
              <a:buClr>
                <a:srgbClr val="FFFFFF"/>
              </a:buClr>
              <a:buSzPts val="2700"/>
              <a:buFont typeface="Cabin"/>
              <a:buNone/>
              <a:defRPr sz="2700" b="1" i="0" u="none" strike="noStrike" cap="none">
                <a:solidFill>
                  <a:srgbClr val="FFFFFF"/>
                </a:solidFill>
                <a:latin typeface="Cabin"/>
                <a:ea typeface="Cabin"/>
                <a:cs typeface="Cabin"/>
                <a:sym typeface="Cabin"/>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a:endParaRPr/>
          </a:p>
        </p:txBody>
      </p:sp>
      <p:sp>
        <p:nvSpPr>
          <p:cNvPr id="210" name="Google Shape;210;p51"/>
          <p:cNvSpPr txBox="1">
            <a:spLocks noGrp="1"/>
          </p:cNvSpPr>
          <p:nvPr>
            <p:ph type="body" idx="1"/>
          </p:nvPr>
        </p:nvSpPr>
        <p:spPr>
          <a:xfrm>
            <a:off x="457200" y="1472400"/>
            <a:ext cx="8106300" cy="3151500"/>
          </a:xfrm>
          <a:prstGeom prst="rect">
            <a:avLst/>
          </a:prstGeom>
          <a:noFill/>
          <a:ln>
            <a:noFill/>
          </a:ln>
        </p:spPr>
        <p:txBody>
          <a:bodyPr spcFirstLastPara="1" wrap="square" lIns="68575" tIns="34275" rIns="68575" bIns="34275" anchor="t" anchorCtr="0">
            <a:noAutofit/>
          </a:bodyPr>
          <a:lstStyle>
            <a:lvl1pPr marL="457200" marR="0" lvl="0" indent="-342900" algn="l">
              <a:lnSpc>
                <a:spcPct val="90000"/>
              </a:lnSpc>
              <a:spcBef>
                <a:spcPts val="800"/>
              </a:spcBef>
              <a:spcAft>
                <a:spcPts val="0"/>
              </a:spcAft>
              <a:buClr>
                <a:srgbClr val="000000"/>
              </a:buClr>
              <a:buSzPts val="1800"/>
              <a:buFont typeface="Cabin"/>
              <a:buChar char="●"/>
              <a:defRPr u="none" strike="noStrike" cap="none">
                <a:solidFill>
                  <a:srgbClr val="000000"/>
                </a:solidFill>
                <a:latin typeface="Cabin"/>
                <a:ea typeface="Cabin"/>
                <a:cs typeface="Cabin"/>
                <a:sym typeface="Cabin"/>
              </a:defRPr>
            </a:lvl1pPr>
            <a:lvl2pPr marL="914400" marR="0" lvl="1"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2pPr>
            <a:lvl3pPr marL="1371600" marR="0" lvl="2"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3pPr>
            <a:lvl4pPr marL="1828800" marR="0" lvl="3"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4pPr>
            <a:lvl5pPr marL="2286000" marR="0" lvl="4"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5pPr>
            <a:lvl6pPr marL="2743200" marR="0" lvl="5"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6pPr>
            <a:lvl7pPr marL="3200400" marR="0" lvl="6"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7pPr>
            <a:lvl8pPr marL="3657600" marR="0" lvl="7"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8pPr>
            <a:lvl9pPr marL="4114800" marR="0" lvl="8" indent="-342900" algn="l">
              <a:lnSpc>
                <a:spcPct val="90000"/>
              </a:lnSpc>
              <a:spcBef>
                <a:spcPts val="400"/>
              </a:spcBef>
              <a:spcAft>
                <a:spcPts val="1600"/>
              </a:spcAft>
              <a:buClr>
                <a:srgbClr val="000000"/>
              </a:buClr>
              <a:buSzPts val="1800"/>
              <a:buFont typeface="Cabin"/>
              <a:buChar char="■"/>
              <a:defRPr sz="1800" u="none" strike="noStrike" cap="none">
                <a:solidFill>
                  <a:srgbClr val="000000"/>
                </a:solidFill>
                <a:latin typeface="Cabin"/>
                <a:ea typeface="Cabin"/>
                <a:cs typeface="Cabin"/>
                <a:sym typeface="Cabin"/>
              </a:defRPr>
            </a:lvl9pPr>
          </a:lstStyle>
          <a:p>
            <a:endParaRPr/>
          </a:p>
        </p:txBody>
      </p:sp>
      <p:pic>
        <p:nvPicPr>
          <p:cNvPr id="211" name="Google Shape;211;p51"/>
          <p:cNvPicPr preferRelativeResize="0"/>
          <p:nvPr/>
        </p:nvPicPr>
        <p:blipFill rotWithShape="1">
          <a:blip r:embed="rId2">
            <a:alphaModFix/>
          </a:blip>
          <a:srcRect/>
          <a:stretch/>
        </p:blipFill>
        <p:spPr>
          <a:xfrm>
            <a:off x="7797695" y="4556958"/>
            <a:ext cx="1260777" cy="48105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1_Custom Layout 2">
  <p:cSld name="1_Custom Layout_2">
    <p:spTree>
      <p:nvGrpSpPr>
        <p:cNvPr id="1" name="Shape 212"/>
        <p:cNvGrpSpPr/>
        <p:nvPr/>
      </p:nvGrpSpPr>
      <p:grpSpPr>
        <a:xfrm>
          <a:off x="0" y="0"/>
          <a:ext cx="0" cy="0"/>
          <a:chOff x="0" y="0"/>
          <a:chExt cx="0" cy="0"/>
        </a:xfrm>
      </p:grpSpPr>
      <p:sp>
        <p:nvSpPr>
          <p:cNvPr id="213" name="Google Shape;213;p52"/>
          <p:cNvSpPr/>
          <p:nvPr/>
        </p:nvSpPr>
        <p:spPr>
          <a:xfrm>
            <a:off x="0" y="-12700"/>
            <a:ext cx="9144000" cy="1187100"/>
          </a:xfrm>
          <a:prstGeom prst="rect">
            <a:avLst/>
          </a:prstGeom>
          <a:solidFill>
            <a:schemeClr val="dk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BFBFB"/>
              </a:solidFill>
              <a:latin typeface="Calibri"/>
              <a:ea typeface="Calibri"/>
              <a:cs typeface="Calibri"/>
              <a:sym typeface="Calibri"/>
            </a:endParaRPr>
          </a:p>
        </p:txBody>
      </p:sp>
      <p:sp>
        <p:nvSpPr>
          <p:cNvPr id="214" name="Google Shape;214;p52"/>
          <p:cNvSpPr txBox="1">
            <a:spLocks noGrp="1"/>
          </p:cNvSpPr>
          <p:nvPr>
            <p:ph type="title"/>
          </p:nvPr>
        </p:nvSpPr>
        <p:spPr>
          <a:xfrm>
            <a:off x="457200" y="317104"/>
            <a:ext cx="8229600" cy="857400"/>
          </a:xfrm>
          <a:prstGeom prst="rect">
            <a:avLst/>
          </a:prstGeom>
          <a:noFill/>
          <a:ln>
            <a:noFill/>
          </a:ln>
        </p:spPr>
        <p:txBody>
          <a:bodyPr spcFirstLastPara="1" wrap="square" lIns="68575" tIns="34275" rIns="68575" bIns="34275" anchor="t" anchorCtr="0">
            <a:noAutofit/>
          </a:bodyPr>
          <a:lstStyle>
            <a:lvl1pPr marR="0" lvl="0" algn="l">
              <a:lnSpc>
                <a:spcPct val="90000"/>
              </a:lnSpc>
              <a:spcBef>
                <a:spcPts val="0"/>
              </a:spcBef>
              <a:spcAft>
                <a:spcPts val="0"/>
              </a:spcAft>
              <a:buClr>
                <a:srgbClr val="FFFFFF"/>
              </a:buClr>
              <a:buSzPts val="2700"/>
              <a:buFont typeface="Cabin"/>
              <a:buNone/>
              <a:defRPr sz="2700" b="1" i="0" u="none" strike="noStrike" cap="none">
                <a:solidFill>
                  <a:srgbClr val="FFFFFF"/>
                </a:solidFill>
                <a:latin typeface="Cabin"/>
                <a:ea typeface="Cabin"/>
                <a:cs typeface="Cabin"/>
                <a:sym typeface="Cabin"/>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a:endParaRPr/>
          </a:p>
        </p:txBody>
      </p:sp>
      <p:sp>
        <p:nvSpPr>
          <p:cNvPr id="215" name="Google Shape;215;p52"/>
          <p:cNvSpPr txBox="1">
            <a:spLocks noGrp="1"/>
          </p:cNvSpPr>
          <p:nvPr>
            <p:ph type="body" idx="1"/>
          </p:nvPr>
        </p:nvSpPr>
        <p:spPr>
          <a:xfrm>
            <a:off x="457200" y="1472400"/>
            <a:ext cx="8106300" cy="3151500"/>
          </a:xfrm>
          <a:prstGeom prst="rect">
            <a:avLst/>
          </a:prstGeom>
          <a:noFill/>
          <a:ln>
            <a:noFill/>
          </a:ln>
        </p:spPr>
        <p:txBody>
          <a:bodyPr spcFirstLastPara="1" wrap="square" lIns="68575" tIns="34275" rIns="68575" bIns="34275" anchor="t" anchorCtr="0">
            <a:noAutofit/>
          </a:bodyPr>
          <a:lstStyle>
            <a:lvl1pPr marL="457200" marR="0" lvl="0" indent="-342900" algn="l">
              <a:lnSpc>
                <a:spcPct val="90000"/>
              </a:lnSpc>
              <a:spcBef>
                <a:spcPts val="800"/>
              </a:spcBef>
              <a:spcAft>
                <a:spcPts val="0"/>
              </a:spcAft>
              <a:buClr>
                <a:srgbClr val="000000"/>
              </a:buClr>
              <a:buSzPts val="1800"/>
              <a:buFont typeface="Cabin"/>
              <a:buChar char="●"/>
              <a:defRPr u="none" strike="noStrike" cap="none">
                <a:solidFill>
                  <a:srgbClr val="000000"/>
                </a:solidFill>
                <a:latin typeface="Cabin"/>
                <a:ea typeface="Cabin"/>
                <a:cs typeface="Cabin"/>
                <a:sym typeface="Cabin"/>
              </a:defRPr>
            </a:lvl1pPr>
            <a:lvl2pPr marL="914400" marR="0" lvl="1"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2pPr>
            <a:lvl3pPr marL="1371600" marR="0" lvl="2"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3pPr>
            <a:lvl4pPr marL="1828800" marR="0" lvl="3"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4pPr>
            <a:lvl5pPr marL="2286000" marR="0" lvl="4"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5pPr>
            <a:lvl6pPr marL="2743200" marR="0" lvl="5"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6pPr>
            <a:lvl7pPr marL="3200400" marR="0" lvl="6"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7pPr>
            <a:lvl8pPr marL="3657600" marR="0" lvl="7" indent="-342900" algn="l">
              <a:lnSpc>
                <a:spcPct val="90000"/>
              </a:lnSpc>
              <a:spcBef>
                <a:spcPts val="400"/>
              </a:spcBef>
              <a:spcAft>
                <a:spcPts val="0"/>
              </a:spcAft>
              <a:buClr>
                <a:srgbClr val="000000"/>
              </a:buClr>
              <a:buSzPts val="1800"/>
              <a:buFont typeface="Cabin"/>
              <a:buChar char="○"/>
              <a:defRPr sz="1800" u="none" strike="noStrike" cap="none">
                <a:solidFill>
                  <a:srgbClr val="000000"/>
                </a:solidFill>
                <a:latin typeface="Cabin"/>
                <a:ea typeface="Cabin"/>
                <a:cs typeface="Cabin"/>
                <a:sym typeface="Cabin"/>
              </a:defRPr>
            </a:lvl8pPr>
            <a:lvl9pPr marL="4114800" marR="0" lvl="8" indent="-342900" algn="l">
              <a:lnSpc>
                <a:spcPct val="90000"/>
              </a:lnSpc>
              <a:spcBef>
                <a:spcPts val="400"/>
              </a:spcBef>
              <a:spcAft>
                <a:spcPts val="1600"/>
              </a:spcAft>
              <a:buClr>
                <a:srgbClr val="000000"/>
              </a:buClr>
              <a:buSzPts val="1800"/>
              <a:buFont typeface="Cabin"/>
              <a:buChar char="■"/>
              <a:defRPr sz="1800" u="none" strike="noStrike" cap="none">
                <a:solidFill>
                  <a:srgbClr val="000000"/>
                </a:solidFill>
                <a:latin typeface="Cabin"/>
                <a:ea typeface="Cabin"/>
                <a:cs typeface="Cabin"/>
                <a:sym typeface="Cabin"/>
              </a:defRPr>
            </a:lvl9pPr>
          </a:lstStyle>
          <a:p>
            <a:endParaRPr/>
          </a:p>
        </p:txBody>
      </p:sp>
      <p:pic>
        <p:nvPicPr>
          <p:cNvPr id="216" name="Google Shape;216;p52"/>
          <p:cNvPicPr preferRelativeResize="0"/>
          <p:nvPr/>
        </p:nvPicPr>
        <p:blipFill rotWithShape="1">
          <a:blip r:embed="rId2">
            <a:alphaModFix/>
          </a:blip>
          <a:srcRect/>
          <a:stretch/>
        </p:blipFill>
        <p:spPr>
          <a:xfrm>
            <a:off x="7797695" y="4556958"/>
            <a:ext cx="1260777" cy="48105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7"/>
        <p:cNvGrpSpPr/>
        <p:nvPr/>
      </p:nvGrpSpPr>
      <p:grpSpPr>
        <a:xfrm>
          <a:off x="0" y="0"/>
          <a:ext cx="0" cy="0"/>
          <a:chOff x="0" y="0"/>
          <a:chExt cx="0" cy="0"/>
        </a:xfrm>
      </p:grpSpPr>
      <p:sp>
        <p:nvSpPr>
          <p:cNvPr id="218" name="Google Shape;218;p5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19" name="Google Shape;219;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0"/>
        <p:cNvGrpSpPr/>
        <p:nvPr/>
      </p:nvGrpSpPr>
      <p:grpSpPr>
        <a:xfrm>
          <a:off x="0" y="0"/>
          <a:ext cx="0" cy="0"/>
          <a:chOff x="0" y="0"/>
          <a:chExt cx="0" cy="0"/>
        </a:xfrm>
      </p:grpSpPr>
      <p:sp>
        <p:nvSpPr>
          <p:cNvPr id="221" name="Google Shape;221;p5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2" name="Google Shape;222;p5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23" name="Google Shape;223;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4"/>
        <p:cNvGrpSpPr/>
        <p:nvPr/>
      </p:nvGrpSpPr>
      <p:grpSpPr>
        <a:xfrm>
          <a:off x="0" y="0"/>
          <a:ext cx="0" cy="0"/>
          <a:chOff x="0" y="0"/>
          <a:chExt cx="0" cy="0"/>
        </a:xfrm>
      </p:grpSpPr>
      <p:sp>
        <p:nvSpPr>
          <p:cNvPr id="225" name="Google Shape;225;p5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6" name="Google Shape;226;p5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27" name="Google Shape;227;p5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28" name="Google Shape;228;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9"/>
        <p:cNvGrpSpPr/>
        <p:nvPr/>
      </p:nvGrpSpPr>
      <p:grpSpPr>
        <a:xfrm>
          <a:off x="0" y="0"/>
          <a:ext cx="0" cy="0"/>
          <a:chOff x="0" y="0"/>
          <a:chExt cx="0" cy="0"/>
        </a:xfrm>
      </p:grpSpPr>
      <p:sp>
        <p:nvSpPr>
          <p:cNvPr id="230" name="Google Shape;230;p5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1" name="Google Shape;231;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32"/>
        <p:cNvGrpSpPr/>
        <p:nvPr/>
      </p:nvGrpSpPr>
      <p:grpSpPr>
        <a:xfrm>
          <a:off x="0" y="0"/>
          <a:ext cx="0" cy="0"/>
          <a:chOff x="0" y="0"/>
          <a:chExt cx="0" cy="0"/>
        </a:xfrm>
      </p:grpSpPr>
      <p:sp>
        <p:nvSpPr>
          <p:cNvPr id="233" name="Google Shape;233;p5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34" name="Google Shape;234;p5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5" name="Google Shape;235;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36"/>
        <p:cNvGrpSpPr/>
        <p:nvPr/>
      </p:nvGrpSpPr>
      <p:grpSpPr>
        <a:xfrm>
          <a:off x="0" y="0"/>
          <a:ext cx="0" cy="0"/>
          <a:chOff x="0" y="0"/>
          <a:chExt cx="0" cy="0"/>
        </a:xfrm>
      </p:grpSpPr>
      <p:sp>
        <p:nvSpPr>
          <p:cNvPr id="237" name="Google Shape;237;p5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238" name="Google Shape;238;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39"/>
        <p:cNvGrpSpPr/>
        <p:nvPr/>
      </p:nvGrpSpPr>
      <p:grpSpPr>
        <a:xfrm>
          <a:off x="0" y="0"/>
          <a:ext cx="0" cy="0"/>
          <a:chOff x="0" y="0"/>
          <a:chExt cx="0" cy="0"/>
        </a:xfrm>
      </p:grpSpPr>
      <p:sp>
        <p:nvSpPr>
          <p:cNvPr id="240" name="Google Shape;240;p5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41" name="Google Shape;241;p5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242" name="Google Shape;242;p5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243" name="Google Shape;243;p5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44" name="Google Shape;244;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45"/>
        <p:cNvGrpSpPr/>
        <p:nvPr/>
      </p:nvGrpSpPr>
      <p:grpSpPr>
        <a:xfrm>
          <a:off x="0" y="0"/>
          <a:ext cx="0" cy="0"/>
          <a:chOff x="0" y="0"/>
          <a:chExt cx="0" cy="0"/>
        </a:xfrm>
      </p:grpSpPr>
      <p:sp>
        <p:nvSpPr>
          <p:cNvPr id="246" name="Google Shape;246;p6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247" name="Google Shape;247;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8"/>
        <p:cNvGrpSpPr/>
        <p:nvPr/>
      </p:nvGrpSpPr>
      <p:grpSpPr>
        <a:xfrm>
          <a:off x="0" y="0"/>
          <a:ext cx="0" cy="0"/>
          <a:chOff x="0" y="0"/>
          <a:chExt cx="0" cy="0"/>
        </a:xfrm>
      </p:grpSpPr>
      <p:sp>
        <p:nvSpPr>
          <p:cNvPr id="249" name="Google Shape;249;p6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50" name="Google Shape;250;p6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251" name="Google Shape;251;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252"/>
        <p:cNvGrpSpPr/>
        <p:nvPr/>
      </p:nvGrpSpPr>
      <p:grpSpPr>
        <a:xfrm>
          <a:off x="0" y="0"/>
          <a:ext cx="0" cy="0"/>
          <a:chOff x="0" y="0"/>
          <a:chExt cx="0" cy="0"/>
        </a:xfrm>
      </p:grpSpPr>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53"/>
        <p:cNvGrpSpPr/>
        <p:nvPr/>
      </p:nvGrpSpPr>
      <p:grpSpPr>
        <a:xfrm>
          <a:off x="0" y="0"/>
          <a:ext cx="0" cy="0"/>
          <a:chOff x="0" y="0"/>
          <a:chExt cx="0" cy="0"/>
        </a:xfrm>
      </p:grpSpPr>
      <p:sp>
        <p:nvSpPr>
          <p:cNvPr id="254" name="Google Shape;254;p6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55" name="Google Shape;255;p63"/>
          <p:cNvSpPr txBox="1">
            <a:spLocks noGrp="1"/>
          </p:cNvSpPr>
          <p:nvPr>
            <p:ph type="body" idx="1"/>
          </p:nvPr>
        </p:nvSpPr>
        <p:spPr>
          <a:xfrm>
            <a:off x="628650" y="1369219"/>
            <a:ext cx="3886200" cy="3263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56" name="Google Shape;256;p63"/>
          <p:cNvSpPr txBox="1">
            <a:spLocks noGrp="1"/>
          </p:cNvSpPr>
          <p:nvPr>
            <p:ph type="body" idx="2"/>
          </p:nvPr>
        </p:nvSpPr>
        <p:spPr>
          <a:xfrm>
            <a:off x="4629150" y="1369219"/>
            <a:ext cx="3886200" cy="3263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57" name="Google Shape;257;p63"/>
          <p:cNvSpPr txBox="1">
            <a:spLocks noGrp="1"/>
          </p:cNvSpPr>
          <p:nvPr>
            <p:ph type="dt" idx="10"/>
          </p:nvPr>
        </p:nvSpPr>
        <p:spPr>
          <a:xfrm>
            <a:off x="0" y="0"/>
            <a:ext cx="2250000" cy="2250000"/>
          </a:xfrm>
          <a:prstGeom prst="rect">
            <a:avLst/>
          </a:prstGeom>
          <a:noFill/>
          <a:ln>
            <a:noFill/>
          </a:ln>
        </p:spPr>
        <p:txBody>
          <a:bodyPr spcFirstLastPara="1" wrap="square" lIns="68575" tIns="34275" rIns="68575" bIns="34275" anchor="t" anchorCtr="0">
            <a:noAutofit/>
          </a:bodyPr>
          <a:lstStyle>
            <a:lvl1pPr marR="0" lvl="0"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258" name="Google Shape;258;p63"/>
          <p:cNvSpPr txBox="1">
            <a:spLocks noGrp="1"/>
          </p:cNvSpPr>
          <p:nvPr>
            <p:ph type="ftr" idx="11"/>
          </p:nvPr>
        </p:nvSpPr>
        <p:spPr>
          <a:xfrm>
            <a:off x="0" y="0"/>
            <a:ext cx="2250000" cy="2250000"/>
          </a:xfrm>
          <a:prstGeom prst="rect">
            <a:avLst/>
          </a:prstGeom>
          <a:noFill/>
          <a:ln>
            <a:noFill/>
          </a:ln>
        </p:spPr>
        <p:txBody>
          <a:bodyPr spcFirstLastPara="1" wrap="square" lIns="68575" tIns="34275" rIns="68575" bIns="34275" anchor="t" anchorCtr="0">
            <a:noAutofit/>
          </a:bodyPr>
          <a:lstStyle>
            <a:lvl1pPr marR="0" lvl="0"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259" name="Google Shape;259;p6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6"/>
        <p:cNvGrpSpPr/>
        <p:nvPr/>
      </p:nvGrpSpPr>
      <p:grpSpPr>
        <a:xfrm>
          <a:off x="0" y="0"/>
          <a:ext cx="0" cy="0"/>
          <a:chOff x="0" y="0"/>
          <a:chExt cx="0" cy="0"/>
        </a:xfrm>
      </p:grpSpPr>
      <p:sp>
        <p:nvSpPr>
          <p:cNvPr id="267" name="Google Shape;267;p6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68" name="Google Shape;268;p6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69" name="Google Shape;269;p6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lank 1">
  <p:cSld name="1_Blank">
    <p:spTree>
      <p:nvGrpSpPr>
        <p:cNvPr id="1" name="Shape 270"/>
        <p:cNvGrpSpPr/>
        <p:nvPr/>
      </p:nvGrpSpPr>
      <p:grpSpPr>
        <a:xfrm>
          <a:off x="0" y="0"/>
          <a:ext cx="0" cy="0"/>
          <a:chOff x="0" y="0"/>
          <a:chExt cx="0" cy="0"/>
        </a:xfrm>
      </p:grpSpPr>
      <p:sp>
        <p:nvSpPr>
          <p:cNvPr id="271" name="Google Shape;271;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272" name="Google Shape;272;p66"/>
          <p:cNvSpPr txBox="1"/>
          <p:nvPr/>
        </p:nvSpPr>
        <p:spPr>
          <a:xfrm>
            <a:off x="0" y="-35175"/>
            <a:ext cx="9180300" cy="709200"/>
          </a:xfrm>
          <a:prstGeom prst="rect">
            <a:avLst/>
          </a:prstGeom>
          <a:solidFill>
            <a:srgbClr val="33716C"/>
          </a:solid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1" i="0" u="none" strike="noStrike" cap="none">
              <a:solidFill>
                <a:srgbClr val="FFFFFF"/>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FFFFFF"/>
              </a:solidFill>
              <a:highlight>
                <a:srgbClr val="64B4A3"/>
              </a:highlight>
              <a:latin typeface="Arial"/>
              <a:ea typeface="Arial"/>
              <a:cs typeface="Arial"/>
              <a:sym typeface="Arial"/>
            </a:endParaRPr>
          </a:p>
        </p:txBody>
      </p:sp>
      <p:pic>
        <p:nvPicPr>
          <p:cNvPr id="273" name="Google Shape;273;p66"/>
          <p:cNvPicPr preferRelativeResize="0"/>
          <p:nvPr/>
        </p:nvPicPr>
        <p:blipFill rotWithShape="1">
          <a:blip r:embed="rId2">
            <a:alphaModFix/>
          </a:blip>
          <a:srcRect/>
          <a:stretch/>
        </p:blipFill>
        <p:spPr>
          <a:xfrm>
            <a:off x="7463300" y="36394"/>
            <a:ext cx="1530756" cy="530662"/>
          </a:xfrm>
          <a:prstGeom prst="rect">
            <a:avLst/>
          </a:prstGeom>
          <a:noFill/>
          <a:ln>
            <a:noFill/>
          </a:ln>
        </p:spPr>
      </p:pic>
      <p:sp>
        <p:nvSpPr>
          <p:cNvPr id="274" name="Google Shape;274;p66"/>
          <p:cNvSpPr txBox="1">
            <a:spLocks noGrp="1"/>
          </p:cNvSpPr>
          <p:nvPr>
            <p:ph type="title"/>
          </p:nvPr>
        </p:nvSpPr>
        <p:spPr>
          <a:xfrm>
            <a:off x="33469" y="90257"/>
            <a:ext cx="8520600" cy="5727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0000"/>
              </a:buClr>
              <a:buSzPts val="1100"/>
              <a:buFont typeface="Arial"/>
              <a:buNone/>
              <a:defRPr sz="2000" b="1">
                <a:solidFill>
                  <a:srgbClr val="FFFFFF"/>
                </a:solidFill>
                <a:latin typeface="Cabin"/>
                <a:ea typeface="Cabin"/>
                <a:cs typeface="Cabin"/>
                <a:sym typeface="Cabin"/>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5"/>
        <p:cNvGrpSpPr/>
        <p:nvPr/>
      </p:nvGrpSpPr>
      <p:grpSpPr>
        <a:xfrm>
          <a:off x="0" y="0"/>
          <a:ext cx="0" cy="0"/>
          <a:chOff x="0" y="0"/>
          <a:chExt cx="0" cy="0"/>
        </a:xfrm>
      </p:grpSpPr>
      <p:sp>
        <p:nvSpPr>
          <p:cNvPr id="276" name="Google Shape;276;p67"/>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77" name="Google Shape;277;p67"/>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278" name="Google Shape;278;p6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79" name="Google Shape;279;p6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0" name="Google Shape;280;p6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1"/>
        <p:cNvGrpSpPr/>
        <p:nvPr/>
      </p:nvGrpSpPr>
      <p:grpSpPr>
        <a:xfrm>
          <a:off x="0" y="0"/>
          <a:ext cx="0" cy="0"/>
          <a:chOff x="0" y="0"/>
          <a:chExt cx="0" cy="0"/>
        </a:xfrm>
      </p:grpSpPr>
      <p:sp>
        <p:nvSpPr>
          <p:cNvPr id="282" name="Google Shape;282;p68"/>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3" name="Google Shape;283;p68"/>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84" name="Google Shape;284;p6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5" name="Google Shape;285;p6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6" name="Google Shape;286;p6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7"/>
        <p:cNvGrpSpPr/>
        <p:nvPr/>
      </p:nvGrpSpPr>
      <p:grpSpPr>
        <a:xfrm>
          <a:off x="0" y="0"/>
          <a:ext cx="0" cy="0"/>
          <a:chOff x="0" y="0"/>
          <a:chExt cx="0" cy="0"/>
        </a:xfrm>
      </p:grpSpPr>
      <p:sp>
        <p:nvSpPr>
          <p:cNvPr id="288" name="Google Shape;288;p6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9" name="Google Shape;289;p69"/>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90" name="Google Shape;290;p6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1" name="Google Shape;291;p6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2" name="Google Shape;292;p6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3"/>
        <p:cNvGrpSpPr/>
        <p:nvPr/>
      </p:nvGrpSpPr>
      <p:grpSpPr>
        <a:xfrm>
          <a:off x="0" y="0"/>
          <a:ext cx="0" cy="0"/>
          <a:chOff x="0" y="0"/>
          <a:chExt cx="0" cy="0"/>
        </a:xfrm>
      </p:grpSpPr>
      <p:sp>
        <p:nvSpPr>
          <p:cNvPr id="294" name="Google Shape;294;p7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5" name="Google Shape;295;p7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6" name="Google Shape;296;p7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7" name="Google Shape;297;p7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8"/>
        <p:cNvGrpSpPr/>
        <p:nvPr/>
      </p:nvGrpSpPr>
      <p:grpSpPr>
        <a:xfrm>
          <a:off x="0" y="0"/>
          <a:ext cx="0" cy="0"/>
          <a:chOff x="0" y="0"/>
          <a:chExt cx="0" cy="0"/>
        </a:xfrm>
      </p:grpSpPr>
      <p:sp>
        <p:nvSpPr>
          <p:cNvPr id="299" name="Google Shape;299;p71"/>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00" name="Google Shape;300;p71"/>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01" name="Google Shape;301;p71"/>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02" name="Google Shape;302;p7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03" name="Google Shape;303;p7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04" name="Google Shape;304;p7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5"/>
        <p:cNvGrpSpPr/>
        <p:nvPr/>
      </p:nvGrpSpPr>
      <p:grpSpPr>
        <a:xfrm>
          <a:off x="0" y="0"/>
          <a:ext cx="0" cy="0"/>
          <a:chOff x="0" y="0"/>
          <a:chExt cx="0" cy="0"/>
        </a:xfrm>
      </p:grpSpPr>
      <p:sp>
        <p:nvSpPr>
          <p:cNvPr id="306" name="Google Shape;306;p72"/>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07" name="Google Shape;307;p72"/>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08" name="Google Shape;308;p72"/>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09" name="Google Shape;309;p72"/>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10" name="Google Shape;310;p72"/>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11" name="Google Shape;311;p7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12" name="Google Shape;312;p7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13" name="Google Shape;313;p7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4"/>
        <p:cNvGrpSpPr/>
        <p:nvPr/>
      </p:nvGrpSpPr>
      <p:grpSpPr>
        <a:xfrm>
          <a:off x="0" y="0"/>
          <a:ext cx="0" cy="0"/>
          <a:chOff x="0" y="0"/>
          <a:chExt cx="0" cy="0"/>
        </a:xfrm>
      </p:grpSpPr>
      <p:sp>
        <p:nvSpPr>
          <p:cNvPr id="315" name="Google Shape;315;p73"/>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16" name="Google Shape;316;p73"/>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317" name="Google Shape;317;p73"/>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318" name="Google Shape;318;p7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19" name="Google Shape;319;p7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20" name="Google Shape;320;p7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1"/>
        <p:cNvGrpSpPr/>
        <p:nvPr/>
      </p:nvGrpSpPr>
      <p:grpSpPr>
        <a:xfrm>
          <a:off x="0" y="0"/>
          <a:ext cx="0" cy="0"/>
          <a:chOff x="0" y="0"/>
          <a:chExt cx="0" cy="0"/>
        </a:xfrm>
      </p:grpSpPr>
      <p:sp>
        <p:nvSpPr>
          <p:cNvPr id="322" name="Google Shape;322;p74"/>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23" name="Google Shape;323;p74"/>
          <p:cNvSpPr>
            <a:spLocks noGrp="1"/>
          </p:cNvSpPr>
          <p:nvPr>
            <p:ph type="pic" idx="2"/>
          </p:nvPr>
        </p:nvSpPr>
        <p:spPr>
          <a:xfrm>
            <a:off x="3887391" y="740569"/>
            <a:ext cx="4629300" cy="3655200"/>
          </a:xfrm>
          <a:prstGeom prst="rect">
            <a:avLst/>
          </a:prstGeom>
          <a:noFill/>
          <a:ln>
            <a:noFill/>
          </a:ln>
        </p:spPr>
      </p:sp>
      <p:sp>
        <p:nvSpPr>
          <p:cNvPr id="324" name="Google Shape;324;p74"/>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325" name="Google Shape;325;p7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26" name="Google Shape;326;p7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27" name="Google Shape;327;p7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28"/>
        <p:cNvGrpSpPr/>
        <p:nvPr/>
      </p:nvGrpSpPr>
      <p:grpSpPr>
        <a:xfrm>
          <a:off x="0" y="0"/>
          <a:ext cx="0" cy="0"/>
          <a:chOff x="0" y="0"/>
          <a:chExt cx="0" cy="0"/>
        </a:xfrm>
      </p:grpSpPr>
      <p:sp>
        <p:nvSpPr>
          <p:cNvPr id="329" name="Google Shape;329;p7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30" name="Google Shape;330;p75"/>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1" name="Google Shape;331;p7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32" name="Google Shape;332;p7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33" name="Google Shape;333;p7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4"/>
        <p:cNvGrpSpPr/>
        <p:nvPr/>
      </p:nvGrpSpPr>
      <p:grpSpPr>
        <a:xfrm>
          <a:off x="0" y="0"/>
          <a:ext cx="0" cy="0"/>
          <a:chOff x="0" y="0"/>
          <a:chExt cx="0" cy="0"/>
        </a:xfrm>
      </p:grpSpPr>
      <p:sp>
        <p:nvSpPr>
          <p:cNvPr id="335" name="Google Shape;335;p76"/>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36" name="Google Shape;336;p76"/>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7" name="Google Shape;337;p7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38" name="Google Shape;338;p7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39" name="Google Shape;339;p7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theme" Target="../theme/theme3.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19" Type="http://schemas.openxmlformats.org/officeDocument/2006/relationships/theme" Target="../theme/theme4.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theme" Target="../theme/theme5.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2"/>
        <p:cNvGrpSpPr/>
        <p:nvPr/>
      </p:nvGrpSpPr>
      <p:grpSpPr>
        <a:xfrm>
          <a:off x="0" y="0"/>
          <a:ext cx="0" cy="0"/>
          <a:chOff x="0" y="0"/>
          <a:chExt cx="0" cy="0"/>
        </a:xfrm>
      </p:grpSpPr>
      <p:sp>
        <p:nvSpPr>
          <p:cNvPr id="53" name="Google Shape;53;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4" name="Google Shape;54;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5" name="Google Shape;55;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24"/>
        <p:cNvGrpSpPr/>
        <p:nvPr/>
      </p:nvGrpSpPr>
      <p:grpSpPr>
        <a:xfrm>
          <a:off x="0" y="0"/>
          <a:ext cx="0" cy="0"/>
          <a:chOff x="0" y="0"/>
          <a:chExt cx="0" cy="0"/>
        </a:xfrm>
      </p:grpSpPr>
      <p:sp>
        <p:nvSpPr>
          <p:cNvPr id="125" name="Google Shape;125;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26" name="Google Shape;126;p3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a:lnSpc>
                <a:spcPct val="100000"/>
              </a:lnSpc>
              <a:spcBef>
                <a:spcPts val="0"/>
              </a:spcBef>
              <a:spcAft>
                <a:spcPts val="0"/>
              </a:spcAft>
              <a:buClr>
                <a:schemeClr val="dk1"/>
              </a:buClr>
              <a:buSzPts val="1800"/>
              <a:buFont typeface="Cabin"/>
              <a:buChar char="●"/>
              <a:defRPr sz="1800" i="0" u="none" strike="noStrike" cap="none">
                <a:solidFill>
                  <a:schemeClr val="dk1"/>
                </a:solidFill>
                <a:latin typeface="Cabin"/>
                <a:ea typeface="Cabin"/>
                <a:cs typeface="Cabin"/>
                <a:sym typeface="Cabin"/>
              </a:defRPr>
            </a:lvl1pPr>
            <a:lvl2pPr marL="914400" marR="0" lvl="1" indent="-317500" algn="l">
              <a:lnSpc>
                <a:spcPct val="100000"/>
              </a:lnSpc>
              <a:spcBef>
                <a:spcPts val="800"/>
              </a:spcBef>
              <a:spcAft>
                <a:spcPts val="0"/>
              </a:spcAft>
              <a:buClr>
                <a:schemeClr val="dk1"/>
              </a:buClr>
              <a:buSzPts val="1400"/>
              <a:buFont typeface="Cabin"/>
              <a:buChar char="○"/>
              <a:defRPr sz="1400" i="0" u="none" strike="noStrike" cap="none">
                <a:solidFill>
                  <a:schemeClr val="dk1"/>
                </a:solidFill>
                <a:latin typeface="Cabin"/>
                <a:ea typeface="Cabin"/>
                <a:cs typeface="Cabin"/>
                <a:sym typeface="Cabin"/>
              </a:defRPr>
            </a:lvl2pPr>
            <a:lvl3pPr marL="1371600" marR="0" lvl="2" indent="-317500" algn="l">
              <a:lnSpc>
                <a:spcPct val="100000"/>
              </a:lnSpc>
              <a:spcBef>
                <a:spcPts val="800"/>
              </a:spcBef>
              <a:spcAft>
                <a:spcPts val="0"/>
              </a:spcAft>
              <a:buClr>
                <a:schemeClr val="dk1"/>
              </a:buClr>
              <a:buSzPts val="1400"/>
              <a:buFont typeface="Cabin"/>
              <a:buChar char="■"/>
              <a:defRPr sz="1400" i="0" u="none" strike="noStrike" cap="none">
                <a:solidFill>
                  <a:schemeClr val="dk1"/>
                </a:solidFill>
                <a:latin typeface="Cabin"/>
                <a:ea typeface="Cabin"/>
                <a:cs typeface="Cabin"/>
                <a:sym typeface="Cabin"/>
              </a:defRPr>
            </a:lvl3pPr>
            <a:lvl4pPr marL="1828800" marR="0" lvl="3" indent="-317500" algn="l">
              <a:lnSpc>
                <a:spcPct val="100000"/>
              </a:lnSpc>
              <a:spcBef>
                <a:spcPts val="800"/>
              </a:spcBef>
              <a:spcAft>
                <a:spcPts val="0"/>
              </a:spcAft>
              <a:buClr>
                <a:schemeClr val="dk1"/>
              </a:buClr>
              <a:buSzPts val="1400"/>
              <a:buFont typeface="Cabin"/>
              <a:buChar char="●"/>
              <a:defRPr sz="1400" i="0" u="none" strike="noStrike" cap="none">
                <a:solidFill>
                  <a:schemeClr val="dk1"/>
                </a:solidFill>
                <a:latin typeface="Cabin"/>
                <a:ea typeface="Cabin"/>
                <a:cs typeface="Cabin"/>
                <a:sym typeface="Cabin"/>
              </a:defRPr>
            </a:lvl4pPr>
            <a:lvl5pPr marL="2286000" marR="0" lvl="4" indent="-317500" algn="l">
              <a:lnSpc>
                <a:spcPct val="100000"/>
              </a:lnSpc>
              <a:spcBef>
                <a:spcPts val="800"/>
              </a:spcBef>
              <a:spcAft>
                <a:spcPts val="0"/>
              </a:spcAft>
              <a:buClr>
                <a:schemeClr val="dk1"/>
              </a:buClr>
              <a:buSzPts val="1400"/>
              <a:buFont typeface="Cabin"/>
              <a:buChar char="○"/>
              <a:defRPr sz="1400" i="0" u="none" strike="noStrike" cap="none">
                <a:solidFill>
                  <a:schemeClr val="dk1"/>
                </a:solidFill>
                <a:latin typeface="Cabin"/>
                <a:ea typeface="Cabin"/>
                <a:cs typeface="Cabin"/>
                <a:sym typeface="Cabin"/>
              </a:defRPr>
            </a:lvl5pPr>
            <a:lvl6pPr marL="2743200" marR="0" lvl="5" indent="-317500" algn="l">
              <a:lnSpc>
                <a:spcPct val="100000"/>
              </a:lnSpc>
              <a:spcBef>
                <a:spcPts val="800"/>
              </a:spcBef>
              <a:spcAft>
                <a:spcPts val="0"/>
              </a:spcAft>
              <a:buClr>
                <a:schemeClr val="dk1"/>
              </a:buClr>
              <a:buSzPts val="1400"/>
              <a:buFont typeface="Cabin"/>
              <a:buChar char="■"/>
              <a:defRPr sz="1400" i="0" u="none" strike="noStrike" cap="none">
                <a:solidFill>
                  <a:schemeClr val="dk1"/>
                </a:solidFill>
                <a:latin typeface="Cabin"/>
                <a:ea typeface="Cabin"/>
                <a:cs typeface="Cabin"/>
                <a:sym typeface="Cabin"/>
              </a:defRPr>
            </a:lvl6pPr>
            <a:lvl7pPr marL="3200400" marR="0" lvl="6" indent="-317500" algn="l">
              <a:lnSpc>
                <a:spcPct val="100000"/>
              </a:lnSpc>
              <a:spcBef>
                <a:spcPts val="800"/>
              </a:spcBef>
              <a:spcAft>
                <a:spcPts val="0"/>
              </a:spcAft>
              <a:buClr>
                <a:schemeClr val="dk1"/>
              </a:buClr>
              <a:buSzPts val="1400"/>
              <a:buFont typeface="Cabin"/>
              <a:buChar char="●"/>
              <a:defRPr sz="1400" i="0" u="none" strike="noStrike" cap="none">
                <a:solidFill>
                  <a:schemeClr val="dk1"/>
                </a:solidFill>
                <a:latin typeface="Cabin"/>
                <a:ea typeface="Cabin"/>
                <a:cs typeface="Cabin"/>
                <a:sym typeface="Cabin"/>
              </a:defRPr>
            </a:lvl7pPr>
            <a:lvl8pPr marL="3657600" marR="0" lvl="7" indent="-317500" algn="l">
              <a:lnSpc>
                <a:spcPct val="100000"/>
              </a:lnSpc>
              <a:spcBef>
                <a:spcPts val="800"/>
              </a:spcBef>
              <a:spcAft>
                <a:spcPts val="0"/>
              </a:spcAft>
              <a:buClr>
                <a:schemeClr val="dk1"/>
              </a:buClr>
              <a:buSzPts val="1400"/>
              <a:buFont typeface="Cabin"/>
              <a:buChar char="○"/>
              <a:defRPr sz="1400" i="0" u="none" strike="noStrike" cap="none">
                <a:solidFill>
                  <a:schemeClr val="dk1"/>
                </a:solidFill>
                <a:latin typeface="Cabin"/>
                <a:ea typeface="Cabin"/>
                <a:cs typeface="Cabin"/>
                <a:sym typeface="Cabin"/>
              </a:defRPr>
            </a:lvl8pPr>
            <a:lvl9pPr marL="4114800" marR="0" lvl="8" indent="-317500" algn="l">
              <a:lnSpc>
                <a:spcPct val="100000"/>
              </a:lnSpc>
              <a:spcBef>
                <a:spcPts val="800"/>
              </a:spcBef>
              <a:spcAft>
                <a:spcPts val="800"/>
              </a:spcAft>
              <a:buClr>
                <a:schemeClr val="dk1"/>
              </a:buClr>
              <a:buSzPts val="1400"/>
              <a:buFont typeface="Cabin"/>
              <a:buChar char="■"/>
              <a:defRPr sz="1400" i="0" u="none" strike="noStrike" cap="none">
                <a:solidFill>
                  <a:schemeClr val="dk1"/>
                </a:solidFill>
                <a:latin typeface="Cabin"/>
                <a:ea typeface="Cabin"/>
                <a:cs typeface="Cabin"/>
                <a:sym typeface="Cabin"/>
              </a:defRPr>
            </a:lvl9pPr>
          </a:lstStyle>
          <a:p>
            <a:endParaRPr/>
          </a:p>
        </p:txBody>
      </p:sp>
    </p:spTree>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84"/>
        <p:cNvGrpSpPr/>
        <p:nvPr/>
      </p:nvGrpSpPr>
      <p:grpSpPr>
        <a:xfrm>
          <a:off x="0" y="0"/>
          <a:ext cx="0" cy="0"/>
          <a:chOff x="0" y="0"/>
          <a:chExt cx="0" cy="0"/>
        </a:xfrm>
      </p:grpSpPr>
      <p:sp>
        <p:nvSpPr>
          <p:cNvPr id="185" name="Google Shape;185;p4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86" name="Google Shape;186;p4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87" name="Google Shape;187;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0"/>
        <p:cNvGrpSpPr/>
        <p:nvPr/>
      </p:nvGrpSpPr>
      <p:grpSpPr>
        <a:xfrm>
          <a:off x="0" y="0"/>
          <a:ext cx="0" cy="0"/>
          <a:chOff x="0" y="0"/>
          <a:chExt cx="0" cy="0"/>
        </a:xfrm>
      </p:grpSpPr>
      <p:sp>
        <p:nvSpPr>
          <p:cNvPr id="261" name="Google Shape;261;p6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262" name="Google Shape;262;p6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263" name="Google Shape;263;p6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264" name="Google Shape;264;p6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265" name="Google Shape;265;p6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8" Type="http://schemas.openxmlformats.org/officeDocument/2006/relationships/hyperlink" Target="mailto:hal@allotropepartners.com" TargetMode="External"/><Relationship Id="rId3" Type="http://schemas.openxmlformats.org/officeDocument/2006/relationships/image" Target="../media/image2.png"/><Relationship Id="rId7" Type="http://schemas.openxmlformats.org/officeDocument/2006/relationships/hyperlink" Target="mailto:chn@allotropevc.com" TargetMode="External"/><Relationship Id="rId2" Type="http://schemas.openxmlformats.org/officeDocument/2006/relationships/notesSlide" Target="../notesSlides/notesSlide8.xml"/><Relationship Id="rId1" Type="http://schemas.openxmlformats.org/officeDocument/2006/relationships/slideLayout" Target="../slideLayouts/slideLayout59.xml"/><Relationship Id="rId6" Type="http://schemas.openxmlformats.org/officeDocument/2006/relationships/hyperlink" Target="mailto:httt@allotropevc.com" TargetMode="External"/><Relationship Id="rId5" Type="http://schemas.openxmlformats.org/officeDocument/2006/relationships/hyperlink" Target="mailto:tah@allotropepartners.com" TargetMode="Externa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1.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3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1.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4.xml"/><Relationship Id="rId5" Type="http://schemas.openxmlformats.org/officeDocument/2006/relationships/image" Target="../media/image27.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6.xml"/><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comments" Target="../comments/commen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31.xml"/><Relationship Id="rId4" Type="http://schemas.openxmlformats.org/officeDocument/2006/relationships/comments" Target="../comments/comment3.xml"/></Relationships>
</file>

<file path=ppt/slides/_rels/slide2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comments" Target="../comments/comment4.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comments" Target="../comments/comment5.xml"/></Relationships>
</file>

<file path=ppt/slides/_rels/slide24.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openxmlformats.org/officeDocument/2006/relationships/comments" Target="../comments/comment7.xml"/><Relationship Id="rId3" Type="http://schemas.openxmlformats.org/officeDocument/2006/relationships/image" Target="../media/image41.png"/><Relationship Id="rId7"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4.xml"/><Relationship Id="rId6" Type="http://schemas.openxmlformats.org/officeDocument/2006/relationships/image" Target="../media/image29.png"/><Relationship Id="rId5" Type="http://schemas.openxmlformats.org/officeDocument/2006/relationships/image" Target="../media/image42.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pic>
        <p:nvPicPr>
          <p:cNvPr id="344" name="Google Shape;344;p77" title="new banana.jpg"/>
          <p:cNvPicPr preferRelativeResize="0"/>
          <p:nvPr/>
        </p:nvPicPr>
        <p:blipFill rotWithShape="1">
          <a:blip r:embed="rId3">
            <a:alphaModFix/>
          </a:blip>
          <a:srcRect l="1038" r="1038"/>
          <a:stretch/>
        </p:blipFill>
        <p:spPr>
          <a:xfrm>
            <a:off x="0" y="2461155"/>
            <a:ext cx="9144003" cy="2746489"/>
          </a:xfrm>
          <a:prstGeom prst="rect">
            <a:avLst/>
          </a:prstGeom>
          <a:noFill/>
          <a:ln>
            <a:noFill/>
          </a:ln>
          <a:effectLst>
            <a:outerShdw blurRad="57150" dist="19050" dir="5400000" algn="bl" rotWithShape="0">
              <a:srgbClr val="000000">
                <a:alpha val="50000"/>
              </a:srgbClr>
            </a:outerShdw>
          </a:effectLst>
        </p:spPr>
      </p:pic>
      <p:sp>
        <p:nvSpPr>
          <p:cNvPr id="345" name="Google Shape;345;p77"/>
          <p:cNvSpPr/>
          <p:nvPr/>
        </p:nvSpPr>
        <p:spPr>
          <a:xfrm>
            <a:off x="13" y="0"/>
            <a:ext cx="9143982" cy="3030102"/>
          </a:xfrm>
          <a:prstGeom prst="flowChartDocumen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346" name="Google Shape;346;p77"/>
          <p:cNvSpPr txBox="1">
            <a:spLocks noGrp="1"/>
          </p:cNvSpPr>
          <p:nvPr>
            <p:ph type="ctrTitle"/>
          </p:nvPr>
        </p:nvSpPr>
        <p:spPr>
          <a:xfrm>
            <a:off x="0" y="1065375"/>
            <a:ext cx="9144000" cy="13341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sz="3033" b="1">
                <a:solidFill>
                  <a:srgbClr val="11665A"/>
                </a:solidFill>
                <a:latin typeface="Cabin"/>
                <a:ea typeface="Cabin"/>
                <a:cs typeface="Cabin"/>
                <a:sym typeface="Cabin"/>
              </a:rPr>
              <a:t>Allotrope Vietnam Progress Update For Tara</a:t>
            </a:r>
            <a:endParaRPr sz="3033" b="1">
              <a:solidFill>
                <a:srgbClr val="11665A"/>
              </a:solidFill>
              <a:latin typeface="Cabin"/>
              <a:ea typeface="Cabin"/>
              <a:cs typeface="Cabin"/>
              <a:sym typeface="Cabin"/>
            </a:endParaRPr>
          </a:p>
          <a:p>
            <a:pPr marL="0" lvl="0" indent="0" algn="ctr" rtl="0">
              <a:spcBef>
                <a:spcPts val="0"/>
              </a:spcBef>
              <a:spcAft>
                <a:spcPts val="0"/>
              </a:spcAft>
              <a:buNone/>
            </a:pPr>
            <a:r>
              <a:rPr lang="en" sz="3033" b="1">
                <a:solidFill>
                  <a:srgbClr val="11665A"/>
                </a:solidFill>
                <a:latin typeface="Cabin"/>
                <a:ea typeface="Cabin"/>
                <a:cs typeface="Cabin"/>
                <a:sym typeface="Cabin"/>
              </a:rPr>
              <a:t>Greening the Banks &amp; Energy Storage in Vietnam</a:t>
            </a:r>
            <a:endParaRPr sz="3033" b="1">
              <a:solidFill>
                <a:srgbClr val="11665A"/>
              </a:solidFill>
              <a:latin typeface="Cabin"/>
              <a:ea typeface="Cabin"/>
              <a:cs typeface="Cabin"/>
              <a:sym typeface="Cabin"/>
            </a:endParaRPr>
          </a:p>
          <a:p>
            <a:pPr marL="0" lvl="0" indent="0" algn="ctr" rtl="0">
              <a:spcBef>
                <a:spcPts val="0"/>
              </a:spcBef>
              <a:spcAft>
                <a:spcPts val="0"/>
              </a:spcAft>
              <a:buNone/>
            </a:pPr>
            <a:r>
              <a:rPr lang="en" sz="3033" b="1">
                <a:solidFill>
                  <a:srgbClr val="11665A"/>
                </a:solidFill>
                <a:latin typeface="Cabin"/>
                <a:ea typeface="Cabin"/>
                <a:cs typeface="Cabin"/>
                <a:sym typeface="Cabin"/>
              </a:rPr>
              <a:t>December 2025</a:t>
            </a:r>
            <a:endParaRPr sz="3033" b="1">
              <a:solidFill>
                <a:srgbClr val="11665A"/>
              </a:solidFill>
              <a:latin typeface="Cabin"/>
              <a:ea typeface="Cabin"/>
              <a:cs typeface="Cabin"/>
              <a:sym typeface="Cabin"/>
            </a:endParaRPr>
          </a:p>
        </p:txBody>
      </p:sp>
      <p:pic>
        <p:nvPicPr>
          <p:cNvPr id="347" name="Google Shape;347;p77"/>
          <p:cNvPicPr preferRelativeResize="0"/>
          <p:nvPr/>
        </p:nvPicPr>
        <p:blipFill rotWithShape="1">
          <a:blip r:embed="rId4">
            <a:alphaModFix/>
          </a:blip>
          <a:srcRect/>
          <a:stretch/>
        </p:blipFill>
        <p:spPr>
          <a:xfrm>
            <a:off x="7573025" y="0"/>
            <a:ext cx="1570976" cy="549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7"/>
        <p:cNvGrpSpPr/>
        <p:nvPr/>
      </p:nvGrpSpPr>
      <p:grpSpPr>
        <a:xfrm>
          <a:off x="0" y="0"/>
          <a:ext cx="0" cy="0"/>
          <a:chOff x="0" y="0"/>
          <a:chExt cx="0" cy="0"/>
        </a:xfrm>
      </p:grpSpPr>
      <p:pic>
        <p:nvPicPr>
          <p:cNvPr id="418" name="Google Shape;418;p87"/>
          <p:cNvPicPr preferRelativeResize="0"/>
          <p:nvPr/>
        </p:nvPicPr>
        <p:blipFill rotWithShape="1">
          <a:blip r:embed="rId3">
            <a:alphaModFix amt="50000"/>
          </a:blip>
          <a:srcRect t="22486" b="19290"/>
          <a:stretch/>
        </p:blipFill>
        <p:spPr>
          <a:xfrm>
            <a:off x="0" y="2148725"/>
            <a:ext cx="9144000" cy="2994775"/>
          </a:xfrm>
          <a:prstGeom prst="rect">
            <a:avLst/>
          </a:prstGeom>
          <a:noFill/>
          <a:ln>
            <a:noFill/>
          </a:ln>
        </p:spPr>
      </p:pic>
      <p:sp>
        <p:nvSpPr>
          <p:cNvPr id="419" name="Google Shape;419;p87"/>
          <p:cNvSpPr txBox="1"/>
          <p:nvPr/>
        </p:nvSpPr>
        <p:spPr>
          <a:xfrm>
            <a:off x="523150" y="549050"/>
            <a:ext cx="6849600" cy="1117800"/>
          </a:xfrm>
          <a:prstGeom prst="rect">
            <a:avLst/>
          </a:prstGeom>
          <a:noFill/>
          <a:ln>
            <a:noFill/>
          </a:ln>
          <a:effectLst>
            <a:outerShdw blurRad="57150" dist="19050" dir="5400000" algn="bl" rotWithShape="0">
              <a:srgbClr val="8DC7C1">
                <a:alpha val="50000"/>
              </a:srgbClr>
            </a:outerShdw>
          </a:effectLst>
        </p:spPr>
        <p:txBody>
          <a:bodyPr spcFirstLastPara="1" wrap="square" lIns="68575" tIns="34275" rIns="68575" bIns="34275" anchor="ctr" anchorCtr="0">
            <a:noAutofit/>
          </a:bodyPr>
          <a:lstStyle/>
          <a:p>
            <a:pPr marL="0" marR="0" lvl="0" indent="0" algn="l" rtl="0">
              <a:spcBef>
                <a:spcPts val="0"/>
              </a:spcBef>
              <a:spcAft>
                <a:spcPts val="0"/>
              </a:spcAft>
              <a:buNone/>
            </a:pPr>
            <a:r>
              <a:rPr lang="en" sz="2600" b="1">
                <a:solidFill>
                  <a:srgbClr val="155B55"/>
                </a:solidFill>
                <a:latin typeface="Cabin"/>
                <a:ea typeface="Cabin"/>
                <a:cs typeface="Cabin"/>
                <a:sym typeface="Cabin"/>
              </a:rPr>
              <a:t>Greening the Banks Vietnam</a:t>
            </a:r>
            <a:endParaRPr sz="2600" b="1">
              <a:solidFill>
                <a:srgbClr val="155B55"/>
              </a:solidFill>
              <a:latin typeface="Cabin"/>
              <a:ea typeface="Cabin"/>
              <a:cs typeface="Cabin"/>
              <a:sym typeface="Cabin"/>
            </a:endParaRPr>
          </a:p>
          <a:p>
            <a:pPr marL="0" marR="0" lvl="0" indent="0" algn="l" rtl="0">
              <a:spcBef>
                <a:spcPts val="0"/>
              </a:spcBef>
              <a:spcAft>
                <a:spcPts val="0"/>
              </a:spcAft>
              <a:buNone/>
            </a:pPr>
            <a:r>
              <a:rPr lang="en" sz="2600" b="1">
                <a:solidFill>
                  <a:srgbClr val="155B55"/>
                </a:solidFill>
                <a:latin typeface="Cabin"/>
                <a:ea typeface="Cabin"/>
                <a:cs typeface="Cabin"/>
                <a:sym typeface="Cabin"/>
              </a:rPr>
              <a:t>Progress Updates</a:t>
            </a:r>
            <a:endParaRPr sz="2600" b="1">
              <a:solidFill>
                <a:srgbClr val="155B55"/>
              </a:solidFill>
              <a:latin typeface="Cabin"/>
              <a:ea typeface="Cabin"/>
              <a:cs typeface="Cabin"/>
              <a:sym typeface="Cabin"/>
            </a:endParaRPr>
          </a:p>
        </p:txBody>
      </p:sp>
      <p:sp>
        <p:nvSpPr>
          <p:cNvPr id="420" name="Google Shape;420;p87"/>
          <p:cNvSpPr txBox="1"/>
          <p:nvPr/>
        </p:nvSpPr>
        <p:spPr>
          <a:xfrm>
            <a:off x="5755850" y="1512050"/>
            <a:ext cx="1817400" cy="32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a:solidFill>
                <a:schemeClr val="lt1"/>
              </a:solidFill>
              <a:latin typeface="Montserrat"/>
              <a:ea typeface="Montserrat"/>
              <a:cs typeface="Montserrat"/>
              <a:sym typeface="Montserrat"/>
            </a:endParaRPr>
          </a:p>
        </p:txBody>
      </p:sp>
      <p:pic>
        <p:nvPicPr>
          <p:cNvPr id="421" name="Google Shape;421;p87"/>
          <p:cNvPicPr preferRelativeResize="0"/>
          <p:nvPr/>
        </p:nvPicPr>
        <p:blipFill rotWithShape="1">
          <a:blip r:embed="rId4">
            <a:alphaModFix/>
          </a:blip>
          <a:srcRect/>
          <a:stretch/>
        </p:blipFill>
        <p:spPr>
          <a:xfrm>
            <a:off x="8" y="4814100"/>
            <a:ext cx="1109740" cy="329400"/>
          </a:xfrm>
          <a:prstGeom prst="rect">
            <a:avLst/>
          </a:prstGeom>
          <a:noFill/>
          <a:ln>
            <a:noFill/>
          </a:ln>
        </p:spPr>
      </p:pic>
      <p:pic>
        <p:nvPicPr>
          <p:cNvPr id="422" name="Google Shape;422;p87"/>
          <p:cNvPicPr preferRelativeResize="0"/>
          <p:nvPr/>
        </p:nvPicPr>
        <p:blipFill rotWithShape="1">
          <a:blip r:embed="rId5">
            <a:alphaModFix/>
          </a:blip>
          <a:srcRect/>
          <a:stretch/>
        </p:blipFill>
        <p:spPr>
          <a:xfrm>
            <a:off x="7573025" y="0"/>
            <a:ext cx="1570976" cy="549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88"/>
          <p:cNvSpPr/>
          <p:nvPr/>
        </p:nvSpPr>
        <p:spPr>
          <a:xfrm>
            <a:off x="65575" y="69625"/>
            <a:ext cx="8991000" cy="9201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17780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FBFBFB"/>
                </a:solidFill>
                <a:latin typeface="Cabin"/>
                <a:ea typeface="Cabin"/>
                <a:cs typeface="Cabin"/>
                <a:sym typeface="Cabin"/>
              </a:rPr>
              <a:t> </a:t>
            </a:r>
            <a:endParaRPr sz="1500" b="1" i="0" u="none" strike="noStrike" cap="none">
              <a:solidFill>
                <a:srgbClr val="FBFBFB"/>
              </a:solidFill>
              <a:latin typeface="Cabin"/>
              <a:ea typeface="Cabin"/>
              <a:cs typeface="Cabin"/>
              <a:sym typeface="Cabin"/>
            </a:endParaRPr>
          </a:p>
        </p:txBody>
      </p:sp>
      <p:sp>
        <p:nvSpPr>
          <p:cNvPr id="428" name="Google Shape;428;p88"/>
          <p:cNvSpPr txBox="1">
            <a:spLocks noGrp="1"/>
          </p:cNvSpPr>
          <p:nvPr>
            <p:ph type="title"/>
          </p:nvPr>
        </p:nvSpPr>
        <p:spPr>
          <a:xfrm>
            <a:off x="265725" y="1190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40909"/>
              <a:buNone/>
            </a:pPr>
            <a:r>
              <a:rPr lang="en" sz="2420" b="1">
                <a:solidFill>
                  <a:schemeClr val="lt1"/>
                </a:solidFill>
                <a:latin typeface="Cabin"/>
                <a:ea typeface="Cabin"/>
                <a:cs typeface="Cabin"/>
                <a:sym typeface="Cabin"/>
              </a:rPr>
              <a:t>Greening the Banks Vietnam: </a:t>
            </a:r>
            <a:endParaRPr sz="2420" b="1">
              <a:solidFill>
                <a:schemeClr val="lt1"/>
              </a:solidFill>
              <a:latin typeface="Cabin"/>
              <a:ea typeface="Cabin"/>
              <a:cs typeface="Cabin"/>
              <a:sym typeface="Cabin"/>
            </a:endParaRPr>
          </a:p>
          <a:p>
            <a:pPr marL="0" lvl="0" indent="0" algn="l" rtl="0">
              <a:spcBef>
                <a:spcPts val="0"/>
              </a:spcBef>
              <a:spcAft>
                <a:spcPts val="0"/>
              </a:spcAft>
              <a:buSzPct val="40909"/>
              <a:buNone/>
            </a:pPr>
            <a:r>
              <a:rPr lang="en" sz="2420" b="1">
                <a:solidFill>
                  <a:schemeClr val="lt1"/>
                </a:solidFill>
                <a:latin typeface="Cabin"/>
                <a:ea typeface="Cabin"/>
                <a:cs typeface="Cabin"/>
                <a:sym typeface="Cabin"/>
              </a:rPr>
              <a:t>Status</a:t>
            </a:r>
            <a:r>
              <a:rPr lang="en" sz="2400" b="1">
                <a:solidFill>
                  <a:schemeClr val="lt1"/>
                </a:solidFill>
                <a:latin typeface="Cabin"/>
                <a:ea typeface="Cabin"/>
                <a:cs typeface="Cabin"/>
                <a:sym typeface="Cabin"/>
              </a:rPr>
              <a:t> Update on Outputs</a:t>
            </a:r>
            <a:endParaRPr sz="2400" b="1">
              <a:solidFill>
                <a:schemeClr val="lt1"/>
              </a:solidFill>
              <a:latin typeface="Cabin"/>
              <a:ea typeface="Cabin"/>
              <a:cs typeface="Cabin"/>
              <a:sym typeface="Cabin"/>
            </a:endParaRPr>
          </a:p>
          <a:p>
            <a:pPr marL="0" lvl="0" indent="0" algn="l" rtl="0">
              <a:spcBef>
                <a:spcPts val="0"/>
              </a:spcBef>
              <a:spcAft>
                <a:spcPts val="0"/>
              </a:spcAft>
              <a:buSzPct val="40909"/>
              <a:buNone/>
            </a:pPr>
            <a:endParaRPr sz="2420" b="1">
              <a:solidFill>
                <a:schemeClr val="lt1"/>
              </a:solidFill>
              <a:latin typeface="Cabin"/>
              <a:ea typeface="Cabin"/>
              <a:cs typeface="Cabin"/>
              <a:sym typeface="Cabin"/>
            </a:endParaRPr>
          </a:p>
        </p:txBody>
      </p:sp>
      <p:graphicFrame>
        <p:nvGraphicFramePr>
          <p:cNvPr id="429" name="Google Shape;429;p88"/>
          <p:cNvGraphicFramePr/>
          <p:nvPr/>
        </p:nvGraphicFramePr>
        <p:xfrm>
          <a:off x="422650" y="1182100"/>
          <a:ext cx="3000000" cy="3000000"/>
        </p:xfrm>
        <a:graphic>
          <a:graphicData uri="http://schemas.openxmlformats.org/drawingml/2006/table">
            <a:tbl>
              <a:tblPr>
                <a:noFill/>
                <a:tableStyleId>{110B0612-A9F4-49DA-BEA1-DD1CF77D77B9}</a:tableStyleId>
              </a:tblPr>
              <a:tblGrid>
                <a:gridCol w="2761325">
                  <a:extLst>
                    <a:ext uri="{9D8B030D-6E8A-4147-A177-3AD203B41FA5}">
                      <a16:colId xmlns:a16="http://schemas.microsoft.com/office/drawing/2014/main" val="20000"/>
                    </a:ext>
                  </a:extLst>
                </a:gridCol>
                <a:gridCol w="4182825">
                  <a:extLst>
                    <a:ext uri="{9D8B030D-6E8A-4147-A177-3AD203B41FA5}">
                      <a16:colId xmlns:a16="http://schemas.microsoft.com/office/drawing/2014/main" val="20001"/>
                    </a:ext>
                  </a:extLst>
                </a:gridCol>
                <a:gridCol w="1419525">
                  <a:extLst>
                    <a:ext uri="{9D8B030D-6E8A-4147-A177-3AD203B41FA5}">
                      <a16:colId xmlns:a16="http://schemas.microsoft.com/office/drawing/2014/main" val="20002"/>
                    </a:ext>
                  </a:extLst>
                </a:gridCol>
              </a:tblGrid>
              <a:tr h="350450">
                <a:tc>
                  <a:txBody>
                    <a:bodyPr/>
                    <a:lstStyle/>
                    <a:p>
                      <a:pPr marL="0" lvl="0" indent="0" algn="l" rtl="0">
                        <a:spcBef>
                          <a:spcPts val="0"/>
                        </a:spcBef>
                        <a:spcAft>
                          <a:spcPts val="0"/>
                        </a:spcAft>
                        <a:buNone/>
                      </a:pPr>
                      <a:r>
                        <a:rPr lang="en" sz="1100" b="1">
                          <a:solidFill>
                            <a:schemeClr val="lt1"/>
                          </a:solidFill>
                          <a:latin typeface="Cabin"/>
                          <a:ea typeface="Cabin"/>
                          <a:cs typeface="Cabin"/>
                          <a:sym typeface="Cabin"/>
                        </a:rPr>
                        <a:t>Objectives</a:t>
                      </a:r>
                      <a:endParaRPr sz="1100" b="1">
                        <a:solidFill>
                          <a:schemeClr val="lt1"/>
                        </a:solidFill>
                        <a:latin typeface="Cabin"/>
                        <a:ea typeface="Cabin"/>
                        <a:cs typeface="Cabin"/>
                        <a:sym typeface="Cabin"/>
                      </a:endParaRPr>
                    </a:p>
                  </a:txBody>
                  <a:tcPr marL="91425" marR="91425" marT="91425" marB="91425">
                    <a:solidFill>
                      <a:srgbClr val="155B54"/>
                    </a:solidFill>
                  </a:tcPr>
                </a:tc>
                <a:tc>
                  <a:txBody>
                    <a:bodyPr/>
                    <a:lstStyle/>
                    <a:p>
                      <a:pPr marL="0" lvl="0" indent="0" algn="ctr" rtl="0">
                        <a:spcBef>
                          <a:spcPts val="0"/>
                        </a:spcBef>
                        <a:spcAft>
                          <a:spcPts val="0"/>
                        </a:spcAft>
                        <a:buNone/>
                      </a:pPr>
                      <a:r>
                        <a:rPr lang="en" sz="1100" b="1">
                          <a:solidFill>
                            <a:schemeClr val="lt1"/>
                          </a:solidFill>
                          <a:latin typeface="Cabin"/>
                          <a:ea typeface="Cabin"/>
                          <a:cs typeface="Cabin"/>
                          <a:sym typeface="Cabin"/>
                        </a:rPr>
                        <a:t>Outputs</a:t>
                      </a:r>
                      <a:endParaRPr sz="1100" b="1">
                        <a:solidFill>
                          <a:schemeClr val="lt1"/>
                        </a:solidFill>
                        <a:latin typeface="Cabin"/>
                        <a:ea typeface="Cabin"/>
                        <a:cs typeface="Cabin"/>
                        <a:sym typeface="Cabin"/>
                      </a:endParaRPr>
                    </a:p>
                  </a:txBody>
                  <a:tcPr marL="91425" marR="91425" marT="91425" marB="91425">
                    <a:lnB w="9525" cap="flat" cmpd="sng">
                      <a:solidFill>
                        <a:srgbClr val="9E9E9E"/>
                      </a:solidFill>
                      <a:prstDash val="solid"/>
                      <a:round/>
                      <a:headEnd type="none" w="sm" len="sm"/>
                      <a:tailEnd type="none" w="sm" len="sm"/>
                    </a:lnB>
                    <a:solidFill>
                      <a:srgbClr val="155B54"/>
                    </a:solidFill>
                  </a:tcPr>
                </a:tc>
                <a:tc>
                  <a:txBody>
                    <a:bodyPr/>
                    <a:lstStyle/>
                    <a:p>
                      <a:pPr marL="0" lvl="0" indent="0" algn="ctr" rtl="0">
                        <a:spcBef>
                          <a:spcPts val="0"/>
                        </a:spcBef>
                        <a:spcAft>
                          <a:spcPts val="0"/>
                        </a:spcAft>
                        <a:buNone/>
                      </a:pPr>
                      <a:r>
                        <a:rPr lang="en" sz="1100" b="1">
                          <a:solidFill>
                            <a:schemeClr val="lt1"/>
                          </a:solidFill>
                          <a:latin typeface="Cabin"/>
                          <a:ea typeface="Cabin"/>
                          <a:cs typeface="Cabin"/>
                          <a:sym typeface="Cabin"/>
                        </a:rPr>
                        <a:t>Status</a:t>
                      </a:r>
                      <a:endParaRPr sz="1100" b="1">
                        <a:solidFill>
                          <a:schemeClr val="lt1"/>
                        </a:solidFill>
                        <a:latin typeface="Cabin"/>
                        <a:ea typeface="Cabin"/>
                        <a:cs typeface="Cabin"/>
                        <a:sym typeface="Cabin"/>
                      </a:endParaRPr>
                    </a:p>
                  </a:txBody>
                  <a:tcPr marL="91425" marR="91425" marT="91425" marB="91425">
                    <a:solidFill>
                      <a:srgbClr val="155B54"/>
                    </a:solidFill>
                  </a:tcPr>
                </a:tc>
                <a:extLst>
                  <a:ext uri="{0D108BD9-81ED-4DB2-BD59-A6C34878D82A}">
                    <a16:rowId xmlns:a16="http://schemas.microsoft.com/office/drawing/2014/main" val="10000"/>
                  </a:ext>
                </a:extLst>
              </a:tr>
              <a:tr h="518100">
                <a:tc rowSpan="2">
                  <a:txBody>
                    <a:bodyPr/>
                    <a:lstStyle/>
                    <a:p>
                      <a:pPr marL="0" lvl="0" indent="0" algn="l" rtl="0">
                        <a:spcBef>
                          <a:spcPts val="0"/>
                        </a:spcBef>
                        <a:spcAft>
                          <a:spcPts val="0"/>
                        </a:spcAft>
                        <a:buNone/>
                      </a:pPr>
                      <a:r>
                        <a:rPr lang="en" sz="1200">
                          <a:latin typeface="Cabin"/>
                          <a:ea typeface="Cabin"/>
                          <a:cs typeface="Cabin"/>
                          <a:sym typeface="Cabin"/>
                        </a:rPr>
                        <a:t>1. Collaborate with two champion banks in Vietnam (1 state-owned and 1 commercial bank) on tangible portfolio-wide measurement and action</a:t>
                      </a:r>
                      <a:endParaRPr sz="1200">
                        <a:latin typeface="Cabin"/>
                        <a:ea typeface="Cabin"/>
                        <a:cs typeface="Cabin"/>
                        <a:sym typeface="Cabin"/>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1200">
                          <a:latin typeface="Cabin"/>
                          <a:ea typeface="Cabin"/>
                          <a:cs typeface="Cabin"/>
                          <a:sym typeface="Cabin"/>
                        </a:rPr>
                        <a:t>Develop GHG assessment reports with two champion banks</a:t>
                      </a:r>
                      <a:endParaRPr sz="1200">
                        <a:latin typeface="Cabin"/>
                        <a:ea typeface="Cabin"/>
                        <a:cs typeface="Cabin"/>
                        <a:sym typeface="Cabi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Cabin"/>
                          <a:ea typeface="Cabin"/>
                          <a:cs typeface="Cabin"/>
                          <a:sym typeface="Cabin"/>
                        </a:rPr>
                        <a:t>Completed for BIDV</a:t>
                      </a:r>
                      <a:endParaRPr sz="1100">
                        <a:latin typeface="Cabin"/>
                        <a:ea typeface="Cabin"/>
                        <a:cs typeface="Cabin"/>
                        <a:sym typeface="Cabin"/>
                      </a:endParaRPr>
                    </a:p>
                  </a:txBody>
                  <a:tcPr marL="91425" marR="91425" marT="91425" marB="91425">
                    <a:lnL w="9525" cap="flat" cmpd="sng">
                      <a:solidFill>
                        <a:srgbClr val="9E9E9E"/>
                      </a:solidFill>
                      <a:prstDash val="solid"/>
                      <a:round/>
                      <a:headEnd type="none" w="sm" len="sm"/>
                      <a:tailEnd type="none" w="sm" len="sm"/>
                    </a:lnL>
                    <a:solidFill>
                      <a:srgbClr val="CFE9E3"/>
                    </a:solidFill>
                  </a:tcPr>
                </a:tc>
                <a:extLst>
                  <a:ext uri="{0D108BD9-81ED-4DB2-BD59-A6C34878D82A}">
                    <a16:rowId xmlns:a16="http://schemas.microsoft.com/office/drawing/2014/main" val="10001"/>
                  </a:ext>
                </a:extLst>
              </a:tr>
              <a:tr h="518100">
                <a:tc vMerge="1">
                  <a:txBody>
                    <a:bodyPr/>
                    <a:lstStyle/>
                    <a:p>
                      <a:endParaRPr lang="en-US"/>
                    </a:p>
                  </a:txBody>
                  <a:tcPr/>
                </a:tc>
                <a:tc>
                  <a:txBody>
                    <a:bodyPr/>
                    <a:lstStyle/>
                    <a:p>
                      <a:pPr marL="0" lvl="0" indent="0" algn="l" rtl="0">
                        <a:spcBef>
                          <a:spcPts val="0"/>
                        </a:spcBef>
                        <a:spcAft>
                          <a:spcPts val="0"/>
                        </a:spcAft>
                        <a:buNone/>
                      </a:pPr>
                      <a:r>
                        <a:rPr lang="en" sz="1200">
                          <a:latin typeface="Cabin"/>
                          <a:ea typeface="Cabin"/>
                          <a:cs typeface="Cabin"/>
                          <a:sym typeface="Cabin"/>
                        </a:rPr>
                        <a:t>Produce a high-level net zero transition roadmap for one champion bank to serve as a first-in-market example</a:t>
                      </a:r>
                      <a:endParaRPr sz="1200">
                        <a:latin typeface="Cabin"/>
                        <a:ea typeface="Cabin"/>
                        <a:cs typeface="Cabin"/>
                        <a:sym typeface="Cabi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Cabin"/>
                          <a:ea typeface="Cabin"/>
                          <a:cs typeface="Cabin"/>
                          <a:sym typeface="Cabin"/>
                        </a:rPr>
                        <a:t>In Progress</a:t>
                      </a:r>
                      <a:endParaRPr sz="1100">
                        <a:solidFill>
                          <a:schemeClr val="dk1"/>
                        </a:solidFill>
                        <a:latin typeface="Cabin"/>
                        <a:ea typeface="Cabin"/>
                        <a:cs typeface="Cabin"/>
                        <a:sym typeface="Cabin"/>
                      </a:endParaRPr>
                    </a:p>
                    <a:p>
                      <a:pPr marL="0" lvl="0" indent="0" algn="ctr" rtl="0">
                        <a:spcBef>
                          <a:spcPts val="0"/>
                        </a:spcBef>
                        <a:spcAft>
                          <a:spcPts val="0"/>
                        </a:spcAft>
                        <a:buNone/>
                      </a:pPr>
                      <a:r>
                        <a:rPr lang="en" sz="1100">
                          <a:solidFill>
                            <a:schemeClr val="dk1"/>
                          </a:solidFill>
                          <a:latin typeface="Cabin"/>
                          <a:ea typeface="Cabin"/>
                          <a:cs typeface="Cabin"/>
                          <a:sym typeface="Cabin"/>
                        </a:rPr>
                        <a:t>(Near completion)</a:t>
                      </a:r>
                      <a:endParaRPr sz="1100">
                        <a:solidFill>
                          <a:schemeClr val="dk1"/>
                        </a:solidFill>
                        <a:latin typeface="Cabin"/>
                        <a:ea typeface="Cabin"/>
                        <a:cs typeface="Cabin"/>
                        <a:sym typeface="Cabin"/>
                      </a:endParaRPr>
                    </a:p>
                  </a:txBody>
                  <a:tcPr marL="91425" marR="91425" marT="91425" marB="91425">
                    <a:lnL w="9525" cap="flat" cmpd="sng">
                      <a:solidFill>
                        <a:srgbClr val="9E9E9E"/>
                      </a:solidFill>
                      <a:prstDash val="solid"/>
                      <a:round/>
                      <a:headEnd type="none" w="sm" len="sm"/>
                      <a:tailEnd type="none" w="sm" len="sm"/>
                    </a:lnL>
                    <a:solidFill>
                      <a:srgbClr val="CFE2F3"/>
                    </a:solidFill>
                  </a:tcPr>
                </a:tc>
                <a:extLst>
                  <a:ext uri="{0D108BD9-81ED-4DB2-BD59-A6C34878D82A}">
                    <a16:rowId xmlns:a16="http://schemas.microsoft.com/office/drawing/2014/main" val="10002"/>
                  </a:ext>
                </a:extLst>
              </a:tr>
              <a:tr h="685725">
                <a:tc rowSpan="3">
                  <a:txBody>
                    <a:bodyPr/>
                    <a:lstStyle/>
                    <a:p>
                      <a:pPr marL="0" lvl="0" indent="0" algn="l" rtl="0">
                        <a:spcBef>
                          <a:spcPts val="0"/>
                        </a:spcBef>
                        <a:spcAft>
                          <a:spcPts val="0"/>
                        </a:spcAft>
                        <a:buNone/>
                      </a:pPr>
                      <a:r>
                        <a:rPr lang="en" sz="1200">
                          <a:latin typeface="Cabin"/>
                          <a:ea typeface="Cabin"/>
                          <a:cs typeface="Cabin"/>
                          <a:sym typeface="Cabin"/>
                        </a:rPr>
                        <a:t>2. Support the advancement of green financing instruments to reduce emissions within the lending portfolios of the two major champion banks and disseminate lessons learned</a:t>
                      </a:r>
                      <a:endParaRPr sz="1200">
                        <a:latin typeface="Cabin"/>
                        <a:ea typeface="Cabin"/>
                        <a:cs typeface="Cabin"/>
                        <a:sym typeface="Cabin"/>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1200">
                          <a:latin typeface="Cabin"/>
                          <a:ea typeface="Cabin"/>
                          <a:cs typeface="Cabin"/>
                          <a:sym typeface="Cabin"/>
                        </a:rPr>
                        <a:t>Provide direct technical support on structuring to advance the execution of three SLL transactions in collaboration with at least one of the two champion banks</a:t>
                      </a:r>
                      <a:endParaRPr sz="1200">
                        <a:latin typeface="Cabin"/>
                        <a:ea typeface="Cabin"/>
                        <a:cs typeface="Cabin"/>
                        <a:sym typeface="Cabi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Cabin"/>
                          <a:ea typeface="Cabin"/>
                          <a:cs typeface="Cabin"/>
                          <a:sym typeface="Cabin"/>
                        </a:rPr>
                        <a:t>In Progress</a:t>
                      </a:r>
                      <a:endParaRPr sz="1100">
                        <a:solidFill>
                          <a:schemeClr val="dk1"/>
                        </a:solidFill>
                        <a:latin typeface="Cabin"/>
                        <a:ea typeface="Cabin"/>
                        <a:cs typeface="Cabin"/>
                        <a:sym typeface="Cabin"/>
                      </a:endParaRPr>
                    </a:p>
                  </a:txBody>
                  <a:tcPr marL="91425" marR="91425" marT="91425" marB="91425">
                    <a:lnL w="9525" cap="flat" cmpd="sng">
                      <a:solidFill>
                        <a:srgbClr val="9E9E9E"/>
                      </a:solidFill>
                      <a:prstDash val="solid"/>
                      <a:round/>
                      <a:headEnd type="none" w="sm" len="sm"/>
                      <a:tailEnd type="none" w="sm" len="sm"/>
                    </a:lnL>
                    <a:solidFill>
                      <a:srgbClr val="FFF2CC"/>
                    </a:solidFill>
                  </a:tcPr>
                </a:tc>
                <a:extLst>
                  <a:ext uri="{0D108BD9-81ED-4DB2-BD59-A6C34878D82A}">
                    <a16:rowId xmlns:a16="http://schemas.microsoft.com/office/drawing/2014/main" val="10003"/>
                  </a:ext>
                </a:extLst>
              </a:tr>
              <a:tr h="853375">
                <a:tc vMerge="1">
                  <a:txBody>
                    <a:bodyPr/>
                    <a:lstStyle/>
                    <a:p>
                      <a:endParaRPr lang="en-US"/>
                    </a:p>
                  </a:txBody>
                  <a:tcPr/>
                </a:tc>
                <a:tc>
                  <a:txBody>
                    <a:bodyPr/>
                    <a:lstStyle/>
                    <a:p>
                      <a:pPr marL="0" lvl="0" indent="0" algn="l" rtl="0">
                        <a:spcBef>
                          <a:spcPts val="0"/>
                        </a:spcBef>
                        <a:spcAft>
                          <a:spcPts val="0"/>
                        </a:spcAft>
                        <a:buNone/>
                      </a:pPr>
                      <a:r>
                        <a:rPr lang="en" sz="1200">
                          <a:latin typeface="Cabin"/>
                          <a:ea typeface="Cabin"/>
                          <a:cs typeface="Cabin"/>
                          <a:sym typeface="Cabin"/>
                        </a:rPr>
                        <a:t>Execute 1 closed-door session to bring together one champion bank alongside select developers or other private sector stakeholders seeking to finance innovative storage projects or supply chain decarbonization.</a:t>
                      </a:r>
                      <a:endParaRPr sz="1200">
                        <a:latin typeface="Cabin"/>
                        <a:ea typeface="Cabin"/>
                        <a:cs typeface="Cabin"/>
                        <a:sym typeface="Cabi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Cabin"/>
                          <a:ea typeface="Cabin"/>
                          <a:cs typeface="Cabin"/>
                          <a:sym typeface="Cabin"/>
                        </a:rPr>
                        <a:t>In Progress</a:t>
                      </a:r>
                      <a:endParaRPr sz="1100">
                        <a:solidFill>
                          <a:schemeClr val="dk1"/>
                        </a:solidFill>
                        <a:latin typeface="Cabin"/>
                        <a:ea typeface="Cabin"/>
                        <a:cs typeface="Cabin"/>
                        <a:sym typeface="Cabin"/>
                      </a:endParaRPr>
                    </a:p>
                  </a:txBody>
                  <a:tcPr marL="91425" marR="91425" marT="91425" marB="91425">
                    <a:lnL w="9525" cap="flat" cmpd="sng">
                      <a:solidFill>
                        <a:srgbClr val="9E9E9E"/>
                      </a:solidFill>
                      <a:prstDash val="solid"/>
                      <a:round/>
                      <a:headEnd type="none" w="sm" len="sm"/>
                      <a:tailEnd type="none" w="sm" len="sm"/>
                    </a:lnL>
                    <a:solidFill>
                      <a:srgbClr val="FFF2CC"/>
                    </a:solidFill>
                  </a:tcPr>
                </a:tc>
                <a:extLst>
                  <a:ext uri="{0D108BD9-81ED-4DB2-BD59-A6C34878D82A}">
                    <a16:rowId xmlns:a16="http://schemas.microsoft.com/office/drawing/2014/main" val="10004"/>
                  </a:ext>
                </a:extLst>
              </a:tr>
              <a:tr h="686125">
                <a:tc vMerge="1">
                  <a:txBody>
                    <a:bodyPr/>
                    <a:lstStyle/>
                    <a:p>
                      <a:endParaRPr lang="en-US"/>
                    </a:p>
                  </a:txBody>
                  <a:tcPr/>
                </a:tc>
                <a:tc>
                  <a:txBody>
                    <a:bodyPr/>
                    <a:lstStyle/>
                    <a:p>
                      <a:pPr marL="0" lvl="0" indent="0" algn="l" rtl="0">
                        <a:spcBef>
                          <a:spcPts val="0"/>
                        </a:spcBef>
                        <a:spcAft>
                          <a:spcPts val="0"/>
                        </a:spcAft>
                        <a:buNone/>
                      </a:pPr>
                      <a:r>
                        <a:rPr lang="en" sz="1200">
                          <a:latin typeface="Cabin"/>
                          <a:ea typeface="Cabin"/>
                          <a:cs typeface="Cabin"/>
                          <a:sym typeface="Cabin"/>
                        </a:rPr>
                        <a:t>Develop at least one case study knowledge product to disseminate key lessons and targeted insights from the GHG assessment, net zero transition roadmap, and SLL support</a:t>
                      </a:r>
                      <a:endParaRPr sz="1200">
                        <a:latin typeface="Cabin"/>
                        <a:ea typeface="Cabin"/>
                        <a:cs typeface="Cabin"/>
                        <a:sym typeface="Cabi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Cabin"/>
                          <a:ea typeface="Cabin"/>
                          <a:cs typeface="Cabin"/>
                          <a:sym typeface="Cabin"/>
                        </a:rPr>
                        <a:t>In Progress</a:t>
                      </a:r>
                      <a:endParaRPr sz="1100">
                        <a:solidFill>
                          <a:schemeClr val="dk1"/>
                        </a:solidFill>
                        <a:latin typeface="Cabin"/>
                        <a:ea typeface="Cabin"/>
                        <a:cs typeface="Cabin"/>
                        <a:sym typeface="Cabin"/>
                      </a:endParaRPr>
                    </a:p>
                  </a:txBody>
                  <a:tcPr marL="91425" marR="91425" marT="91425" marB="91425">
                    <a:lnL w="9525" cap="flat" cmpd="sng">
                      <a:solidFill>
                        <a:srgbClr val="9E9E9E"/>
                      </a:solidFill>
                      <a:prstDash val="solid"/>
                      <a:round/>
                      <a:headEnd type="none" w="sm" len="sm"/>
                      <a:tailEnd type="none" w="sm" len="sm"/>
                    </a:lnL>
                    <a:solidFill>
                      <a:srgbClr val="FFF2CC"/>
                    </a:solidFill>
                  </a:tcPr>
                </a:tc>
                <a:extLst>
                  <a:ext uri="{0D108BD9-81ED-4DB2-BD59-A6C34878D82A}">
                    <a16:rowId xmlns:a16="http://schemas.microsoft.com/office/drawing/2014/main" val="10005"/>
                  </a:ext>
                </a:extLst>
              </a:tr>
            </a:tbl>
          </a:graphicData>
        </a:graphic>
      </p:graphicFrame>
      <p:pic>
        <p:nvPicPr>
          <p:cNvPr id="430" name="Google Shape;430;p88"/>
          <p:cNvPicPr preferRelativeResize="0"/>
          <p:nvPr/>
        </p:nvPicPr>
        <p:blipFill rotWithShape="1">
          <a:blip r:embed="rId3">
            <a:alphaModFix/>
          </a:blip>
          <a:srcRect/>
          <a:stretch/>
        </p:blipFill>
        <p:spPr>
          <a:xfrm>
            <a:off x="7830116" y="66645"/>
            <a:ext cx="1207990" cy="42043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F4F1"/>
        </a:solidFill>
        <a:effectLst/>
      </p:bgPr>
    </p:bg>
    <p:spTree>
      <p:nvGrpSpPr>
        <p:cNvPr id="1" name="Shape 434"/>
        <p:cNvGrpSpPr/>
        <p:nvPr/>
      </p:nvGrpSpPr>
      <p:grpSpPr>
        <a:xfrm>
          <a:off x="0" y="0"/>
          <a:ext cx="0" cy="0"/>
          <a:chOff x="0" y="0"/>
          <a:chExt cx="0" cy="0"/>
        </a:xfrm>
      </p:grpSpPr>
      <p:sp>
        <p:nvSpPr>
          <p:cNvPr id="435" name="Google Shape;435;p89"/>
          <p:cNvSpPr/>
          <p:nvPr/>
        </p:nvSpPr>
        <p:spPr>
          <a:xfrm>
            <a:off x="65575" y="69625"/>
            <a:ext cx="8991000" cy="9201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17780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FBFBFB"/>
                </a:solidFill>
                <a:latin typeface="Cabin"/>
                <a:ea typeface="Cabin"/>
                <a:cs typeface="Cabin"/>
                <a:sym typeface="Cabin"/>
              </a:rPr>
              <a:t> </a:t>
            </a:r>
            <a:endParaRPr sz="1500" b="1" i="0" u="none" strike="noStrike" cap="none">
              <a:solidFill>
                <a:srgbClr val="FBFBFB"/>
              </a:solidFill>
              <a:latin typeface="Cabin"/>
              <a:ea typeface="Cabin"/>
              <a:cs typeface="Cabin"/>
              <a:sym typeface="Cabin"/>
            </a:endParaRPr>
          </a:p>
        </p:txBody>
      </p:sp>
      <p:sp>
        <p:nvSpPr>
          <p:cNvPr id="436" name="Google Shape;436;p89"/>
          <p:cNvSpPr txBox="1">
            <a:spLocks noGrp="1"/>
          </p:cNvSpPr>
          <p:nvPr>
            <p:ph type="title"/>
          </p:nvPr>
        </p:nvSpPr>
        <p:spPr>
          <a:xfrm>
            <a:off x="202173" y="153865"/>
            <a:ext cx="81885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41667"/>
              <a:buNone/>
            </a:pPr>
            <a:r>
              <a:rPr lang="en" sz="2400" b="1">
                <a:solidFill>
                  <a:schemeClr val="lt1"/>
                </a:solidFill>
                <a:latin typeface="Cabin"/>
                <a:ea typeface="Cabin"/>
                <a:cs typeface="Cabin"/>
                <a:sym typeface="Cabin"/>
              </a:rPr>
              <a:t>State-Owned Champion Bank Collaboration: </a:t>
            </a:r>
            <a:endParaRPr sz="2400" b="1">
              <a:solidFill>
                <a:schemeClr val="lt1"/>
              </a:solidFill>
              <a:latin typeface="Cabin"/>
              <a:ea typeface="Cabin"/>
              <a:cs typeface="Cabin"/>
              <a:sym typeface="Cabin"/>
            </a:endParaRPr>
          </a:p>
          <a:p>
            <a:pPr marL="0" lvl="0" indent="0" algn="l" rtl="0">
              <a:lnSpc>
                <a:spcPct val="100000"/>
              </a:lnSpc>
              <a:spcBef>
                <a:spcPts val="0"/>
              </a:spcBef>
              <a:spcAft>
                <a:spcPts val="0"/>
              </a:spcAft>
              <a:buSzPct val="41667"/>
              <a:buNone/>
            </a:pPr>
            <a:r>
              <a:rPr lang="en" sz="2400" b="1">
                <a:solidFill>
                  <a:schemeClr val="lt1"/>
                </a:solidFill>
                <a:latin typeface="Cabin"/>
                <a:ea typeface="Cabin"/>
                <a:cs typeface="Cabin"/>
                <a:sym typeface="Cabin"/>
              </a:rPr>
              <a:t>BIDV Progress Update - Summary  </a:t>
            </a:r>
            <a:endParaRPr sz="2400" b="1">
              <a:solidFill>
                <a:schemeClr val="lt1"/>
              </a:solidFill>
              <a:latin typeface="Cabin"/>
              <a:ea typeface="Cabin"/>
              <a:cs typeface="Cabin"/>
              <a:sym typeface="Cabin"/>
            </a:endParaRPr>
          </a:p>
        </p:txBody>
      </p:sp>
      <p:sp>
        <p:nvSpPr>
          <p:cNvPr id="437" name="Google Shape;437;p89"/>
          <p:cNvSpPr/>
          <p:nvPr/>
        </p:nvSpPr>
        <p:spPr>
          <a:xfrm>
            <a:off x="65564" y="1284865"/>
            <a:ext cx="598800" cy="543000"/>
          </a:xfrm>
          <a:prstGeom prst="homePlate">
            <a:avLst>
              <a:gd name="adj" fmla="val 50000"/>
            </a:avLst>
          </a:prstGeom>
          <a:solidFill>
            <a:srgbClr val="D3E9E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2700" b="1">
                <a:solidFill>
                  <a:srgbClr val="11665A"/>
                </a:solidFill>
                <a:latin typeface="Cabin"/>
                <a:ea typeface="Cabin"/>
                <a:cs typeface="Cabin"/>
                <a:sym typeface="Cabin"/>
              </a:rPr>
              <a:t>1</a:t>
            </a:r>
            <a:endParaRPr sz="1100"/>
          </a:p>
        </p:txBody>
      </p:sp>
      <p:sp>
        <p:nvSpPr>
          <p:cNvPr id="438" name="Google Shape;438;p89"/>
          <p:cNvSpPr/>
          <p:nvPr/>
        </p:nvSpPr>
        <p:spPr>
          <a:xfrm>
            <a:off x="65564" y="2645178"/>
            <a:ext cx="598800" cy="543000"/>
          </a:xfrm>
          <a:prstGeom prst="homePlate">
            <a:avLst>
              <a:gd name="adj" fmla="val 50000"/>
            </a:avLst>
          </a:prstGeom>
          <a:solidFill>
            <a:srgbClr val="B9DDD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2700" b="1">
                <a:solidFill>
                  <a:srgbClr val="11665A"/>
                </a:solidFill>
                <a:latin typeface="Cabin"/>
                <a:ea typeface="Cabin"/>
                <a:cs typeface="Cabin"/>
                <a:sym typeface="Cabin"/>
              </a:rPr>
              <a:t>2</a:t>
            </a:r>
            <a:endParaRPr sz="1100"/>
          </a:p>
        </p:txBody>
      </p:sp>
      <p:sp>
        <p:nvSpPr>
          <p:cNvPr id="439" name="Google Shape;439;p89"/>
          <p:cNvSpPr/>
          <p:nvPr/>
        </p:nvSpPr>
        <p:spPr>
          <a:xfrm>
            <a:off x="843533" y="1073764"/>
            <a:ext cx="1662900" cy="1217700"/>
          </a:xfrm>
          <a:prstGeom prst="roundRect">
            <a:avLst>
              <a:gd name="adj" fmla="val 16667"/>
            </a:avLst>
          </a:prstGeom>
          <a:solidFill>
            <a:srgbClr val="D3E9E6"/>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500" b="1">
                <a:solidFill>
                  <a:srgbClr val="1D6E62"/>
                </a:solidFill>
                <a:latin typeface="Cabin"/>
                <a:ea typeface="Cabin"/>
                <a:cs typeface="Cabin"/>
                <a:sym typeface="Cabin"/>
              </a:rPr>
              <a:t>Develop GHG assessment reports</a:t>
            </a:r>
            <a:endParaRPr sz="1100">
              <a:latin typeface="Cabin"/>
              <a:ea typeface="Cabin"/>
              <a:cs typeface="Cabin"/>
              <a:sym typeface="Cabin"/>
            </a:endParaRPr>
          </a:p>
        </p:txBody>
      </p:sp>
      <p:sp>
        <p:nvSpPr>
          <p:cNvPr id="440" name="Google Shape;440;p89"/>
          <p:cNvSpPr/>
          <p:nvPr/>
        </p:nvSpPr>
        <p:spPr>
          <a:xfrm>
            <a:off x="843525" y="2401050"/>
            <a:ext cx="1662900" cy="2632500"/>
          </a:xfrm>
          <a:prstGeom prst="roundRect">
            <a:avLst>
              <a:gd name="adj" fmla="val 16667"/>
            </a:avLst>
          </a:prstGeom>
          <a:solidFill>
            <a:srgbClr val="B9DDD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b="1">
                <a:solidFill>
                  <a:srgbClr val="1D6E62"/>
                </a:solidFill>
                <a:latin typeface="Cabin"/>
                <a:ea typeface="Cabin"/>
                <a:cs typeface="Cabin"/>
                <a:sym typeface="Cabin"/>
              </a:rPr>
              <a:t>Produce a high-level net zero transition roadmap to serve as a first-in-market example</a:t>
            </a:r>
            <a:endParaRPr b="1">
              <a:solidFill>
                <a:srgbClr val="1D6E62"/>
              </a:solidFill>
              <a:latin typeface="Cabin"/>
              <a:ea typeface="Cabin"/>
              <a:cs typeface="Cabin"/>
              <a:sym typeface="Cabin"/>
            </a:endParaRPr>
          </a:p>
        </p:txBody>
      </p:sp>
      <p:sp>
        <p:nvSpPr>
          <p:cNvPr id="441" name="Google Shape;441;p89"/>
          <p:cNvSpPr/>
          <p:nvPr/>
        </p:nvSpPr>
        <p:spPr>
          <a:xfrm>
            <a:off x="2778309" y="1095393"/>
            <a:ext cx="2736600" cy="572700"/>
          </a:xfrm>
          <a:prstGeom prst="flowChartAlternateProcess">
            <a:avLst/>
          </a:prstGeom>
          <a:solidFill>
            <a:srgbClr val="D3E9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000000"/>
                </a:solidFill>
                <a:latin typeface="Cabin"/>
                <a:ea typeface="Cabin"/>
                <a:cs typeface="Cabin"/>
                <a:sym typeface="Cabin"/>
              </a:rPr>
              <a:t>Scope 3 Non-Financed:</a:t>
            </a:r>
            <a:endParaRPr sz="1100" b="1"/>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Completed </a:t>
            </a:r>
            <a:endParaRPr sz="1100" b="0" i="0" u="none" strike="noStrike" cap="none">
              <a:solidFill>
                <a:srgbClr val="000000"/>
              </a:solidFill>
              <a:latin typeface="Cabin"/>
              <a:ea typeface="Cabin"/>
              <a:cs typeface="Cabin"/>
              <a:sym typeface="Cabin"/>
            </a:endParaRPr>
          </a:p>
        </p:txBody>
      </p:sp>
      <p:sp>
        <p:nvSpPr>
          <p:cNvPr id="442" name="Google Shape;442;p89"/>
          <p:cNvSpPr/>
          <p:nvPr/>
        </p:nvSpPr>
        <p:spPr>
          <a:xfrm>
            <a:off x="2778309" y="1777630"/>
            <a:ext cx="2736600" cy="513900"/>
          </a:xfrm>
          <a:prstGeom prst="flowChartAlternateProcess">
            <a:avLst/>
          </a:prstGeom>
          <a:solidFill>
            <a:srgbClr val="D3E9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000000"/>
                </a:solidFill>
                <a:latin typeface="Cabin"/>
                <a:ea typeface="Cabin"/>
                <a:cs typeface="Cabin"/>
                <a:sym typeface="Cabin"/>
              </a:rPr>
              <a:t>Scope 3 Financed:</a:t>
            </a:r>
            <a:endParaRPr sz="1100" b="1"/>
          </a:p>
          <a:p>
            <a:pPr marL="0" lvl="0" indent="0" algn="l" rtl="0">
              <a:spcBef>
                <a:spcPts val="0"/>
              </a:spcBef>
              <a:spcAft>
                <a:spcPts val="0"/>
              </a:spcAft>
              <a:buClr>
                <a:schemeClr val="dk1"/>
              </a:buClr>
              <a:buSzPts val="1100"/>
              <a:buFont typeface="Arial"/>
              <a:buNone/>
            </a:pPr>
            <a:r>
              <a:rPr lang="en" sz="1100">
                <a:solidFill>
                  <a:schemeClr val="dk1"/>
                </a:solidFill>
                <a:latin typeface="Cabin"/>
                <a:ea typeface="Cabin"/>
                <a:cs typeface="Cabin"/>
                <a:sym typeface="Cabin"/>
              </a:rPr>
              <a:t>Completed </a:t>
            </a:r>
            <a:endParaRPr sz="1100" b="0" i="0" u="none" strike="noStrike" cap="none">
              <a:solidFill>
                <a:srgbClr val="000000"/>
              </a:solidFill>
              <a:latin typeface="Cabin"/>
              <a:ea typeface="Cabin"/>
              <a:cs typeface="Cabin"/>
              <a:sym typeface="Cabin"/>
            </a:endParaRPr>
          </a:p>
        </p:txBody>
      </p:sp>
      <p:sp>
        <p:nvSpPr>
          <p:cNvPr id="443" name="Google Shape;443;p89"/>
          <p:cNvSpPr/>
          <p:nvPr/>
        </p:nvSpPr>
        <p:spPr>
          <a:xfrm>
            <a:off x="2778309" y="2401050"/>
            <a:ext cx="2736600" cy="513900"/>
          </a:xfrm>
          <a:prstGeom prst="flowChartAlternateProcess">
            <a:avLst/>
          </a:prstGeom>
          <a:solidFill>
            <a:srgbClr val="B9DD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000000"/>
                </a:solidFill>
                <a:latin typeface="Cabin"/>
                <a:ea typeface="Cabin"/>
                <a:cs typeface="Cabin"/>
                <a:sym typeface="Cabin"/>
              </a:rPr>
              <a:t>Scope 1 &amp; 2 </a:t>
            </a:r>
            <a:r>
              <a:rPr lang="en" sz="1100" b="1">
                <a:latin typeface="Cabin"/>
                <a:ea typeface="Cabin"/>
                <a:cs typeface="Cabin"/>
                <a:sym typeface="Cabin"/>
              </a:rPr>
              <a:t>Roadmap</a:t>
            </a:r>
            <a:r>
              <a:rPr lang="en" sz="1100" b="1" i="0" u="none" strike="noStrike" cap="none">
                <a:solidFill>
                  <a:srgbClr val="000000"/>
                </a:solidFill>
                <a:latin typeface="Cabin"/>
                <a:ea typeface="Cabin"/>
                <a:cs typeface="Cabin"/>
                <a:sym typeface="Cabin"/>
              </a:rPr>
              <a:t>:</a:t>
            </a:r>
            <a:endParaRPr sz="1100" b="1"/>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Completed</a:t>
            </a:r>
            <a:endParaRPr sz="1100" b="0" i="0" u="none" strike="noStrike" cap="none">
              <a:solidFill>
                <a:srgbClr val="000000"/>
              </a:solidFill>
              <a:latin typeface="Cabin"/>
              <a:ea typeface="Cabin"/>
              <a:cs typeface="Cabin"/>
              <a:sym typeface="Cabin"/>
            </a:endParaRPr>
          </a:p>
        </p:txBody>
      </p:sp>
      <p:sp>
        <p:nvSpPr>
          <p:cNvPr id="444" name="Google Shape;444;p89"/>
          <p:cNvSpPr/>
          <p:nvPr/>
        </p:nvSpPr>
        <p:spPr>
          <a:xfrm>
            <a:off x="2778300" y="3024475"/>
            <a:ext cx="2736600" cy="773400"/>
          </a:xfrm>
          <a:prstGeom prst="flowChartAlternateProcess">
            <a:avLst/>
          </a:prstGeom>
          <a:solidFill>
            <a:srgbClr val="B9DD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000000"/>
                </a:solidFill>
                <a:latin typeface="Cabin"/>
                <a:ea typeface="Cabin"/>
                <a:cs typeface="Cabin"/>
                <a:sym typeface="Cabin"/>
              </a:rPr>
              <a:t>Scope 3 Non-Financed roadmap:</a:t>
            </a:r>
            <a:endParaRPr sz="1100" b="1"/>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Proposed changes the content</a:t>
            </a:r>
            <a:endParaRPr sz="1100" b="0" i="0" u="none" strike="noStrike" cap="none">
              <a:solidFill>
                <a:srgbClr val="000000"/>
              </a:solidFill>
              <a:latin typeface="Cabin"/>
              <a:ea typeface="Cabin"/>
              <a:cs typeface="Cabin"/>
              <a:sym typeface="Cabin"/>
            </a:endParaRPr>
          </a:p>
        </p:txBody>
      </p:sp>
      <p:sp>
        <p:nvSpPr>
          <p:cNvPr id="445" name="Google Shape;445;p89"/>
          <p:cNvSpPr/>
          <p:nvPr/>
        </p:nvSpPr>
        <p:spPr>
          <a:xfrm>
            <a:off x="2778350" y="3902300"/>
            <a:ext cx="2736600" cy="709200"/>
          </a:xfrm>
          <a:prstGeom prst="flowChartAlternateProcess">
            <a:avLst/>
          </a:prstGeom>
          <a:solidFill>
            <a:srgbClr val="B9DD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000000"/>
                </a:solidFill>
                <a:latin typeface="Cabin"/>
                <a:ea typeface="Cabin"/>
                <a:cs typeface="Cabin"/>
                <a:sym typeface="Cabin"/>
              </a:rPr>
              <a:t>Scope 3 Financed roadmap:</a:t>
            </a:r>
            <a:endParaRPr sz="1100" b="1"/>
          </a:p>
          <a:p>
            <a:pPr marL="0" lvl="0" indent="0" algn="l" rtl="0">
              <a:spcBef>
                <a:spcPts val="0"/>
              </a:spcBef>
              <a:spcAft>
                <a:spcPts val="0"/>
              </a:spcAft>
              <a:buClr>
                <a:schemeClr val="dk1"/>
              </a:buClr>
              <a:buSzPts val="1100"/>
              <a:buFont typeface="Arial"/>
              <a:buNone/>
            </a:pPr>
            <a:r>
              <a:rPr lang="en" sz="1100">
                <a:solidFill>
                  <a:schemeClr val="dk1"/>
                </a:solidFill>
                <a:latin typeface="Cabin"/>
                <a:ea typeface="Cabin"/>
                <a:cs typeface="Cabin"/>
                <a:sym typeface="Cabin"/>
              </a:rPr>
              <a:t>Finalizing report</a:t>
            </a:r>
            <a:endParaRPr sz="1100"/>
          </a:p>
        </p:txBody>
      </p:sp>
      <p:sp>
        <p:nvSpPr>
          <p:cNvPr id="446" name="Google Shape;446;p89"/>
          <p:cNvSpPr/>
          <p:nvPr/>
        </p:nvSpPr>
        <p:spPr>
          <a:xfrm>
            <a:off x="6032062" y="2390275"/>
            <a:ext cx="2855100" cy="513900"/>
          </a:xfrm>
          <a:prstGeom prst="flowChartAlternateProcess">
            <a:avLst/>
          </a:prstGeom>
          <a:solidFill>
            <a:srgbClr val="B9DDD8"/>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b="1">
                <a:solidFill>
                  <a:schemeClr val="dk1"/>
                </a:solidFill>
                <a:latin typeface="Cabin"/>
                <a:ea typeface="Cabin"/>
                <a:cs typeface="Cabin"/>
                <a:sym typeface="Cabin"/>
              </a:rPr>
              <a:t>Scope 1 &amp; 2 roadmap:</a:t>
            </a:r>
            <a:endParaRPr sz="1100" b="1">
              <a:solidFill>
                <a:schemeClr val="dk1"/>
              </a:solidFill>
            </a:endParaRPr>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Waiting for a response from BIDV</a:t>
            </a:r>
            <a:endParaRPr sz="1100" b="0" i="0" u="none" strike="noStrike" cap="none">
              <a:solidFill>
                <a:srgbClr val="000000"/>
              </a:solidFill>
              <a:latin typeface="Cabin"/>
              <a:ea typeface="Cabin"/>
              <a:cs typeface="Cabin"/>
              <a:sym typeface="Cabin"/>
            </a:endParaRPr>
          </a:p>
        </p:txBody>
      </p:sp>
      <p:sp>
        <p:nvSpPr>
          <p:cNvPr id="447" name="Google Shape;447;p89"/>
          <p:cNvSpPr/>
          <p:nvPr/>
        </p:nvSpPr>
        <p:spPr>
          <a:xfrm>
            <a:off x="6032050" y="3013700"/>
            <a:ext cx="2883300" cy="773400"/>
          </a:xfrm>
          <a:prstGeom prst="flowChartAlternateProcess">
            <a:avLst/>
          </a:prstGeom>
          <a:solidFill>
            <a:srgbClr val="B9DDD8"/>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b="1">
                <a:solidFill>
                  <a:schemeClr val="dk1"/>
                </a:solidFill>
                <a:latin typeface="Cabin"/>
                <a:ea typeface="Cabin"/>
                <a:cs typeface="Cabin"/>
                <a:sym typeface="Cabin"/>
              </a:rPr>
              <a:t>Scope 3 Non-Financed roadmap:</a:t>
            </a:r>
            <a:endParaRPr sz="1100">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BIDV proposes transferring this report to the Report on Proposed Methods for Collecting Other Key Categories for 2026</a:t>
            </a:r>
            <a:endParaRPr sz="1100" b="0" i="0" u="none" strike="noStrike" cap="none">
              <a:solidFill>
                <a:srgbClr val="000000"/>
              </a:solidFill>
              <a:latin typeface="Cabin"/>
              <a:ea typeface="Cabin"/>
              <a:cs typeface="Cabin"/>
              <a:sym typeface="Cabin"/>
            </a:endParaRPr>
          </a:p>
        </p:txBody>
      </p:sp>
      <p:sp>
        <p:nvSpPr>
          <p:cNvPr id="448" name="Google Shape;448;p89"/>
          <p:cNvSpPr/>
          <p:nvPr/>
        </p:nvSpPr>
        <p:spPr>
          <a:xfrm>
            <a:off x="6032050" y="3891525"/>
            <a:ext cx="2883300" cy="709200"/>
          </a:xfrm>
          <a:prstGeom prst="flowChartAlternateProcess">
            <a:avLst/>
          </a:prstGeom>
          <a:solidFill>
            <a:srgbClr val="B9DDD8"/>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b="1">
                <a:solidFill>
                  <a:schemeClr val="dk1"/>
                </a:solidFill>
                <a:latin typeface="Cabin"/>
                <a:ea typeface="Cabin"/>
                <a:cs typeface="Cabin"/>
                <a:sym typeface="Cabin"/>
              </a:rPr>
              <a:t>Scope 3 Financed roadmap:</a:t>
            </a:r>
            <a:endParaRPr sz="1100">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After receiving feedback from the inventory report, the roadmap report will be finalized.</a:t>
            </a:r>
            <a:endParaRPr sz="1100"/>
          </a:p>
        </p:txBody>
      </p:sp>
      <p:sp>
        <p:nvSpPr>
          <p:cNvPr id="449" name="Google Shape;449;p89"/>
          <p:cNvSpPr/>
          <p:nvPr/>
        </p:nvSpPr>
        <p:spPr>
          <a:xfrm>
            <a:off x="2778300" y="4715925"/>
            <a:ext cx="2736600" cy="317700"/>
          </a:xfrm>
          <a:prstGeom prst="flowChartAlternateProcess">
            <a:avLst/>
          </a:prstGeom>
          <a:solidFill>
            <a:srgbClr val="B9DDD8"/>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b="1">
                <a:latin typeface="Cabin"/>
                <a:ea typeface="Cabin"/>
                <a:cs typeface="Cabin"/>
                <a:sym typeface="Cabin"/>
              </a:rPr>
              <a:t>Toolkits: </a:t>
            </a:r>
            <a:r>
              <a:rPr lang="en" sz="1100">
                <a:latin typeface="Cabin"/>
                <a:ea typeface="Cabin"/>
                <a:cs typeface="Cabin"/>
                <a:sym typeface="Cabin"/>
              </a:rPr>
              <a:t>2/3 completed</a:t>
            </a:r>
            <a:endParaRPr sz="1100">
              <a:latin typeface="Cabin"/>
              <a:ea typeface="Cabin"/>
              <a:cs typeface="Cabin"/>
              <a:sym typeface="Cabin"/>
            </a:endParaRPr>
          </a:p>
        </p:txBody>
      </p:sp>
      <p:pic>
        <p:nvPicPr>
          <p:cNvPr id="450" name="Google Shape;450;p89"/>
          <p:cNvPicPr preferRelativeResize="0"/>
          <p:nvPr/>
        </p:nvPicPr>
        <p:blipFill rotWithShape="1">
          <a:blip r:embed="rId3">
            <a:alphaModFix/>
          </a:blip>
          <a:srcRect/>
          <a:stretch/>
        </p:blipFill>
        <p:spPr>
          <a:xfrm>
            <a:off x="7748099" y="52326"/>
            <a:ext cx="1243600" cy="431125"/>
          </a:xfrm>
          <a:prstGeom prst="rect">
            <a:avLst/>
          </a:prstGeom>
          <a:noFill/>
          <a:ln>
            <a:noFill/>
          </a:ln>
        </p:spPr>
      </p:pic>
      <p:sp>
        <p:nvSpPr>
          <p:cNvPr id="451" name="Google Shape;451;p89"/>
          <p:cNvSpPr/>
          <p:nvPr/>
        </p:nvSpPr>
        <p:spPr>
          <a:xfrm>
            <a:off x="6031950" y="1073775"/>
            <a:ext cx="2855100" cy="572700"/>
          </a:xfrm>
          <a:prstGeom prst="flowChartAlternateProcess">
            <a:avLst/>
          </a:prstGeom>
          <a:solidFill>
            <a:srgbClr val="D3E9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000000"/>
                </a:solidFill>
                <a:latin typeface="Cabin"/>
                <a:ea typeface="Cabin"/>
                <a:cs typeface="Cabin"/>
                <a:sym typeface="Cabin"/>
              </a:rPr>
              <a:t>Scope 3 Non-Financed:</a:t>
            </a:r>
            <a:endParaRPr sz="1100" b="1"/>
          </a:p>
          <a:p>
            <a:pPr marL="0" lvl="0" indent="0" algn="l" rtl="0">
              <a:spcBef>
                <a:spcPts val="0"/>
              </a:spcBef>
              <a:spcAft>
                <a:spcPts val="0"/>
              </a:spcAft>
              <a:buClr>
                <a:schemeClr val="dk1"/>
              </a:buClr>
              <a:buSzPts val="1100"/>
              <a:buFont typeface="Arial"/>
              <a:buNone/>
            </a:pPr>
            <a:r>
              <a:rPr lang="en" sz="1100">
                <a:solidFill>
                  <a:schemeClr val="dk1"/>
                </a:solidFill>
                <a:latin typeface="Cabin"/>
                <a:ea typeface="Cabin"/>
                <a:cs typeface="Cabin"/>
                <a:sym typeface="Cabin"/>
              </a:rPr>
              <a:t>Waiting for a response from BIDV</a:t>
            </a:r>
            <a:endParaRPr sz="1100" b="0" i="0" u="none" strike="noStrike" cap="none">
              <a:solidFill>
                <a:srgbClr val="000000"/>
              </a:solidFill>
              <a:latin typeface="Cabin"/>
              <a:ea typeface="Cabin"/>
              <a:cs typeface="Cabin"/>
              <a:sym typeface="Cabin"/>
            </a:endParaRPr>
          </a:p>
        </p:txBody>
      </p:sp>
      <p:sp>
        <p:nvSpPr>
          <p:cNvPr id="452" name="Google Shape;452;p89"/>
          <p:cNvSpPr/>
          <p:nvPr/>
        </p:nvSpPr>
        <p:spPr>
          <a:xfrm>
            <a:off x="6031950" y="1756025"/>
            <a:ext cx="2855100" cy="513900"/>
          </a:xfrm>
          <a:prstGeom prst="flowChartAlternateProcess">
            <a:avLst/>
          </a:prstGeom>
          <a:solidFill>
            <a:srgbClr val="D3E9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000000"/>
                </a:solidFill>
                <a:latin typeface="Cabin"/>
                <a:ea typeface="Cabin"/>
                <a:cs typeface="Cabin"/>
                <a:sym typeface="Cabin"/>
              </a:rPr>
              <a:t>Scope 3 Financed:</a:t>
            </a:r>
            <a:endParaRPr sz="1100" b="1"/>
          </a:p>
          <a:p>
            <a:pPr marL="0" lvl="0" indent="0" algn="l" rtl="0">
              <a:spcBef>
                <a:spcPts val="0"/>
              </a:spcBef>
              <a:spcAft>
                <a:spcPts val="0"/>
              </a:spcAft>
              <a:buClr>
                <a:schemeClr val="dk1"/>
              </a:buClr>
              <a:buSzPts val="1100"/>
              <a:buFont typeface="Arial"/>
              <a:buNone/>
            </a:pPr>
            <a:r>
              <a:rPr lang="en" sz="1100">
                <a:solidFill>
                  <a:schemeClr val="dk1"/>
                </a:solidFill>
                <a:latin typeface="Cabin"/>
                <a:ea typeface="Cabin"/>
                <a:cs typeface="Cabin"/>
                <a:sym typeface="Cabin"/>
              </a:rPr>
              <a:t>Waiting for a response from BIDV</a:t>
            </a:r>
            <a:endParaRPr sz="1100" b="0" i="0" u="none" strike="noStrike" cap="none">
              <a:solidFill>
                <a:srgbClr val="000000"/>
              </a:solidFill>
              <a:latin typeface="Cabin"/>
              <a:ea typeface="Cabin"/>
              <a:cs typeface="Cabin"/>
              <a:sym typeface="Cabin"/>
            </a:endParaRPr>
          </a:p>
        </p:txBody>
      </p:sp>
      <p:sp>
        <p:nvSpPr>
          <p:cNvPr id="453" name="Google Shape;453;p89"/>
          <p:cNvSpPr/>
          <p:nvPr/>
        </p:nvSpPr>
        <p:spPr>
          <a:xfrm>
            <a:off x="5607515" y="1186275"/>
            <a:ext cx="331800" cy="347700"/>
          </a:xfrm>
          <a:prstGeom prst="rightArrow">
            <a:avLst>
              <a:gd name="adj1" fmla="val 50000"/>
              <a:gd name="adj2" fmla="val 50000"/>
            </a:avLst>
          </a:prstGeom>
          <a:solidFill>
            <a:srgbClr val="D3E9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4" name="Google Shape;454;p89"/>
          <p:cNvSpPr/>
          <p:nvPr/>
        </p:nvSpPr>
        <p:spPr>
          <a:xfrm>
            <a:off x="5607515" y="1860725"/>
            <a:ext cx="331800" cy="347700"/>
          </a:xfrm>
          <a:prstGeom prst="rightArrow">
            <a:avLst>
              <a:gd name="adj1" fmla="val 50000"/>
              <a:gd name="adj2" fmla="val 50000"/>
            </a:avLst>
          </a:prstGeom>
          <a:solidFill>
            <a:srgbClr val="D3E9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5" name="Google Shape;455;p89"/>
          <p:cNvSpPr/>
          <p:nvPr/>
        </p:nvSpPr>
        <p:spPr>
          <a:xfrm>
            <a:off x="5607565" y="2484150"/>
            <a:ext cx="331800" cy="347700"/>
          </a:xfrm>
          <a:prstGeom prst="rightArrow">
            <a:avLst>
              <a:gd name="adj1" fmla="val 50000"/>
              <a:gd name="adj2" fmla="val 50000"/>
            </a:avLst>
          </a:prstGeom>
          <a:solidFill>
            <a:srgbClr val="B9DD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6" name="Google Shape;456;p89"/>
          <p:cNvSpPr/>
          <p:nvPr/>
        </p:nvSpPr>
        <p:spPr>
          <a:xfrm>
            <a:off x="5607565" y="3237325"/>
            <a:ext cx="331800" cy="347700"/>
          </a:xfrm>
          <a:prstGeom prst="rightArrow">
            <a:avLst>
              <a:gd name="adj1" fmla="val 50000"/>
              <a:gd name="adj2" fmla="val 50000"/>
            </a:avLst>
          </a:prstGeom>
          <a:solidFill>
            <a:srgbClr val="B9DD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 name="Google Shape;457;p89"/>
          <p:cNvSpPr/>
          <p:nvPr/>
        </p:nvSpPr>
        <p:spPr>
          <a:xfrm>
            <a:off x="5651290" y="4083050"/>
            <a:ext cx="331800" cy="347700"/>
          </a:xfrm>
          <a:prstGeom prst="rightArrow">
            <a:avLst>
              <a:gd name="adj1" fmla="val 50000"/>
              <a:gd name="adj2" fmla="val 50000"/>
            </a:avLst>
          </a:prstGeom>
          <a:solidFill>
            <a:srgbClr val="B9DD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8" name="Google Shape;458;p89"/>
          <p:cNvSpPr/>
          <p:nvPr/>
        </p:nvSpPr>
        <p:spPr>
          <a:xfrm>
            <a:off x="5651290" y="4700925"/>
            <a:ext cx="331800" cy="347700"/>
          </a:xfrm>
          <a:prstGeom prst="rightArrow">
            <a:avLst>
              <a:gd name="adj1" fmla="val 50000"/>
              <a:gd name="adj2" fmla="val 50000"/>
            </a:avLst>
          </a:prstGeom>
          <a:solidFill>
            <a:srgbClr val="B9DD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 name="Google Shape;459;p89"/>
          <p:cNvSpPr/>
          <p:nvPr/>
        </p:nvSpPr>
        <p:spPr>
          <a:xfrm>
            <a:off x="6032200" y="4715925"/>
            <a:ext cx="2883300" cy="317700"/>
          </a:xfrm>
          <a:prstGeom prst="flowChartAlternateProcess">
            <a:avLst/>
          </a:prstGeom>
          <a:solidFill>
            <a:srgbClr val="B9DDD8"/>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b="1">
                <a:latin typeface="Cabin"/>
                <a:ea typeface="Cabin"/>
                <a:cs typeface="Cabin"/>
                <a:sym typeface="Cabin"/>
              </a:rPr>
              <a:t>Toolkits: </a:t>
            </a:r>
            <a:r>
              <a:rPr lang="en" sz="1100">
                <a:solidFill>
                  <a:schemeClr val="dk1"/>
                </a:solidFill>
                <a:latin typeface="Cabin"/>
                <a:ea typeface="Cabin"/>
                <a:cs typeface="Cabin"/>
                <a:sym typeface="Cabin"/>
              </a:rPr>
              <a:t>Finalizing database for financed emission factors</a:t>
            </a:r>
            <a:endParaRPr sz="1100">
              <a:latin typeface="Cabin"/>
              <a:ea typeface="Cabin"/>
              <a:cs typeface="Cabin"/>
              <a:sym typeface="Cabi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6F4F1"/>
        </a:solidFill>
        <a:effectLst/>
      </p:bgPr>
    </p:bg>
    <p:spTree>
      <p:nvGrpSpPr>
        <p:cNvPr id="1" name="Shape 463"/>
        <p:cNvGrpSpPr/>
        <p:nvPr/>
      </p:nvGrpSpPr>
      <p:grpSpPr>
        <a:xfrm>
          <a:off x="0" y="0"/>
          <a:ext cx="0" cy="0"/>
          <a:chOff x="0" y="0"/>
          <a:chExt cx="0" cy="0"/>
        </a:xfrm>
      </p:grpSpPr>
      <p:sp>
        <p:nvSpPr>
          <p:cNvPr id="464" name="Google Shape;464;p90"/>
          <p:cNvSpPr/>
          <p:nvPr/>
        </p:nvSpPr>
        <p:spPr>
          <a:xfrm>
            <a:off x="65575" y="69625"/>
            <a:ext cx="8991000" cy="9201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17780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FBFBFB"/>
                </a:solidFill>
                <a:latin typeface="Cabin"/>
                <a:ea typeface="Cabin"/>
                <a:cs typeface="Cabin"/>
                <a:sym typeface="Cabin"/>
              </a:rPr>
              <a:t> </a:t>
            </a:r>
            <a:endParaRPr sz="1500" b="1" i="0" u="none" strike="noStrike" cap="none">
              <a:solidFill>
                <a:srgbClr val="FBFBFB"/>
              </a:solidFill>
              <a:latin typeface="Cabin"/>
              <a:ea typeface="Cabin"/>
              <a:cs typeface="Cabin"/>
              <a:sym typeface="Cabin"/>
            </a:endParaRPr>
          </a:p>
        </p:txBody>
      </p:sp>
      <p:sp>
        <p:nvSpPr>
          <p:cNvPr id="465" name="Google Shape;465;p90"/>
          <p:cNvSpPr txBox="1">
            <a:spLocks noGrp="1"/>
          </p:cNvSpPr>
          <p:nvPr>
            <p:ph type="title"/>
          </p:nvPr>
        </p:nvSpPr>
        <p:spPr>
          <a:xfrm>
            <a:off x="221989" y="155177"/>
            <a:ext cx="81885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41667"/>
              <a:buNone/>
            </a:pPr>
            <a:r>
              <a:rPr lang="en" sz="2400" b="1">
                <a:solidFill>
                  <a:schemeClr val="lt1"/>
                </a:solidFill>
                <a:latin typeface="Cabin"/>
                <a:ea typeface="Cabin"/>
                <a:cs typeface="Cabin"/>
                <a:sym typeface="Cabin"/>
              </a:rPr>
              <a:t>State-Owned Champion Bank Collaboration: </a:t>
            </a:r>
            <a:endParaRPr sz="2400" b="1">
              <a:solidFill>
                <a:schemeClr val="lt1"/>
              </a:solidFill>
              <a:latin typeface="Cabin"/>
              <a:ea typeface="Cabin"/>
              <a:cs typeface="Cabin"/>
              <a:sym typeface="Cabin"/>
            </a:endParaRPr>
          </a:p>
          <a:p>
            <a:pPr marL="0" lvl="0" indent="0" algn="l" rtl="0">
              <a:lnSpc>
                <a:spcPct val="100000"/>
              </a:lnSpc>
              <a:spcBef>
                <a:spcPts val="0"/>
              </a:spcBef>
              <a:spcAft>
                <a:spcPts val="0"/>
              </a:spcAft>
              <a:buSzPct val="41667"/>
              <a:buNone/>
            </a:pPr>
            <a:r>
              <a:rPr lang="en" sz="2400" b="1">
                <a:solidFill>
                  <a:schemeClr val="lt1"/>
                </a:solidFill>
                <a:latin typeface="Cabin"/>
                <a:ea typeface="Cabin"/>
                <a:cs typeface="Cabin"/>
                <a:sym typeface="Cabin"/>
              </a:rPr>
              <a:t>BIDV Progress Update - Sustainability Linked Loans</a:t>
            </a:r>
            <a:endParaRPr sz="2400" b="1">
              <a:solidFill>
                <a:schemeClr val="lt1"/>
              </a:solidFill>
              <a:latin typeface="Cabin"/>
              <a:ea typeface="Cabin"/>
              <a:cs typeface="Cabin"/>
              <a:sym typeface="Cabin"/>
            </a:endParaRPr>
          </a:p>
        </p:txBody>
      </p:sp>
      <p:grpSp>
        <p:nvGrpSpPr>
          <p:cNvPr id="466" name="Google Shape;466;p90"/>
          <p:cNvGrpSpPr/>
          <p:nvPr/>
        </p:nvGrpSpPr>
        <p:grpSpPr>
          <a:xfrm>
            <a:off x="65637" y="1204503"/>
            <a:ext cx="2181939" cy="724612"/>
            <a:chOff x="1593000" y="2322568"/>
            <a:chExt cx="2939827" cy="643356"/>
          </a:xfrm>
        </p:grpSpPr>
        <p:sp>
          <p:nvSpPr>
            <p:cNvPr id="467" name="Google Shape;467;p90"/>
            <p:cNvSpPr/>
            <p:nvPr/>
          </p:nvSpPr>
          <p:spPr>
            <a:xfrm flipH="1">
              <a:off x="2283025" y="2322575"/>
              <a:ext cx="1844400" cy="642600"/>
            </a:xfrm>
            <a:prstGeom prst="rect">
              <a:avLst/>
            </a:prstGeom>
            <a:solidFill>
              <a:srgbClr val="1B7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bin"/>
                <a:ea typeface="Cabin"/>
                <a:cs typeface="Cabin"/>
                <a:sym typeface="Cabin"/>
              </a:endParaRPr>
            </a:p>
          </p:txBody>
        </p:sp>
        <p:sp>
          <p:nvSpPr>
            <p:cNvPr id="468" name="Google Shape;468;p90"/>
            <p:cNvSpPr/>
            <p:nvPr/>
          </p:nvSpPr>
          <p:spPr>
            <a:xfrm rot="-5400000">
              <a:off x="3501574" y="1934671"/>
              <a:ext cx="643356" cy="1419149"/>
            </a:xfrm>
            <a:prstGeom prst="flowChartOffpageConnector">
              <a:avLst/>
            </a:prstGeom>
            <a:solidFill>
              <a:srgbClr val="1B7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bin"/>
                <a:ea typeface="Cabin"/>
                <a:cs typeface="Cabin"/>
                <a:sym typeface="Cabin"/>
              </a:endParaRPr>
            </a:p>
          </p:txBody>
        </p:sp>
        <p:sp>
          <p:nvSpPr>
            <p:cNvPr id="469" name="Google Shape;469;p90"/>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
                  <a:solidFill>
                    <a:srgbClr val="FFFFFF"/>
                  </a:solidFill>
                  <a:latin typeface="Cabin Medium"/>
                  <a:ea typeface="Cabin Medium"/>
                  <a:cs typeface="Cabin Medium"/>
                  <a:sym typeface="Cabin Medium"/>
                </a:rPr>
                <a:t>SLL Support</a:t>
              </a:r>
              <a:endParaRPr sz="1400" b="0" i="0" u="none" strike="noStrike" cap="none">
                <a:solidFill>
                  <a:srgbClr val="FFFFFF"/>
                </a:solidFill>
                <a:latin typeface="Cabin"/>
                <a:ea typeface="Cabin"/>
                <a:cs typeface="Cabin"/>
                <a:sym typeface="Cabin"/>
              </a:endParaRPr>
            </a:p>
          </p:txBody>
        </p:sp>
        <p:sp>
          <p:nvSpPr>
            <p:cNvPr id="470" name="Google Shape;470;p90"/>
            <p:cNvSpPr/>
            <p:nvPr/>
          </p:nvSpPr>
          <p:spPr>
            <a:xfrm>
              <a:off x="1593000" y="2322568"/>
              <a:ext cx="690000" cy="642300"/>
            </a:xfrm>
            <a:prstGeom prst="rect">
              <a:avLst/>
            </a:prstGeom>
            <a:solidFill>
              <a:srgbClr val="1D7E75"/>
            </a:solidFill>
            <a:ln>
              <a:noFill/>
            </a:ln>
            <a:effectLst>
              <a:outerShdw blurRad="71438" dist="28575" dir="2700000" algn="bl" rotWithShape="0">
                <a:srgbClr val="000000">
                  <a:alpha val="168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bin"/>
                <a:ea typeface="Cabin"/>
                <a:cs typeface="Cabin"/>
                <a:sym typeface="Cabin"/>
              </a:endParaRPr>
            </a:p>
          </p:txBody>
        </p:sp>
        <p:sp>
          <p:nvSpPr>
            <p:cNvPr id="471" name="Google Shape;471;p90"/>
            <p:cNvSpPr/>
            <p:nvPr/>
          </p:nvSpPr>
          <p:spPr>
            <a:xfrm>
              <a:off x="1593000" y="2322575"/>
              <a:ext cx="690000" cy="642600"/>
            </a:xfrm>
            <a:prstGeom prst="rect">
              <a:avLst/>
            </a:prstGeom>
            <a:solidFill>
              <a:srgbClr val="1F88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 sz="2600" b="0" i="0" u="none" strike="noStrike" cap="none">
                  <a:solidFill>
                    <a:srgbClr val="FFFFFF"/>
                  </a:solidFill>
                  <a:latin typeface="Cabin"/>
                  <a:ea typeface="Cabin"/>
                  <a:cs typeface="Cabin"/>
                  <a:sym typeface="Cabin"/>
                </a:rPr>
                <a:t>3</a:t>
              </a:r>
              <a:endParaRPr sz="2600" b="0" i="0" u="none" strike="noStrike" cap="none">
                <a:solidFill>
                  <a:srgbClr val="FFFFFF"/>
                </a:solidFill>
                <a:latin typeface="Cabin"/>
                <a:ea typeface="Cabin"/>
                <a:cs typeface="Cabin"/>
                <a:sym typeface="Cabin"/>
              </a:endParaRPr>
            </a:p>
          </p:txBody>
        </p:sp>
      </p:grpSp>
      <p:sp>
        <p:nvSpPr>
          <p:cNvPr id="472" name="Google Shape;472;p90"/>
          <p:cNvSpPr/>
          <p:nvPr/>
        </p:nvSpPr>
        <p:spPr>
          <a:xfrm>
            <a:off x="2387491" y="1219350"/>
            <a:ext cx="3308100" cy="3782700"/>
          </a:xfrm>
          <a:prstGeom prst="roundRect">
            <a:avLst>
              <a:gd name="adj" fmla="val 16667"/>
            </a:avLst>
          </a:prstGeom>
          <a:solidFill>
            <a:srgbClr val="D7ECE8"/>
          </a:solidFill>
          <a:ln w="19050" cap="flat" cmpd="sng">
            <a:solidFill>
              <a:srgbClr val="155B55"/>
            </a:solidFill>
            <a:prstDash val="solid"/>
            <a:round/>
            <a:headEnd type="none" w="sm" len="sm"/>
            <a:tailEnd type="none" w="sm" len="sm"/>
          </a:ln>
        </p:spPr>
        <p:txBody>
          <a:bodyPr spcFirstLastPara="1" wrap="square" lIns="0" tIns="91425" rIns="0" bIns="91425" anchor="t" anchorCtr="0">
            <a:noAutofit/>
          </a:bodyPr>
          <a:lstStyle/>
          <a:p>
            <a:pPr marL="0" lvl="0" indent="0" algn="l" rtl="0">
              <a:spcBef>
                <a:spcPts val="0"/>
              </a:spcBef>
              <a:spcAft>
                <a:spcPts val="0"/>
              </a:spcAft>
              <a:buNone/>
            </a:pPr>
            <a:endParaRPr sz="1100" b="1">
              <a:solidFill>
                <a:schemeClr val="dk1"/>
              </a:solidFill>
              <a:latin typeface="Cabin"/>
              <a:ea typeface="Cabin"/>
              <a:cs typeface="Cabin"/>
              <a:sym typeface="Cabin"/>
            </a:endParaRPr>
          </a:p>
          <a:p>
            <a:pPr marL="171450" lvl="0" indent="-184150" algn="l" rtl="0">
              <a:spcBef>
                <a:spcPts val="0"/>
              </a:spcBef>
              <a:spcAft>
                <a:spcPts val="0"/>
              </a:spcAft>
              <a:buClr>
                <a:schemeClr val="dk1"/>
              </a:buClr>
              <a:buSzPts val="1100"/>
              <a:buFont typeface="Cabin"/>
              <a:buChar char="●"/>
            </a:pPr>
            <a:r>
              <a:rPr lang="en" sz="1100" b="1">
                <a:solidFill>
                  <a:schemeClr val="dk1"/>
                </a:solidFill>
                <a:latin typeface="Cabin"/>
                <a:ea typeface="Cabin"/>
                <a:cs typeface="Cabin"/>
                <a:sym typeface="Cabin"/>
              </a:rPr>
              <a:t>Economic Context: </a:t>
            </a:r>
            <a:r>
              <a:rPr lang="en" sz="1100">
                <a:solidFill>
                  <a:schemeClr val="dk1"/>
                </a:solidFill>
                <a:latin typeface="Cabin"/>
                <a:ea typeface="Cabin"/>
                <a:cs typeface="Cabin"/>
                <a:sym typeface="Cabin"/>
              </a:rPr>
              <a:t>Enterprises prioritize resources for business and often do not see the connections to green transformation. Exporting enterprises only do enough to meet the conditions.</a:t>
            </a:r>
            <a:endParaRPr sz="1100">
              <a:solidFill>
                <a:schemeClr val="dk1"/>
              </a:solidFill>
              <a:latin typeface="Cabin"/>
              <a:ea typeface="Cabin"/>
              <a:cs typeface="Cabin"/>
              <a:sym typeface="Cabin"/>
            </a:endParaRPr>
          </a:p>
          <a:p>
            <a:pPr marL="171450" lvl="0" indent="-184150" algn="l" rtl="0">
              <a:spcBef>
                <a:spcPts val="1000"/>
              </a:spcBef>
              <a:spcAft>
                <a:spcPts val="0"/>
              </a:spcAft>
              <a:buClr>
                <a:schemeClr val="dk1"/>
              </a:buClr>
              <a:buSzPts val="1100"/>
              <a:buFont typeface="Cabin"/>
              <a:buChar char="●"/>
            </a:pPr>
            <a:r>
              <a:rPr lang="en" sz="1100" b="1">
                <a:solidFill>
                  <a:schemeClr val="dk1"/>
                </a:solidFill>
                <a:latin typeface="Cabin"/>
                <a:ea typeface="Cabin"/>
                <a:cs typeface="Cabin"/>
                <a:sym typeface="Cabin"/>
              </a:rPr>
              <a:t>Technical: </a:t>
            </a:r>
            <a:r>
              <a:rPr lang="en" sz="1100">
                <a:solidFill>
                  <a:schemeClr val="dk1"/>
                </a:solidFill>
                <a:latin typeface="Cabin"/>
                <a:ea typeface="Cabin"/>
                <a:cs typeface="Cabin"/>
                <a:sym typeface="Cabin"/>
              </a:rPr>
              <a:t>SLL has complex technical factors, affecting customers' decisions.</a:t>
            </a:r>
            <a:endParaRPr sz="1100">
              <a:solidFill>
                <a:schemeClr val="dk1"/>
              </a:solidFill>
              <a:latin typeface="Cabin"/>
              <a:ea typeface="Cabin"/>
              <a:cs typeface="Cabin"/>
              <a:sym typeface="Cabin"/>
            </a:endParaRPr>
          </a:p>
          <a:p>
            <a:pPr marL="171450" lvl="0" indent="-184150" algn="l" rtl="0">
              <a:spcBef>
                <a:spcPts val="1000"/>
              </a:spcBef>
              <a:spcAft>
                <a:spcPts val="0"/>
              </a:spcAft>
              <a:buClr>
                <a:schemeClr val="dk1"/>
              </a:buClr>
              <a:buSzPts val="1100"/>
              <a:buFont typeface="Cabin"/>
              <a:buChar char="●"/>
            </a:pPr>
            <a:r>
              <a:rPr lang="en" sz="1100" b="1">
                <a:solidFill>
                  <a:schemeClr val="dk1"/>
                </a:solidFill>
                <a:latin typeface="Cabin"/>
                <a:ea typeface="Cabin"/>
                <a:cs typeface="Cabin"/>
                <a:sym typeface="Cabin"/>
              </a:rPr>
              <a:t>Financial:</a:t>
            </a:r>
            <a:r>
              <a:rPr lang="en" sz="1100">
                <a:solidFill>
                  <a:schemeClr val="dk1"/>
                </a:solidFill>
                <a:latin typeface="Cabin"/>
                <a:ea typeface="Cabin"/>
                <a:cs typeface="Cabin"/>
                <a:sym typeface="Cabin"/>
              </a:rPr>
              <a:t> The current SLL lending interest rate does not create enough motivation; the current credit growth rate is quite low.</a:t>
            </a:r>
            <a:endParaRPr sz="1100">
              <a:solidFill>
                <a:schemeClr val="dk1"/>
              </a:solidFill>
              <a:latin typeface="Cabin"/>
              <a:ea typeface="Cabin"/>
              <a:cs typeface="Cabin"/>
              <a:sym typeface="Cabin"/>
            </a:endParaRPr>
          </a:p>
          <a:p>
            <a:pPr marL="171450" lvl="0" indent="-184150" algn="l" rtl="0">
              <a:spcBef>
                <a:spcPts val="1000"/>
              </a:spcBef>
              <a:spcAft>
                <a:spcPts val="1000"/>
              </a:spcAft>
              <a:buClr>
                <a:schemeClr val="dk1"/>
              </a:buClr>
              <a:buSzPts val="1100"/>
              <a:buFont typeface="Cabin"/>
              <a:buChar char="●"/>
            </a:pPr>
            <a:r>
              <a:rPr lang="en" sz="1100" b="1">
                <a:solidFill>
                  <a:schemeClr val="dk1"/>
                </a:solidFill>
                <a:latin typeface="Cabin"/>
                <a:ea typeface="Cabin"/>
                <a:cs typeface="Cabin"/>
                <a:sym typeface="Cabin"/>
              </a:rPr>
              <a:t>Business Psychology: </a:t>
            </a:r>
            <a:r>
              <a:rPr lang="en" sz="1100">
                <a:solidFill>
                  <a:schemeClr val="dk1"/>
                </a:solidFill>
                <a:latin typeface="Cabin"/>
                <a:ea typeface="Cabin"/>
                <a:cs typeface="Cabin"/>
                <a:sym typeface="Cabin"/>
              </a:rPr>
              <a:t>Some companies fear losing competitive advantage if ESG information is made public and have expressed concerns about "greenwashing" due to unclear regulations in Vietnam.</a:t>
            </a:r>
            <a:endParaRPr sz="1100">
              <a:solidFill>
                <a:schemeClr val="dk1"/>
              </a:solidFill>
              <a:latin typeface="Cabin"/>
              <a:ea typeface="Cabin"/>
              <a:cs typeface="Cabin"/>
              <a:sym typeface="Cabin"/>
            </a:endParaRPr>
          </a:p>
        </p:txBody>
      </p:sp>
      <p:sp>
        <p:nvSpPr>
          <p:cNvPr id="473" name="Google Shape;473;p90"/>
          <p:cNvSpPr/>
          <p:nvPr/>
        </p:nvSpPr>
        <p:spPr>
          <a:xfrm>
            <a:off x="5748450" y="1219350"/>
            <a:ext cx="3308100" cy="3782700"/>
          </a:xfrm>
          <a:prstGeom prst="roundRect">
            <a:avLst>
              <a:gd name="adj" fmla="val 16667"/>
            </a:avLst>
          </a:prstGeom>
          <a:solidFill>
            <a:srgbClr val="D7ECE8"/>
          </a:solidFill>
          <a:ln w="19050" cap="flat" cmpd="sng">
            <a:solidFill>
              <a:srgbClr val="155B55"/>
            </a:solidFill>
            <a:prstDash val="solid"/>
            <a:round/>
            <a:headEnd type="none" w="sm" len="sm"/>
            <a:tailEnd type="none" w="sm" len="sm"/>
          </a:ln>
        </p:spPr>
        <p:txBody>
          <a:bodyPr spcFirstLastPara="1" wrap="square" lIns="0" tIns="91425" rIns="0" bIns="91425" anchor="t" anchorCtr="0">
            <a:noAutofit/>
          </a:bodyPr>
          <a:lstStyle/>
          <a:p>
            <a:pPr marL="0" lvl="0" indent="0" algn="ctr" rtl="0">
              <a:spcBef>
                <a:spcPts val="0"/>
              </a:spcBef>
              <a:spcAft>
                <a:spcPts val="0"/>
              </a:spcAft>
              <a:buNone/>
            </a:pPr>
            <a:endParaRPr sz="1100" b="1">
              <a:solidFill>
                <a:schemeClr val="dk1"/>
              </a:solidFill>
              <a:latin typeface="Cabin"/>
              <a:ea typeface="Cabin"/>
              <a:cs typeface="Cabin"/>
              <a:sym typeface="Cabin"/>
            </a:endParaRPr>
          </a:p>
          <a:p>
            <a:pPr marL="114300" lvl="0" indent="-184150" algn="l" rtl="0">
              <a:spcBef>
                <a:spcPts val="0"/>
              </a:spcBef>
              <a:spcAft>
                <a:spcPts val="0"/>
              </a:spcAft>
              <a:buClr>
                <a:schemeClr val="dk1"/>
              </a:buClr>
              <a:buSzPts val="1100"/>
              <a:buFont typeface="Cabin"/>
              <a:buChar char="●"/>
            </a:pPr>
            <a:r>
              <a:rPr lang="en" sz="1100" b="1">
                <a:solidFill>
                  <a:schemeClr val="dk1"/>
                </a:solidFill>
                <a:latin typeface="Cabin"/>
                <a:ea typeface="Cabin"/>
                <a:cs typeface="Cabin"/>
                <a:sym typeface="Cabin"/>
              </a:rPr>
              <a:t>Updated Strategy: </a:t>
            </a:r>
            <a:r>
              <a:rPr lang="en" sz="1100">
                <a:solidFill>
                  <a:schemeClr val="dk1"/>
                </a:solidFill>
                <a:latin typeface="Cabin"/>
                <a:ea typeface="Cabin"/>
                <a:cs typeface="Cabin"/>
                <a:sym typeface="Cabin"/>
              </a:rPr>
              <a:t>Engage targeted potential customers and expand the scope of our objective to support the advancement of green financing instruments, by exploring Transition Plans in addition to SLLs.  </a:t>
            </a:r>
            <a:endParaRPr sz="1100" b="1">
              <a:solidFill>
                <a:schemeClr val="dk1"/>
              </a:solidFill>
              <a:latin typeface="Cabin"/>
              <a:ea typeface="Cabin"/>
              <a:cs typeface="Cabin"/>
              <a:sym typeface="Cabin"/>
            </a:endParaRPr>
          </a:p>
          <a:p>
            <a:pPr marL="114300" lvl="0" indent="-184150" algn="l" rtl="0">
              <a:spcBef>
                <a:spcPts val="1000"/>
              </a:spcBef>
              <a:spcAft>
                <a:spcPts val="0"/>
              </a:spcAft>
              <a:buClr>
                <a:schemeClr val="dk1"/>
              </a:buClr>
              <a:buSzPts val="1100"/>
              <a:buFont typeface="Cabin"/>
              <a:buChar char="●"/>
            </a:pPr>
            <a:r>
              <a:rPr lang="en" sz="1100" b="1">
                <a:solidFill>
                  <a:schemeClr val="dk1"/>
                </a:solidFill>
                <a:latin typeface="Cabin"/>
                <a:ea typeface="Cabin"/>
                <a:cs typeface="Cabin"/>
                <a:sym typeface="Cabin"/>
              </a:rPr>
              <a:t>Next Steps: </a:t>
            </a:r>
            <a:endParaRPr sz="1100" b="1">
              <a:solidFill>
                <a:schemeClr val="dk1"/>
              </a:solidFill>
              <a:latin typeface="Cabin"/>
              <a:ea typeface="Cabin"/>
              <a:cs typeface="Cabin"/>
              <a:sym typeface="Cabin"/>
            </a:endParaRPr>
          </a:p>
          <a:p>
            <a:pPr marL="285750" lvl="1" indent="-184150" algn="l" rtl="0">
              <a:spcBef>
                <a:spcPts val="0"/>
              </a:spcBef>
              <a:spcAft>
                <a:spcPts val="0"/>
              </a:spcAft>
              <a:buClr>
                <a:schemeClr val="dk1"/>
              </a:buClr>
              <a:buSzPts val="1100"/>
              <a:buFont typeface="Cabin"/>
              <a:buChar char="○"/>
            </a:pPr>
            <a:r>
              <a:rPr lang="en" sz="1100">
                <a:solidFill>
                  <a:schemeClr val="dk1"/>
                </a:solidFill>
                <a:latin typeface="Cabin"/>
                <a:ea typeface="Cabin"/>
                <a:cs typeface="Cabin"/>
                <a:sym typeface="Cabin"/>
              </a:rPr>
              <a:t>BIDV is engaging 20 customers through early Q1 to promote green financing instruments including SLLs and transition plans and will arrange an in-depth consultation meeting between Allotrope and a potential customer.</a:t>
            </a:r>
            <a:endParaRPr sz="1100">
              <a:solidFill>
                <a:schemeClr val="dk1"/>
              </a:solidFill>
              <a:latin typeface="Cabin"/>
              <a:ea typeface="Cabin"/>
              <a:cs typeface="Cabin"/>
              <a:sym typeface="Cabin"/>
            </a:endParaRPr>
          </a:p>
          <a:p>
            <a:pPr marL="285750" lvl="1" indent="-184150" algn="l" rtl="0">
              <a:spcBef>
                <a:spcPts val="600"/>
              </a:spcBef>
              <a:spcAft>
                <a:spcPts val="0"/>
              </a:spcAft>
              <a:buClr>
                <a:schemeClr val="dk1"/>
              </a:buClr>
              <a:buSzPts val="1100"/>
              <a:buFont typeface="Cabin"/>
              <a:buChar char="○"/>
            </a:pPr>
            <a:r>
              <a:rPr lang="en" sz="1100">
                <a:solidFill>
                  <a:schemeClr val="dk1"/>
                </a:solidFill>
                <a:latin typeface="Cabin"/>
                <a:ea typeface="Cabin"/>
                <a:cs typeface="Cabin"/>
                <a:sym typeface="Cabin"/>
              </a:rPr>
              <a:t>Allotrope will summarize lessons and share relevant materials with interested customers.  </a:t>
            </a:r>
            <a:endParaRPr sz="1100">
              <a:solidFill>
                <a:schemeClr val="dk1"/>
              </a:solidFill>
              <a:latin typeface="Cabin"/>
              <a:ea typeface="Cabin"/>
              <a:cs typeface="Cabin"/>
              <a:sym typeface="Cabin"/>
            </a:endParaRPr>
          </a:p>
          <a:p>
            <a:pPr marL="114300" lvl="0" indent="-184150" algn="l" rtl="0">
              <a:spcBef>
                <a:spcPts val="1000"/>
              </a:spcBef>
              <a:spcAft>
                <a:spcPts val="1000"/>
              </a:spcAft>
              <a:buClr>
                <a:schemeClr val="dk1"/>
              </a:buClr>
              <a:buSzPts val="1100"/>
              <a:buFont typeface="Cabin"/>
              <a:buChar char="●"/>
            </a:pPr>
            <a:r>
              <a:rPr lang="en" sz="1100" b="1">
                <a:solidFill>
                  <a:schemeClr val="dk1"/>
                </a:solidFill>
                <a:latin typeface="Cabin"/>
                <a:ea typeface="Cabin"/>
                <a:cs typeface="Cabin"/>
                <a:sym typeface="Cabin"/>
              </a:rPr>
              <a:t>Future Approach: </a:t>
            </a:r>
            <a:r>
              <a:rPr lang="en" sz="1100">
                <a:solidFill>
                  <a:schemeClr val="dk1"/>
                </a:solidFill>
                <a:latin typeface="Cabin"/>
                <a:ea typeface="Cabin"/>
                <a:cs typeface="Cabin"/>
                <a:sym typeface="Cabin"/>
              </a:rPr>
              <a:t>Engage banks and clients to explore Transition Plans, anticipating the application of emission quotas from 2026.</a:t>
            </a:r>
            <a:endParaRPr sz="1100">
              <a:solidFill>
                <a:schemeClr val="dk1"/>
              </a:solidFill>
              <a:latin typeface="Cabin"/>
              <a:ea typeface="Cabin"/>
              <a:cs typeface="Cabin"/>
              <a:sym typeface="Cabin"/>
            </a:endParaRPr>
          </a:p>
        </p:txBody>
      </p:sp>
      <p:sp>
        <p:nvSpPr>
          <p:cNvPr id="474" name="Google Shape;474;p90"/>
          <p:cNvSpPr/>
          <p:nvPr/>
        </p:nvSpPr>
        <p:spPr>
          <a:xfrm>
            <a:off x="2881016" y="1083175"/>
            <a:ext cx="2233800" cy="460800"/>
          </a:xfrm>
          <a:prstGeom prst="roundRect">
            <a:avLst>
              <a:gd name="adj" fmla="val 16667"/>
            </a:avLst>
          </a:prstGeom>
          <a:solidFill>
            <a:srgbClr val="006666"/>
          </a:solidFill>
          <a:ln w="9525" cap="flat" cmpd="sng">
            <a:solidFill>
              <a:srgbClr val="155B5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Cabin"/>
                <a:ea typeface="Cabin"/>
                <a:cs typeface="Cabin"/>
                <a:sym typeface="Cabin"/>
              </a:rPr>
              <a:t>CHALLENGES</a:t>
            </a:r>
            <a:endParaRPr b="1">
              <a:solidFill>
                <a:schemeClr val="lt1"/>
              </a:solidFill>
              <a:latin typeface="Cabin"/>
              <a:ea typeface="Cabin"/>
              <a:cs typeface="Cabin"/>
              <a:sym typeface="Cabin"/>
            </a:endParaRPr>
          </a:p>
        </p:txBody>
      </p:sp>
      <p:sp>
        <p:nvSpPr>
          <p:cNvPr id="475" name="Google Shape;475;p90"/>
          <p:cNvSpPr/>
          <p:nvPr/>
        </p:nvSpPr>
        <p:spPr>
          <a:xfrm>
            <a:off x="6176700" y="1083175"/>
            <a:ext cx="2233800" cy="460800"/>
          </a:xfrm>
          <a:prstGeom prst="roundRect">
            <a:avLst>
              <a:gd name="adj" fmla="val 16667"/>
            </a:avLst>
          </a:prstGeom>
          <a:solidFill>
            <a:srgbClr val="006666"/>
          </a:solidFill>
          <a:ln w="9525" cap="flat" cmpd="sng">
            <a:solidFill>
              <a:srgbClr val="155B5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lt1"/>
                </a:solidFill>
                <a:latin typeface="Cabin"/>
                <a:ea typeface="Cabin"/>
                <a:cs typeface="Cabin"/>
                <a:sym typeface="Cabin"/>
              </a:rPr>
              <a:t>PROPOSED SOLUTIONS &amp; </a:t>
            </a:r>
            <a:endParaRPr sz="1100" b="1">
              <a:solidFill>
                <a:schemeClr val="lt1"/>
              </a:solidFill>
              <a:latin typeface="Cabin"/>
              <a:ea typeface="Cabin"/>
              <a:cs typeface="Cabin"/>
              <a:sym typeface="Cabin"/>
            </a:endParaRPr>
          </a:p>
          <a:p>
            <a:pPr marL="0" lvl="0" indent="0" algn="ctr" rtl="0">
              <a:spcBef>
                <a:spcPts val="0"/>
              </a:spcBef>
              <a:spcAft>
                <a:spcPts val="0"/>
              </a:spcAft>
              <a:buClr>
                <a:schemeClr val="dk1"/>
              </a:buClr>
              <a:buSzPts val="1100"/>
              <a:buFont typeface="Arial"/>
              <a:buNone/>
            </a:pPr>
            <a:r>
              <a:rPr lang="en" sz="1100" b="1">
                <a:solidFill>
                  <a:schemeClr val="lt1"/>
                </a:solidFill>
                <a:latin typeface="Cabin"/>
                <a:ea typeface="Cabin"/>
                <a:cs typeface="Cabin"/>
                <a:sym typeface="Cabin"/>
              </a:rPr>
              <a:t>NEW DIRECTION</a:t>
            </a:r>
            <a:endParaRPr b="1">
              <a:solidFill>
                <a:schemeClr val="lt1"/>
              </a:solidFill>
              <a:latin typeface="Cabin"/>
              <a:ea typeface="Cabin"/>
              <a:cs typeface="Cabin"/>
              <a:sym typeface="Cabin"/>
            </a:endParaRPr>
          </a:p>
        </p:txBody>
      </p:sp>
      <p:pic>
        <p:nvPicPr>
          <p:cNvPr id="476" name="Google Shape;476;p90"/>
          <p:cNvPicPr preferRelativeResize="0"/>
          <p:nvPr/>
        </p:nvPicPr>
        <p:blipFill rotWithShape="1">
          <a:blip r:embed="rId3">
            <a:alphaModFix/>
          </a:blip>
          <a:srcRect/>
          <a:stretch/>
        </p:blipFill>
        <p:spPr>
          <a:xfrm>
            <a:off x="7748099" y="52326"/>
            <a:ext cx="1243600" cy="431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F4F1"/>
        </a:solidFill>
        <a:effectLst/>
      </p:bgPr>
    </p:bg>
    <p:spTree>
      <p:nvGrpSpPr>
        <p:cNvPr id="1" name="Shape 480"/>
        <p:cNvGrpSpPr/>
        <p:nvPr/>
      </p:nvGrpSpPr>
      <p:grpSpPr>
        <a:xfrm>
          <a:off x="0" y="0"/>
          <a:ext cx="0" cy="0"/>
          <a:chOff x="0" y="0"/>
          <a:chExt cx="0" cy="0"/>
        </a:xfrm>
      </p:grpSpPr>
      <p:sp>
        <p:nvSpPr>
          <p:cNvPr id="481" name="Google Shape;481;p91"/>
          <p:cNvSpPr/>
          <p:nvPr/>
        </p:nvSpPr>
        <p:spPr>
          <a:xfrm>
            <a:off x="65575" y="69625"/>
            <a:ext cx="8991000" cy="9201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17780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FBFBFB"/>
                </a:solidFill>
                <a:latin typeface="Cabin"/>
                <a:ea typeface="Cabin"/>
                <a:cs typeface="Cabin"/>
                <a:sym typeface="Cabin"/>
              </a:rPr>
              <a:t> </a:t>
            </a:r>
            <a:endParaRPr sz="1500" b="1" i="0" u="none" strike="noStrike" cap="none">
              <a:solidFill>
                <a:srgbClr val="FBFBFB"/>
              </a:solidFill>
              <a:latin typeface="Cabin"/>
              <a:ea typeface="Cabin"/>
              <a:cs typeface="Cabin"/>
              <a:sym typeface="Cabin"/>
            </a:endParaRPr>
          </a:p>
        </p:txBody>
      </p:sp>
      <p:sp>
        <p:nvSpPr>
          <p:cNvPr id="482" name="Google Shape;482;p91"/>
          <p:cNvSpPr txBox="1">
            <a:spLocks noGrp="1"/>
          </p:cNvSpPr>
          <p:nvPr>
            <p:ph type="title"/>
          </p:nvPr>
        </p:nvSpPr>
        <p:spPr>
          <a:xfrm>
            <a:off x="202173" y="153865"/>
            <a:ext cx="81885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45455"/>
              <a:buNone/>
            </a:pPr>
            <a:r>
              <a:rPr lang="en" sz="2200" b="1">
                <a:solidFill>
                  <a:schemeClr val="lt1"/>
                </a:solidFill>
                <a:latin typeface="Cabin"/>
                <a:ea typeface="Cabin"/>
                <a:cs typeface="Cabin"/>
                <a:sym typeface="Cabin"/>
              </a:rPr>
              <a:t>Commercial Champion Bank Collaboration: </a:t>
            </a:r>
            <a:endParaRPr sz="2400" b="1">
              <a:solidFill>
                <a:schemeClr val="lt1"/>
              </a:solidFill>
              <a:latin typeface="Cabin"/>
              <a:ea typeface="Cabin"/>
              <a:cs typeface="Cabin"/>
              <a:sym typeface="Cabin"/>
            </a:endParaRPr>
          </a:p>
          <a:p>
            <a:pPr marL="0" lvl="0" indent="0" algn="l" rtl="0">
              <a:lnSpc>
                <a:spcPct val="100000"/>
              </a:lnSpc>
              <a:spcBef>
                <a:spcPts val="0"/>
              </a:spcBef>
              <a:spcAft>
                <a:spcPts val="0"/>
              </a:spcAft>
              <a:buSzPct val="41667"/>
              <a:buNone/>
            </a:pPr>
            <a:r>
              <a:rPr lang="en" sz="2400" b="1">
                <a:solidFill>
                  <a:schemeClr val="lt1"/>
                </a:solidFill>
                <a:latin typeface="Cabin"/>
                <a:ea typeface="Cabin"/>
                <a:cs typeface="Cabin"/>
                <a:sym typeface="Cabin"/>
              </a:rPr>
              <a:t>TCB Progress Update - Summary  </a:t>
            </a:r>
            <a:endParaRPr sz="2400" b="1">
              <a:solidFill>
                <a:schemeClr val="lt1"/>
              </a:solidFill>
              <a:latin typeface="Cabin"/>
              <a:ea typeface="Cabin"/>
              <a:cs typeface="Cabin"/>
              <a:sym typeface="Cabin"/>
            </a:endParaRPr>
          </a:p>
        </p:txBody>
      </p:sp>
      <p:sp>
        <p:nvSpPr>
          <p:cNvPr id="483" name="Google Shape;483;p91"/>
          <p:cNvSpPr/>
          <p:nvPr/>
        </p:nvSpPr>
        <p:spPr>
          <a:xfrm>
            <a:off x="65564" y="2637415"/>
            <a:ext cx="598800" cy="543000"/>
          </a:xfrm>
          <a:prstGeom prst="homePlate">
            <a:avLst>
              <a:gd name="adj" fmla="val 50000"/>
            </a:avLst>
          </a:prstGeom>
          <a:solidFill>
            <a:srgbClr val="D3E9E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2700" b="1">
                <a:solidFill>
                  <a:srgbClr val="11665A"/>
                </a:solidFill>
                <a:latin typeface="Cabin"/>
                <a:ea typeface="Cabin"/>
                <a:cs typeface="Cabin"/>
                <a:sym typeface="Cabin"/>
              </a:rPr>
              <a:t>1</a:t>
            </a:r>
            <a:endParaRPr sz="1100"/>
          </a:p>
        </p:txBody>
      </p:sp>
      <p:sp>
        <p:nvSpPr>
          <p:cNvPr id="484" name="Google Shape;484;p91"/>
          <p:cNvSpPr/>
          <p:nvPr/>
        </p:nvSpPr>
        <p:spPr>
          <a:xfrm>
            <a:off x="829025" y="1483275"/>
            <a:ext cx="1662900" cy="3166200"/>
          </a:xfrm>
          <a:prstGeom prst="roundRect">
            <a:avLst>
              <a:gd name="adj" fmla="val 16667"/>
            </a:avLst>
          </a:prstGeom>
          <a:solidFill>
            <a:srgbClr val="D3E9E6"/>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500" b="1">
                <a:solidFill>
                  <a:srgbClr val="1D6E62"/>
                </a:solidFill>
                <a:latin typeface="Cabin"/>
                <a:ea typeface="Cabin"/>
                <a:cs typeface="Cabin"/>
                <a:sym typeface="Cabin"/>
              </a:rPr>
              <a:t>Develop GHG assessment reports</a:t>
            </a:r>
            <a:endParaRPr sz="1100">
              <a:latin typeface="Cabin"/>
              <a:ea typeface="Cabin"/>
              <a:cs typeface="Cabin"/>
              <a:sym typeface="Cabin"/>
            </a:endParaRPr>
          </a:p>
        </p:txBody>
      </p:sp>
      <p:sp>
        <p:nvSpPr>
          <p:cNvPr id="485" name="Google Shape;485;p91"/>
          <p:cNvSpPr/>
          <p:nvPr/>
        </p:nvSpPr>
        <p:spPr>
          <a:xfrm>
            <a:off x="2748684" y="1504893"/>
            <a:ext cx="2736600" cy="572700"/>
          </a:xfrm>
          <a:prstGeom prst="flowChartAlternateProcess">
            <a:avLst/>
          </a:prstGeom>
          <a:solidFill>
            <a:srgbClr val="D3E9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a:latin typeface="Cabin"/>
                <a:ea typeface="Cabin"/>
                <a:cs typeface="Cabin"/>
                <a:sym typeface="Cabin"/>
              </a:rPr>
              <a:t>Scope 1 &amp; 2 updated:</a:t>
            </a:r>
            <a:endParaRPr sz="1100" b="1"/>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Completed </a:t>
            </a:r>
            <a:endParaRPr sz="1100" b="0" i="0" u="none" strike="noStrike" cap="none">
              <a:solidFill>
                <a:srgbClr val="000000"/>
              </a:solidFill>
              <a:latin typeface="Cabin"/>
              <a:ea typeface="Cabin"/>
              <a:cs typeface="Cabin"/>
              <a:sym typeface="Cabin"/>
            </a:endParaRPr>
          </a:p>
        </p:txBody>
      </p:sp>
      <p:sp>
        <p:nvSpPr>
          <p:cNvPr id="486" name="Google Shape;486;p91"/>
          <p:cNvSpPr/>
          <p:nvPr/>
        </p:nvSpPr>
        <p:spPr>
          <a:xfrm>
            <a:off x="2748684" y="2187130"/>
            <a:ext cx="2736600" cy="513900"/>
          </a:xfrm>
          <a:prstGeom prst="flowChartAlternateProcess">
            <a:avLst/>
          </a:prstGeom>
          <a:solidFill>
            <a:srgbClr val="D3E9E6"/>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b="1">
                <a:solidFill>
                  <a:schemeClr val="dk1"/>
                </a:solidFill>
                <a:latin typeface="Cabin"/>
                <a:ea typeface="Cabin"/>
                <a:cs typeface="Cabin"/>
                <a:sym typeface="Cabin"/>
              </a:rPr>
              <a:t>Scope 1 &amp; 2 reduction:</a:t>
            </a:r>
            <a:endParaRPr sz="1100" b="1"/>
          </a:p>
          <a:p>
            <a:pPr marL="0" lvl="0" indent="0" algn="l" rtl="0">
              <a:spcBef>
                <a:spcPts val="0"/>
              </a:spcBef>
              <a:spcAft>
                <a:spcPts val="0"/>
              </a:spcAft>
              <a:buClr>
                <a:schemeClr val="dk1"/>
              </a:buClr>
              <a:buSzPts val="1100"/>
              <a:buFont typeface="Arial"/>
              <a:buNone/>
            </a:pPr>
            <a:r>
              <a:rPr lang="en" sz="1100">
                <a:solidFill>
                  <a:schemeClr val="dk1"/>
                </a:solidFill>
                <a:latin typeface="Cabin"/>
                <a:ea typeface="Cabin"/>
                <a:cs typeface="Cabin"/>
                <a:sym typeface="Cabin"/>
              </a:rPr>
              <a:t>Completed</a:t>
            </a:r>
            <a:endParaRPr sz="1100" b="0" i="0" u="none" strike="noStrike" cap="none">
              <a:solidFill>
                <a:srgbClr val="000000"/>
              </a:solidFill>
              <a:latin typeface="Cabin"/>
              <a:ea typeface="Cabin"/>
              <a:cs typeface="Cabin"/>
              <a:sym typeface="Cabin"/>
            </a:endParaRPr>
          </a:p>
        </p:txBody>
      </p:sp>
      <p:sp>
        <p:nvSpPr>
          <p:cNvPr id="487" name="Google Shape;487;p91"/>
          <p:cNvSpPr/>
          <p:nvPr/>
        </p:nvSpPr>
        <p:spPr>
          <a:xfrm>
            <a:off x="2748684" y="2810550"/>
            <a:ext cx="2736600" cy="513900"/>
          </a:xfrm>
          <a:prstGeom prst="flowChartAlternateProcess">
            <a:avLst/>
          </a:prstGeom>
          <a:solidFill>
            <a:srgbClr val="B9DDD8"/>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b="1">
                <a:solidFill>
                  <a:schemeClr val="dk1"/>
                </a:solidFill>
                <a:latin typeface="Cabin"/>
                <a:ea typeface="Cabin"/>
                <a:cs typeface="Cabin"/>
                <a:sym typeface="Cabin"/>
              </a:rPr>
              <a:t>Scope 3 Financed:</a:t>
            </a:r>
            <a:endParaRPr sz="1100" b="1">
              <a:solidFill>
                <a:schemeClr val="dk1"/>
              </a:solidFill>
            </a:endParaRPr>
          </a:p>
          <a:p>
            <a:pPr marL="0" lvl="0" indent="0" algn="l" rtl="0">
              <a:spcBef>
                <a:spcPts val="0"/>
              </a:spcBef>
              <a:spcAft>
                <a:spcPts val="0"/>
              </a:spcAft>
              <a:buClr>
                <a:schemeClr val="dk1"/>
              </a:buClr>
              <a:buSzPts val="1100"/>
              <a:buFont typeface="Arial"/>
              <a:buNone/>
            </a:pPr>
            <a:r>
              <a:rPr lang="en" sz="1100">
                <a:solidFill>
                  <a:schemeClr val="dk1"/>
                </a:solidFill>
                <a:latin typeface="Cabin"/>
                <a:ea typeface="Cabin"/>
                <a:cs typeface="Cabin"/>
                <a:sym typeface="Cabin"/>
              </a:rPr>
              <a:t>Finalizing report</a:t>
            </a:r>
            <a:endParaRPr sz="1100" b="1">
              <a:latin typeface="Cabin"/>
              <a:ea typeface="Cabin"/>
              <a:cs typeface="Cabin"/>
              <a:sym typeface="Cabin"/>
            </a:endParaRPr>
          </a:p>
        </p:txBody>
      </p:sp>
      <p:sp>
        <p:nvSpPr>
          <p:cNvPr id="488" name="Google Shape;488;p91"/>
          <p:cNvSpPr/>
          <p:nvPr/>
        </p:nvSpPr>
        <p:spPr>
          <a:xfrm>
            <a:off x="2748675" y="3433975"/>
            <a:ext cx="2736600" cy="773400"/>
          </a:xfrm>
          <a:prstGeom prst="flowChartAlternateProcess">
            <a:avLst/>
          </a:prstGeom>
          <a:solidFill>
            <a:srgbClr val="B9DD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000000"/>
                </a:solidFill>
                <a:latin typeface="Cabin"/>
                <a:ea typeface="Cabin"/>
                <a:cs typeface="Cabin"/>
                <a:sym typeface="Cabin"/>
              </a:rPr>
              <a:t>Scope 3 </a:t>
            </a:r>
            <a:r>
              <a:rPr lang="en" sz="1100" b="1">
                <a:solidFill>
                  <a:schemeClr val="dk1"/>
                </a:solidFill>
                <a:latin typeface="Cabin"/>
                <a:ea typeface="Cabin"/>
                <a:cs typeface="Cabin"/>
                <a:sym typeface="Cabin"/>
              </a:rPr>
              <a:t>Financed Disclosure and Target:</a:t>
            </a:r>
            <a:endParaRPr sz="1100" b="1"/>
          </a:p>
          <a:p>
            <a:pPr marL="0" lvl="0" indent="0" algn="l" rtl="0">
              <a:spcBef>
                <a:spcPts val="0"/>
              </a:spcBef>
              <a:spcAft>
                <a:spcPts val="0"/>
              </a:spcAft>
              <a:buClr>
                <a:schemeClr val="dk1"/>
              </a:buClr>
              <a:buSzPts val="1100"/>
              <a:buFont typeface="Arial"/>
              <a:buNone/>
            </a:pPr>
            <a:r>
              <a:rPr lang="en" sz="1100">
                <a:solidFill>
                  <a:schemeClr val="dk1"/>
                </a:solidFill>
                <a:latin typeface="Cabin"/>
                <a:ea typeface="Cabin"/>
                <a:cs typeface="Cabin"/>
                <a:sym typeface="Cabin"/>
              </a:rPr>
              <a:t>Finalizing report</a:t>
            </a:r>
            <a:endParaRPr sz="1100" b="0" i="0" u="none" strike="noStrike" cap="none">
              <a:solidFill>
                <a:srgbClr val="000000"/>
              </a:solidFill>
              <a:latin typeface="Cabin"/>
              <a:ea typeface="Cabin"/>
              <a:cs typeface="Cabin"/>
              <a:sym typeface="Cabin"/>
            </a:endParaRPr>
          </a:p>
        </p:txBody>
      </p:sp>
      <p:sp>
        <p:nvSpPr>
          <p:cNvPr id="489" name="Google Shape;489;p91"/>
          <p:cNvSpPr/>
          <p:nvPr/>
        </p:nvSpPr>
        <p:spPr>
          <a:xfrm>
            <a:off x="6002437" y="2799775"/>
            <a:ext cx="2855100" cy="513900"/>
          </a:xfrm>
          <a:prstGeom prst="flowChartAlternateProcess">
            <a:avLst/>
          </a:prstGeom>
          <a:solidFill>
            <a:srgbClr val="B9DDD8"/>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b="1">
                <a:solidFill>
                  <a:schemeClr val="dk1"/>
                </a:solidFill>
                <a:latin typeface="Cabin"/>
                <a:ea typeface="Cabin"/>
                <a:cs typeface="Cabin"/>
                <a:sym typeface="Cabin"/>
              </a:rPr>
              <a:t>Scope 3 Financed:</a:t>
            </a:r>
            <a:endParaRPr sz="1100" b="1">
              <a:solidFill>
                <a:schemeClr val="dk1"/>
              </a:solidFill>
            </a:endParaRPr>
          </a:p>
          <a:p>
            <a:pPr marL="0" lvl="0" indent="0" algn="l" rtl="0">
              <a:spcBef>
                <a:spcPts val="0"/>
              </a:spcBef>
              <a:spcAft>
                <a:spcPts val="0"/>
              </a:spcAft>
              <a:buClr>
                <a:schemeClr val="dk1"/>
              </a:buClr>
              <a:buSzPts val="1100"/>
              <a:buFont typeface="Arial"/>
              <a:buNone/>
            </a:pPr>
            <a:r>
              <a:rPr lang="en" sz="1100">
                <a:solidFill>
                  <a:schemeClr val="dk1"/>
                </a:solidFill>
                <a:latin typeface="Cabin"/>
                <a:ea typeface="Cabin"/>
                <a:cs typeface="Cabin"/>
                <a:sym typeface="Cabin"/>
              </a:rPr>
              <a:t>To be submitted December 2025</a:t>
            </a:r>
            <a:endParaRPr sz="1100" b="1">
              <a:solidFill>
                <a:schemeClr val="dk1"/>
              </a:solidFill>
              <a:latin typeface="Cabin"/>
              <a:ea typeface="Cabin"/>
              <a:cs typeface="Cabin"/>
              <a:sym typeface="Cabin"/>
            </a:endParaRPr>
          </a:p>
        </p:txBody>
      </p:sp>
      <p:sp>
        <p:nvSpPr>
          <p:cNvPr id="490" name="Google Shape;490;p91"/>
          <p:cNvSpPr/>
          <p:nvPr/>
        </p:nvSpPr>
        <p:spPr>
          <a:xfrm>
            <a:off x="6002425" y="3423200"/>
            <a:ext cx="2883300" cy="773400"/>
          </a:xfrm>
          <a:prstGeom prst="flowChartAlternateProcess">
            <a:avLst/>
          </a:prstGeom>
          <a:solidFill>
            <a:srgbClr val="B9DDD8"/>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b="1">
                <a:solidFill>
                  <a:schemeClr val="dk1"/>
                </a:solidFill>
                <a:latin typeface="Cabin"/>
                <a:ea typeface="Cabin"/>
                <a:cs typeface="Cabin"/>
                <a:sym typeface="Cabin"/>
              </a:rPr>
              <a:t>Scope 3 Financed Disclosure and Target:</a:t>
            </a:r>
            <a:endParaRPr sz="1100" b="1">
              <a:solidFill>
                <a:schemeClr val="dk1"/>
              </a:solidFill>
            </a:endParaRPr>
          </a:p>
          <a:p>
            <a:pPr marL="0" lvl="0" indent="0" algn="l" rtl="0">
              <a:spcBef>
                <a:spcPts val="0"/>
              </a:spcBef>
              <a:spcAft>
                <a:spcPts val="0"/>
              </a:spcAft>
              <a:buClr>
                <a:schemeClr val="dk1"/>
              </a:buClr>
              <a:buSzPts val="1100"/>
              <a:buFont typeface="Arial"/>
              <a:buNone/>
            </a:pPr>
            <a:r>
              <a:rPr lang="en" sz="1100">
                <a:solidFill>
                  <a:schemeClr val="dk1"/>
                </a:solidFill>
                <a:latin typeface="Cabin"/>
                <a:ea typeface="Cabin"/>
                <a:cs typeface="Cabin"/>
                <a:sym typeface="Cabin"/>
              </a:rPr>
              <a:t>To be submitted January 2025</a:t>
            </a:r>
            <a:endParaRPr sz="1100">
              <a:solidFill>
                <a:schemeClr val="dk1"/>
              </a:solidFill>
              <a:latin typeface="Cabin"/>
              <a:ea typeface="Cabin"/>
              <a:cs typeface="Cabin"/>
              <a:sym typeface="Cabin"/>
            </a:endParaRPr>
          </a:p>
        </p:txBody>
      </p:sp>
      <p:sp>
        <p:nvSpPr>
          <p:cNvPr id="491" name="Google Shape;491;p91"/>
          <p:cNvSpPr/>
          <p:nvPr/>
        </p:nvSpPr>
        <p:spPr>
          <a:xfrm>
            <a:off x="2718125" y="4331900"/>
            <a:ext cx="2736600" cy="317700"/>
          </a:xfrm>
          <a:prstGeom prst="flowChartAlternateProcess">
            <a:avLst/>
          </a:prstGeom>
          <a:solidFill>
            <a:srgbClr val="B9DDD8"/>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b="1">
                <a:latin typeface="Cabin"/>
                <a:ea typeface="Cabin"/>
                <a:cs typeface="Cabin"/>
                <a:sym typeface="Cabin"/>
              </a:rPr>
              <a:t>Toolkits: </a:t>
            </a:r>
            <a:r>
              <a:rPr lang="en" sz="1100">
                <a:latin typeface="Cabin"/>
                <a:ea typeface="Cabin"/>
                <a:cs typeface="Cabin"/>
                <a:sym typeface="Cabin"/>
              </a:rPr>
              <a:t>1/2 completed</a:t>
            </a:r>
            <a:endParaRPr sz="1100">
              <a:latin typeface="Cabin"/>
              <a:ea typeface="Cabin"/>
              <a:cs typeface="Cabin"/>
              <a:sym typeface="Cabin"/>
            </a:endParaRPr>
          </a:p>
        </p:txBody>
      </p:sp>
      <p:pic>
        <p:nvPicPr>
          <p:cNvPr id="492" name="Google Shape;492;p91"/>
          <p:cNvPicPr preferRelativeResize="0"/>
          <p:nvPr/>
        </p:nvPicPr>
        <p:blipFill rotWithShape="1">
          <a:blip r:embed="rId3">
            <a:alphaModFix/>
          </a:blip>
          <a:srcRect/>
          <a:stretch/>
        </p:blipFill>
        <p:spPr>
          <a:xfrm>
            <a:off x="7748099" y="52326"/>
            <a:ext cx="1243600" cy="431125"/>
          </a:xfrm>
          <a:prstGeom prst="rect">
            <a:avLst/>
          </a:prstGeom>
          <a:noFill/>
          <a:ln>
            <a:noFill/>
          </a:ln>
        </p:spPr>
      </p:pic>
      <p:sp>
        <p:nvSpPr>
          <p:cNvPr id="493" name="Google Shape;493;p91"/>
          <p:cNvSpPr/>
          <p:nvPr/>
        </p:nvSpPr>
        <p:spPr>
          <a:xfrm>
            <a:off x="6002325" y="1483275"/>
            <a:ext cx="2855100" cy="572700"/>
          </a:xfrm>
          <a:prstGeom prst="flowChartAlternateProcess">
            <a:avLst/>
          </a:prstGeom>
          <a:solidFill>
            <a:srgbClr val="D3E9E6"/>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b="1">
                <a:solidFill>
                  <a:schemeClr val="dk1"/>
                </a:solidFill>
                <a:latin typeface="Cabin"/>
                <a:ea typeface="Cabin"/>
                <a:cs typeface="Cabin"/>
                <a:sym typeface="Cabin"/>
              </a:rPr>
              <a:t>Scope 1 &amp; 2 updated:</a:t>
            </a:r>
            <a:endParaRPr sz="1100" b="1"/>
          </a:p>
          <a:p>
            <a:pPr marL="0" lvl="0" indent="0" algn="l" rtl="0">
              <a:spcBef>
                <a:spcPts val="0"/>
              </a:spcBef>
              <a:spcAft>
                <a:spcPts val="0"/>
              </a:spcAft>
              <a:buClr>
                <a:schemeClr val="dk1"/>
              </a:buClr>
              <a:buSzPts val="1100"/>
              <a:buFont typeface="Arial"/>
              <a:buNone/>
            </a:pPr>
            <a:r>
              <a:rPr lang="en" sz="1100">
                <a:solidFill>
                  <a:schemeClr val="dk1"/>
                </a:solidFill>
                <a:latin typeface="Cabin"/>
                <a:ea typeface="Cabin"/>
                <a:cs typeface="Cabin"/>
                <a:sym typeface="Cabin"/>
              </a:rPr>
              <a:t>Waiting till December 31 for final data </a:t>
            </a:r>
            <a:endParaRPr sz="1100" b="0" i="0" u="none" strike="noStrike" cap="none">
              <a:solidFill>
                <a:srgbClr val="000000"/>
              </a:solidFill>
              <a:latin typeface="Cabin"/>
              <a:ea typeface="Cabin"/>
              <a:cs typeface="Cabin"/>
              <a:sym typeface="Cabin"/>
            </a:endParaRPr>
          </a:p>
        </p:txBody>
      </p:sp>
      <p:sp>
        <p:nvSpPr>
          <p:cNvPr id="494" name="Google Shape;494;p91"/>
          <p:cNvSpPr/>
          <p:nvPr/>
        </p:nvSpPr>
        <p:spPr>
          <a:xfrm>
            <a:off x="6002325" y="2165525"/>
            <a:ext cx="2855100" cy="513900"/>
          </a:xfrm>
          <a:prstGeom prst="flowChartAlternateProcess">
            <a:avLst/>
          </a:prstGeom>
          <a:solidFill>
            <a:srgbClr val="D3E9E6"/>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b="1">
                <a:solidFill>
                  <a:schemeClr val="dk1"/>
                </a:solidFill>
                <a:latin typeface="Cabin"/>
                <a:ea typeface="Cabin"/>
                <a:cs typeface="Cabin"/>
                <a:sym typeface="Cabin"/>
              </a:rPr>
              <a:t>Scope 1 &amp; 2 reduction:</a:t>
            </a:r>
            <a:endParaRPr sz="1100" b="1"/>
          </a:p>
          <a:p>
            <a:pPr marL="0" lvl="0" indent="0" algn="l" rtl="0">
              <a:spcBef>
                <a:spcPts val="0"/>
              </a:spcBef>
              <a:spcAft>
                <a:spcPts val="0"/>
              </a:spcAft>
              <a:buClr>
                <a:schemeClr val="dk1"/>
              </a:buClr>
              <a:buSzPts val="1100"/>
              <a:buFont typeface="Arial"/>
              <a:buNone/>
            </a:pPr>
            <a:r>
              <a:rPr lang="en" sz="1100">
                <a:solidFill>
                  <a:schemeClr val="dk1"/>
                </a:solidFill>
                <a:latin typeface="Cabin"/>
                <a:ea typeface="Cabin"/>
                <a:cs typeface="Cabin"/>
                <a:sym typeface="Cabin"/>
              </a:rPr>
              <a:t>Waiting for a response from TCB</a:t>
            </a:r>
            <a:endParaRPr sz="1100" b="0" i="0" u="none" strike="noStrike" cap="none">
              <a:solidFill>
                <a:srgbClr val="000000"/>
              </a:solidFill>
              <a:latin typeface="Cabin"/>
              <a:ea typeface="Cabin"/>
              <a:cs typeface="Cabin"/>
              <a:sym typeface="Cabin"/>
            </a:endParaRPr>
          </a:p>
        </p:txBody>
      </p:sp>
      <p:sp>
        <p:nvSpPr>
          <p:cNvPr id="495" name="Google Shape;495;p91"/>
          <p:cNvSpPr/>
          <p:nvPr/>
        </p:nvSpPr>
        <p:spPr>
          <a:xfrm>
            <a:off x="5577890" y="1595775"/>
            <a:ext cx="331800" cy="347700"/>
          </a:xfrm>
          <a:prstGeom prst="rightArrow">
            <a:avLst>
              <a:gd name="adj1" fmla="val 50000"/>
              <a:gd name="adj2" fmla="val 50000"/>
            </a:avLst>
          </a:prstGeom>
          <a:solidFill>
            <a:srgbClr val="D3E9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 name="Google Shape;496;p91"/>
          <p:cNvSpPr/>
          <p:nvPr/>
        </p:nvSpPr>
        <p:spPr>
          <a:xfrm>
            <a:off x="5577890" y="2270225"/>
            <a:ext cx="331800" cy="347700"/>
          </a:xfrm>
          <a:prstGeom prst="rightArrow">
            <a:avLst>
              <a:gd name="adj1" fmla="val 50000"/>
              <a:gd name="adj2" fmla="val 50000"/>
            </a:avLst>
          </a:prstGeom>
          <a:solidFill>
            <a:srgbClr val="D3E9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 name="Google Shape;497;p91"/>
          <p:cNvSpPr/>
          <p:nvPr/>
        </p:nvSpPr>
        <p:spPr>
          <a:xfrm>
            <a:off x="5577940" y="2893650"/>
            <a:ext cx="331800" cy="347700"/>
          </a:xfrm>
          <a:prstGeom prst="rightArrow">
            <a:avLst>
              <a:gd name="adj1" fmla="val 50000"/>
              <a:gd name="adj2" fmla="val 50000"/>
            </a:avLst>
          </a:prstGeom>
          <a:solidFill>
            <a:srgbClr val="B9DD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 name="Google Shape;498;p91"/>
          <p:cNvSpPr/>
          <p:nvPr/>
        </p:nvSpPr>
        <p:spPr>
          <a:xfrm>
            <a:off x="5577940" y="3646825"/>
            <a:ext cx="331800" cy="347700"/>
          </a:xfrm>
          <a:prstGeom prst="rightArrow">
            <a:avLst>
              <a:gd name="adj1" fmla="val 50000"/>
              <a:gd name="adj2" fmla="val 50000"/>
            </a:avLst>
          </a:prstGeom>
          <a:solidFill>
            <a:srgbClr val="B9DD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 name="Google Shape;499;p91"/>
          <p:cNvSpPr/>
          <p:nvPr/>
        </p:nvSpPr>
        <p:spPr>
          <a:xfrm>
            <a:off x="5577890" y="4316900"/>
            <a:ext cx="331800" cy="347700"/>
          </a:xfrm>
          <a:prstGeom prst="rightArrow">
            <a:avLst>
              <a:gd name="adj1" fmla="val 50000"/>
              <a:gd name="adj2" fmla="val 50000"/>
            </a:avLst>
          </a:prstGeom>
          <a:solidFill>
            <a:srgbClr val="B9DD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0" name="Google Shape;500;p91"/>
          <p:cNvSpPr/>
          <p:nvPr/>
        </p:nvSpPr>
        <p:spPr>
          <a:xfrm>
            <a:off x="6002325" y="4306125"/>
            <a:ext cx="2855100" cy="317700"/>
          </a:xfrm>
          <a:prstGeom prst="flowChartAlternateProcess">
            <a:avLst/>
          </a:prstGeom>
          <a:solidFill>
            <a:srgbClr val="B9DDD8"/>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b="1">
                <a:latin typeface="Cabin"/>
                <a:ea typeface="Cabin"/>
                <a:cs typeface="Cabin"/>
                <a:sym typeface="Cabin"/>
              </a:rPr>
              <a:t>Toolkits: </a:t>
            </a:r>
            <a:r>
              <a:rPr lang="en" sz="1100">
                <a:solidFill>
                  <a:schemeClr val="dk1"/>
                </a:solidFill>
                <a:latin typeface="Cabin"/>
                <a:ea typeface="Cabin"/>
                <a:cs typeface="Cabin"/>
                <a:sym typeface="Cabin"/>
              </a:rPr>
              <a:t>Finalizing database for financed emission factors</a:t>
            </a:r>
            <a:endParaRPr sz="1100">
              <a:latin typeface="Cabin"/>
              <a:ea typeface="Cabin"/>
              <a:cs typeface="Cabin"/>
              <a:sym typeface="Cabi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92"/>
          <p:cNvSpPr txBox="1">
            <a:spLocks noGrp="1"/>
          </p:cNvSpPr>
          <p:nvPr>
            <p:ph type="title"/>
          </p:nvPr>
        </p:nvSpPr>
        <p:spPr>
          <a:xfrm>
            <a:off x="235425" y="135250"/>
            <a:ext cx="7978800" cy="4290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en" sz="2600"/>
              <a:t>Looking Ahead: </a:t>
            </a:r>
            <a:endParaRPr sz="2600"/>
          </a:p>
          <a:p>
            <a:pPr marL="0" lvl="0" indent="0" algn="l" rtl="0">
              <a:spcBef>
                <a:spcPts val="0"/>
              </a:spcBef>
              <a:spcAft>
                <a:spcPts val="0"/>
              </a:spcAft>
              <a:buNone/>
            </a:pPr>
            <a:r>
              <a:rPr lang="en" sz="2600"/>
              <a:t>Proposed 2026 GTB Vietnam Activities</a:t>
            </a:r>
            <a:endParaRPr sz="2600"/>
          </a:p>
        </p:txBody>
      </p:sp>
      <p:sp>
        <p:nvSpPr>
          <p:cNvPr id="506" name="Google Shape;506;p92"/>
          <p:cNvSpPr/>
          <p:nvPr/>
        </p:nvSpPr>
        <p:spPr>
          <a:xfrm>
            <a:off x="319450" y="1173550"/>
            <a:ext cx="8367300" cy="1557000"/>
          </a:xfrm>
          <a:prstGeom prst="round2DiagRect">
            <a:avLst>
              <a:gd name="adj1" fmla="val 16667"/>
              <a:gd name="adj2" fmla="val 0"/>
            </a:avLst>
          </a:prstGeom>
          <a:solidFill>
            <a:srgbClr val="7CD0C8"/>
          </a:solidFill>
          <a:ln>
            <a:noFill/>
          </a:ln>
          <a:effectLst>
            <a:outerShdw blurRad="21431" dist="85725" dir="2580000" algn="bl" rotWithShape="0">
              <a:srgbClr val="155B54">
                <a:alpha val="94510"/>
              </a:srgbClr>
            </a:outerShdw>
          </a:effectLst>
        </p:spPr>
        <p:txBody>
          <a:bodyPr spcFirstLastPara="1" wrap="square" lIns="68575" tIns="68575" rIns="68575" bIns="68575" anchor="ctr" anchorCtr="0">
            <a:noAutofit/>
          </a:bodyPr>
          <a:lstStyle/>
          <a:p>
            <a:pPr marL="0" marR="0" lvl="0" indent="0" algn="l" rtl="0">
              <a:lnSpc>
                <a:spcPct val="90000"/>
              </a:lnSpc>
              <a:spcBef>
                <a:spcPts val="800"/>
              </a:spcBef>
              <a:spcAft>
                <a:spcPts val="0"/>
              </a:spcAft>
              <a:buClr>
                <a:srgbClr val="000000"/>
              </a:buClr>
              <a:buSzPts val="1800"/>
              <a:buFont typeface="Cabin"/>
              <a:buNone/>
            </a:pPr>
            <a:endParaRPr sz="1500" b="0" i="0" u="none" strike="noStrike" cap="none">
              <a:solidFill>
                <a:srgbClr val="000000"/>
              </a:solidFill>
              <a:latin typeface="Cabin"/>
              <a:ea typeface="Cabin"/>
              <a:cs typeface="Cabin"/>
              <a:sym typeface="Cabin"/>
            </a:endParaRPr>
          </a:p>
        </p:txBody>
      </p:sp>
      <p:sp>
        <p:nvSpPr>
          <p:cNvPr id="507" name="Google Shape;507;p92"/>
          <p:cNvSpPr txBox="1">
            <a:spLocks noGrp="1"/>
          </p:cNvSpPr>
          <p:nvPr>
            <p:ph type="body" idx="1"/>
          </p:nvPr>
        </p:nvSpPr>
        <p:spPr>
          <a:xfrm>
            <a:off x="319450" y="3076875"/>
            <a:ext cx="8367300" cy="18681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800"/>
              </a:spcBef>
              <a:spcAft>
                <a:spcPts val="0"/>
              </a:spcAft>
              <a:buClr>
                <a:srgbClr val="000000"/>
              </a:buClr>
              <a:buSzPts val="1800"/>
              <a:buFont typeface="Cabin"/>
              <a:buNone/>
            </a:pPr>
            <a:r>
              <a:rPr lang="en" sz="1500" b="1"/>
              <a:t> Questions and Discussion</a:t>
            </a:r>
            <a:endParaRPr sz="1500" b="1"/>
          </a:p>
          <a:p>
            <a:pPr marL="342900" marR="0" lvl="0" indent="-247650" algn="just" rtl="0">
              <a:lnSpc>
                <a:spcPct val="90000"/>
              </a:lnSpc>
              <a:spcBef>
                <a:spcPts val="800"/>
              </a:spcBef>
              <a:spcAft>
                <a:spcPts val="0"/>
              </a:spcAft>
              <a:buSzPts val="1300"/>
              <a:buChar char="●"/>
            </a:pPr>
            <a:r>
              <a:rPr lang="en" sz="1300"/>
              <a:t>Questions from Tara on our Greening the Banks Vietnam project?</a:t>
            </a:r>
            <a:endParaRPr sz="1300"/>
          </a:p>
          <a:p>
            <a:pPr marL="342900" marR="0" lvl="0" indent="-247650" algn="just" rtl="0">
              <a:lnSpc>
                <a:spcPct val="90000"/>
              </a:lnSpc>
              <a:spcBef>
                <a:spcPts val="800"/>
              </a:spcBef>
              <a:spcAft>
                <a:spcPts val="0"/>
              </a:spcAft>
              <a:buSzPts val="1300"/>
              <a:buChar char="●"/>
            </a:pPr>
            <a:r>
              <a:rPr lang="en" sz="1300"/>
              <a:t>Further insights on Tara’s 2026 requirements and timelines?</a:t>
            </a:r>
            <a:endParaRPr sz="1300"/>
          </a:p>
          <a:p>
            <a:pPr marL="685800" marR="0" lvl="1" indent="-247650" algn="just" rtl="0">
              <a:lnSpc>
                <a:spcPct val="90000"/>
              </a:lnSpc>
              <a:spcBef>
                <a:spcPts val="800"/>
              </a:spcBef>
              <a:spcAft>
                <a:spcPts val="0"/>
              </a:spcAft>
              <a:buSzPts val="1300"/>
              <a:buChar char="○"/>
            </a:pPr>
            <a:r>
              <a:rPr lang="en" sz="1300"/>
              <a:t>Timeline for proposed list of activities where BIDV is seeking Allotrope’s support in 2026?</a:t>
            </a:r>
            <a:endParaRPr sz="1300"/>
          </a:p>
          <a:p>
            <a:pPr marL="685800" marR="0" lvl="1" indent="-247650" algn="just" rtl="0">
              <a:lnSpc>
                <a:spcPct val="90000"/>
              </a:lnSpc>
              <a:spcBef>
                <a:spcPts val="800"/>
              </a:spcBef>
              <a:spcAft>
                <a:spcPts val="0"/>
              </a:spcAft>
              <a:buSzPts val="1300"/>
              <a:buChar char="○"/>
            </a:pPr>
            <a:r>
              <a:rPr lang="en" sz="1300"/>
              <a:t>The instrumental nature of engaging commercial banks to facilitate Vietnam’s energy transition in a moment of scarce resources for private sector mobilization?  </a:t>
            </a:r>
            <a:endParaRPr sz="1300"/>
          </a:p>
        </p:txBody>
      </p:sp>
      <p:sp>
        <p:nvSpPr>
          <p:cNvPr id="508" name="Google Shape;508;p92"/>
          <p:cNvSpPr txBox="1">
            <a:spLocks noGrp="1"/>
          </p:cNvSpPr>
          <p:nvPr>
            <p:ph type="body" idx="1"/>
          </p:nvPr>
        </p:nvSpPr>
        <p:spPr>
          <a:xfrm>
            <a:off x="424525" y="1362125"/>
            <a:ext cx="8130300" cy="13683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800"/>
              </a:spcBef>
              <a:spcAft>
                <a:spcPts val="0"/>
              </a:spcAft>
              <a:buClr>
                <a:srgbClr val="000000"/>
              </a:buClr>
              <a:buSzPts val="1800"/>
              <a:buFont typeface="Cabin"/>
              <a:buNone/>
            </a:pPr>
            <a:r>
              <a:rPr lang="en" sz="1500" b="1"/>
              <a:t> Proposed Engagement for 2026: </a:t>
            </a:r>
            <a:endParaRPr sz="1500" b="1"/>
          </a:p>
          <a:p>
            <a:pPr marL="342900" marR="0" lvl="0" indent="-247650" algn="just" rtl="0">
              <a:lnSpc>
                <a:spcPct val="90000"/>
              </a:lnSpc>
              <a:spcBef>
                <a:spcPts val="800"/>
              </a:spcBef>
              <a:spcAft>
                <a:spcPts val="0"/>
              </a:spcAft>
              <a:buSzPts val="1300"/>
              <a:buChar char="●"/>
            </a:pPr>
            <a:r>
              <a:rPr lang="en" sz="1300"/>
              <a:t>Provide advanced analytics and training for champion banks on quantifying financed emissions, setting science-based targets, and embedding climate intelligence into core lending decisions  </a:t>
            </a:r>
            <a:endParaRPr sz="1300"/>
          </a:p>
          <a:p>
            <a:pPr marL="342900" marR="0" lvl="0" indent="-247650" algn="just" rtl="0">
              <a:lnSpc>
                <a:spcPct val="90000"/>
              </a:lnSpc>
              <a:spcBef>
                <a:spcPts val="800"/>
              </a:spcBef>
              <a:spcAft>
                <a:spcPts val="0"/>
              </a:spcAft>
              <a:buSzPts val="1300"/>
              <a:buChar char="●"/>
            </a:pPr>
            <a:r>
              <a:rPr lang="en" sz="1300"/>
              <a:t>Address key market gap by offering hands-on technical support for relationship managers and product teams on structuring credible and ambitious green and sustainability-linked transactions</a:t>
            </a:r>
            <a:endParaRPr sz="13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7ECE8"/>
        </a:solidFill>
        <a:effectLst/>
      </p:bgPr>
    </p:bg>
    <p:spTree>
      <p:nvGrpSpPr>
        <p:cNvPr id="1" name="Shape 512"/>
        <p:cNvGrpSpPr/>
        <p:nvPr/>
      </p:nvGrpSpPr>
      <p:grpSpPr>
        <a:xfrm>
          <a:off x="0" y="0"/>
          <a:ext cx="0" cy="0"/>
          <a:chOff x="0" y="0"/>
          <a:chExt cx="0" cy="0"/>
        </a:xfrm>
      </p:grpSpPr>
      <p:pic>
        <p:nvPicPr>
          <p:cNvPr id="513" name="Google Shape;513;p93"/>
          <p:cNvPicPr preferRelativeResize="0"/>
          <p:nvPr/>
        </p:nvPicPr>
        <p:blipFill rotWithShape="1">
          <a:blip r:embed="rId3">
            <a:alphaModFix/>
          </a:blip>
          <a:srcRect t="10929"/>
          <a:stretch/>
        </p:blipFill>
        <p:spPr>
          <a:xfrm>
            <a:off x="-13597" y="389659"/>
            <a:ext cx="9171194" cy="4810992"/>
          </a:xfrm>
          <a:prstGeom prst="rect">
            <a:avLst/>
          </a:prstGeom>
          <a:solidFill>
            <a:srgbClr val="D7ECE8"/>
          </a:solidFill>
          <a:ln>
            <a:noFill/>
          </a:ln>
        </p:spPr>
      </p:pic>
      <p:sp>
        <p:nvSpPr>
          <p:cNvPr id="514" name="Google Shape;514;p93"/>
          <p:cNvSpPr txBox="1"/>
          <p:nvPr/>
        </p:nvSpPr>
        <p:spPr>
          <a:xfrm>
            <a:off x="-25546" y="-83130"/>
            <a:ext cx="6016800" cy="2124000"/>
          </a:xfrm>
          <a:prstGeom prst="rect">
            <a:avLst/>
          </a:prstGeom>
          <a:solidFill>
            <a:srgbClr val="D6ECE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15" name="Google Shape;515;p93"/>
          <p:cNvPicPr preferRelativeResize="0"/>
          <p:nvPr/>
        </p:nvPicPr>
        <p:blipFill rotWithShape="1">
          <a:blip r:embed="rId4">
            <a:alphaModFix/>
          </a:blip>
          <a:srcRect/>
          <a:stretch/>
        </p:blipFill>
        <p:spPr>
          <a:xfrm>
            <a:off x="638500" y="51075"/>
            <a:ext cx="3442424" cy="1207050"/>
          </a:xfrm>
          <a:prstGeom prst="rect">
            <a:avLst/>
          </a:prstGeom>
          <a:noFill/>
          <a:ln>
            <a:noFill/>
          </a:ln>
        </p:spPr>
      </p:pic>
      <p:sp>
        <p:nvSpPr>
          <p:cNvPr id="516" name="Google Shape;516;p93"/>
          <p:cNvSpPr txBox="1">
            <a:spLocks noGrp="1"/>
          </p:cNvSpPr>
          <p:nvPr>
            <p:ph type="sldNum" idx="12"/>
          </p:nvPr>
        </p:nvSpPr>
        <p:spPr>
          <a:xfrm>
            <a:off x="8610600" y="6356350"/>
            <a:ext cx="2743200" cy="3651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
              <a:t>8</a:t>
            </a:fld>
            <a:endParaRPr/>
          </a:p>
        </p:txBody>
      </p:sp>
      <p:sp>
        <p:nvSpPr>
          <p:cNvPr id="517" name="Google Shape;517;p93"/>
          <p:cNvSpPr/>
          <p:nvPr/>
        </p:nvSpPr>
        <p:spPr>
          <a:xfrm>
            <a:off x="710600" y="1367926"/>
            <a:ext cx="4989600" cy="2329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800"/>
              </a:spcBef>
              <a:spcAft>
                <a:spcPts val="0"/>
              </a:spcAft>
              <a:buClr>
                <a:schemeClr val="dk1"/>
              </a:buClr>
              <a:buSzPts val="1900"/>
              <a:buFont typeface="Arial"/>
              <a:buNone/>
            </a:pPr>
            <a:r>
              <a:rPr lang="en" sz="1600" b="1" i="0" u="none" strike="noStrike" cap="none">
                <a:solidFill>
                  <a:schemeClr val="dk1"/>
                </a:solidFill>
                <a:latin typeface="Cabin"/>
                <a:ea typeface="Cabin"/>
                <a:cs typeface="Cabin"/>
                <a:sym typeface="Cabin"/>
              </a:rPr>
              <a:t>Tung Ho</a:t>
            </a:r>
            <a:r>
              <a:rPr lang="en" sz="1600" b="1">
                <a:solidFill>
                  <a:schemeClr val="dk1"/>
                </a:solidFill>
                <a:latin typeface="Cabin"/>
                <a:ea typeface="Cabin"/>
                <a:cs typeface="Cabin"/>
                <a:sym typeface="Cabin"/>
              </a:rPr>
              <a:t>, </a:t>
            </a:r>
            <a:r>
              <a:rPr lang="en" sz="1600" b="1" i="0" u="sng" strike="noStrike" cap="none">
                <a:solidFill>
                  <a:srgbClr val="006666"/>
                </a:solidFill>
                <a:latin typeface="Cabin"/>
                <a:ea typeface="Cabin"/>
                <a:cs typeface="Cabin"/>
                <a:sym typeface="Cabin"/>
                <a:hlinkClick r:id="rId5">
                  <a:extLst>
                    <a:ext uri="{A12FA001-AC4F-418D-AE19-62706E023703}">
                      <ahyp:hlinkClr xmlns:ahyp="http://schemas.microsoft.com/office/drawing/2018/hyperlinkcolor" val="tx"/>
                    </a:ext>
                  </a:extLst>
                </a:hlinkClick>
              </a:rPr>
              <a:t>tah@allotropepartners.com</a:t>
            </a:r>
            <a:r>
              <a:rPr lang="en" sz="1600" b="1">
                <a:solidFill>
                  <a:srgbClr val="006666"/>
                </a:solidFill>
                <a:latin typeface="Cabin"/>
                <a:ea typeface="Cabin"/>
                <a:cs typeface="Cabin"/>
                <a:sym typeface="Cabin"/>
              </a:rPr>
              <a:t> </a:t>
            </a:r>
            <a:r>
              <a:rPr lang="en" sz="1600" b="1" i="0" u="none" strike="noStrike" cap="none">
                <a:solidFill>
                  <a:srgbClr val="006666"/>
                </a:solidFill>
                <a:latin typeface="Cabin"/>
                <a:ea typeface="Cabin"/>
                <a:cs typeface="Cabin"/>
                <a:sym typeface="Cabin"/>
              </a:rPr>
              <a:t> </a:t>
            </a:r>
            <a:endParaRPr sz="1600" b="1">
              <a:solidFill>
                <a:srgbClr val="006666"/>
              </a:solidFill>
              <a:latin typeface="Cabin"/>
              <a:ea typeface="Cabin"/>
              <a:cs typeface="Cabin"/>
              <a:sym typeface="Cabin"/>
            </a:endParaRPr>
          </a:p>
          <a:p>
            <a:pPr marL="0" lvl="0" indent="0" algn="l" rtl="0">
              <a:spcBef>
                <a:spcPts val="800"/>
              </a:spcBef>
              <a:spcAft>
                <a:spcPts val="0"/>
              </a:spcAft>
              <a:buClr>
                <a:schemeClr val="dk1"/>
              </a:buClr>
              <a:buSzPts val="1900"/>
              <a:buFont typeface="Arial"/>
              <a:buNone/>
            </a:pPr>
            <a:r>
              <a:rPr lang="en" sz="1600" b="1">
                <a:solidFill>
                  <a:schemeClr val="dk1"/>
                </a:solidFill>
                <a:latin typeface="Cabin"/>
                <a:ea typeface="Cabin"/>
                <a:cs typeface="Cabin"/>
                <a:sym typeface="Cabin"/>
              </a:rPr>
              <a:t>Hang Tran,</a:t>
            </a:r>
            <a:r>
              <a:rPr lang="en" sz="1600" b="1">
                <a:solidFill>
                  <a:srgbClr val="006666"/>
                </a:solidFill>
                <a:latin typeface="Cabin"/>
                <a:ea typeface="Cabin"/>
                <a:cs typeface="Cabin"/>
                <a:sym typeface="Cabin"/>
              </a:rPr>
              <a:t> </a:t>
            </a:r>
            <a:r>
              <a:rPr lang="en" sz="1600" b="1" u="sng">
                <a:solidFill>
                  <a:srgbClr val="006666"/>
                </a:solidFill>
                <a:latin typeface="Cabin"/>
                <a:ea typeface="Cabin"/>
                <a:cs typeface="Cabin"/>
                <a:sym typeface="Cabin"/>
                <a:hlinkClick r:id="rId6">
                  <a:extLst>
                    <a:ext uri="{A12FA001-AC4F-418D-AE19-62706E023703}">
                      <ahyp:hlinkClr xmlns:ahyp="http://schemas.microsoft.com/office/drawing/2018/hyperlinkcolor" val="tx"/>
                    </a:ext>
                  </a:extLst>
                </a:hlinkClick>
              </a:rPr>
              <a:t>httt@allotropepartners.com</a:t>
            </a:r>
            <a:r>
              <a:rPr lang="en" sz="1600" b="1">
                <a:solidFill>
                  <a:srgbClr val="006666"/>
                </a:solidFill>
                <a:latin typeface="Cabin"/>
                <a:ea typeface="Cabin"/>
                <a:cs typeface="Cabin"/>
                <a:sym typeface="Cabin"/>
              </a:rPr>
              <a:t> </a:t>
            </a:r>
            <a:endParaRPr sz="1600" b="1">
              <a:solidFill>
                <a:srgbClr val="006666"/>
              </a:solidFill>
              <a:latin typeface="Cabin"/>
              <a:ea typeface="Cabin"/>
              <a:cs typeface="Cabin"/>
              <a:sym typeface="Cabin"/>
            </a:endParaRPr>
          </a:p>
          <a:p>
            <a:pPr marL="0" marR="0" lvl="0" indent="0" algn="l" rtl="0">
              <a:lnSpc>
                <a:spcPct val="100000"/>
              </a:lnSpc>
              <a:spcBef>
                <a:spcPts val="800"/>
              </a:spcBef>
              <a:spcAft>
                <a:spcPts val="0"/>
              </a:spcAft>
              <a:buClr>
                <a:schemeClr val="dk1"/>
              </a:buClr>
              <a:buSzPts val="1900"/>
              <a:buFont typeface="Arial"/>
              <a:buNone/>
            </a:pPr>
            <a:r>
              <a:rPr lang="en" sz="1600" b="1">
                <a:solidFill>
                  <a:schemeClr val="dk1"/>
                </a:solidFill>
                <a:latin typeface="Cabin"/>
                <a:ea typeface="Cabin"/>
                <a:cs typeface="Cabin"/>
                <a:sym typeface="Cabin"/>
              </a:rPr>
              <a:t>Cong Nguyen, </a:t>
            </a:r>
            <a:r>
              <a:rPr lang="en" sz="1600" b="1" u="sng">
                <a:solidFill>
                  <a:srgbClr val="006666"/>
                </a:solidFill>
                <a:latin typeface="Cabin"/>
                <a:ea typeface="Cabin"/>
                <a:cs typeface="Cabin"/>
                <a:sym typeface="Cabin"/>
                <a:hlinkClick r:id="rId7">
                  <a:extLst>
                    <a:ext uri="{A12FA001-AC4F-418D-AE19-62706E023703}">
                      <ahyp:hlinkClr xmlns:ahyp="http://schemas.microsoft.com/office/drawing/2018/hyperlinkcolor" val="tx"/>
                    </a:ext>
                  </a:extLst>
                </a:hlinkClick>
              </a:rPr>
              <a:t>chn@allotropepartners.com</a:t>
            </a:r>
            <a:endParaRPr sz="1600" b="1">
              <a:solidFill>
                <a:srgbClr val="006666"/>
              </a:solidFill>
              <a:latin typeface="Cabin"/>
              <a:ea typeface="Cabin"/>
              <a:cs typeface="Cabin"/>
              <a:sym typeface="Cabin"/>
            </a:endParaRPr>
          </a:p>
          <a:p>
            <a:pPr marL="0" marR="0" lvl="0" indent="0" algn="l" rtl="0">
              <a:lnSpc>
                <a:spcPct val="100000"/>
              </a:lnSpc>
              <a:spcBef>
                <a:spcPts val="800"/>
              </a:spcBef>
              <a:spcAft>
                <a:spcPts val="0"/>
              </a:spcAft>
              <a:buClr>
                <a:schemeClr val="dk1"/>
              </a:buClr>
              <a:buSzPts val="1900"/>
              <a:buFont typeface="Arial"/>
              <a:buNone/>
            </a:pPr>
            <a:r>
              <a:rPr lang="en" sz="1600" b="1">
                <a:solidFill>
                  <a:schemeClr val="dk1"/>
                </a:solidFill>
                <a:latin typeface="Cabin"/>
                <a:ea typeface="Cabin"/>
                <a:cs typeface="Cabin"/>
                <a:sym typeface="Cabin"/>
              </a:rPr>
              <a:t>Hong Anh Le, </a:t>
            </a:r>
            <a:r>
              <a:rPr lang="en" sz="1600" b="1" u="sng">
                <a:solidFill>
                  <a:srgbClr val="006666"/>
                </a:solidFill>
                <a:latin typeface="Cabin"/>
                <a:ea typeface="Cabin"/>
                <a:cs typeface="Cabin"/>
                <a:sym typeface="Cabin"/>
                <a:hlinkClick r:id="rId8">
                  <a:extLst>
                    <a:ext uri="{A12FA001-AC4F-418D-AE19-62706E023703}">
                      <ahyp:hlinkClr xmlns:ahyp="http://schemas.microsoft.com/office/drawing/2018/hyperlinkcolor" val="tx"/>
                    </a:ext>
                  </a:extLst>
                </a:hlinkClick>
              </a:rPr>
              <a:t>hal@allotropepartners.com</a:t>
            </a:r>
            <a:endParaRPr sz="1600" b="1">
              <a:solidFill>
                <a:srgbClr val="006666"/>
              </a:solidFill>
              <a:latin typeface="Cabin"/>
              <a:ea typeface="Cabin"/>
              <a:cs typeface="Cabin"/>
              <a:sym typeface="Cabin"/>
            </a:endParaRPr>
          </a:p>
          <a:p>
            <a:pPr marL="0" marR="0" lvl="0" indent="0" algn="l" rtl="0">
              <a:lnSpc>
                <a:spcPct val="100000"/>
              </a:lnSpc>
              <a:spcBef>
                <a:spcPts val="800"/>
              </a:spcBef>
              <a:spcAft>
                <a:spcPts val="0"/>
              </a:spcAft>
              <a:buClr>
                <a:schemeClr val="dk1"/>
              </a:buClr>
              <a:buSzPts val="1900"/>
              <a:buFont typeface="Arial"/>
              <a:buNone/>
            </a:pPr>
            <a:endParaRPr sz="1600" b="1">
              <a:solidFill>
                <a:srgbClr val="006666"/>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900"/>
              <a:buFont typeface="Arial"/>
              <a:buNone/>
            </a:pPr>
            <a:endParaRPr sz="1600" b="1" i="0" u="none" strike="noStrike" cap="none">
              <a:solidFill>
                <a:srgbClr val="006666"/>
              </a:solidFill>
              <a:latin typeface="Cabin"/>
              <a:ea typeface="Cabin"/>
              <a:cs typeface="Cabin"/>
              <a:sym typeface="Cabi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94"/>
          <p:cNvSpPr txBox="1">
            <a:spLocks noGrp="1"/>
          </p:cNvSpPr>
          <p:nvPr>
            <p:ph type="title"/>
          </p:nvPr>
        </p:nvSpPr>
        <p:spPr>
          <a:xfrm>
            <a:off x="235425" y="290225"/>
            <a:ext cx="6381600" cy="42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Site Analysis 1: </a:t>
            </a:r>
            <a:endParaRPr/>
          </a:p>
          <a:p>
            <a:pPr marL="0" lvl="0" indent="0" algn="l" rtl="0">
              <a:spcBef>
                <a:spcPts val="0"/>
              </a:spcBef>
              <a:spcAft>
                <a:spcPts val="0"/>
              </a:spcAft>
              <a:buNone/>
            </a:pPr>
            <a:r>
              <a:rPr lang="en"/>
              <a:t>Emivest: Behind-the-Meter BESS</a:t>
            </a:r>
            <a:endParaRPr/>
          </a:p>
        </p:txBody>
      </p:sp>
      <p:pic>
        <p:nvPicPr>
          <p:cNvPr id="523" name="Google Shape;523;p94"/>
          <p:cNvPicPr preferRelativeResize="0"/>
          <p:nvPr/>
        </p:nvPicPr>
        <p:blipFill>
          <a:blip r:embed="rId3">
            <a:alphaModFix/>
          </a:blip>
          <a:stretch>
            <a:fillRect/>
          </a:stretch>
        </p:blipFill>
        <p:spPr>
          <a:xfrm>
            <a:off x="5165200" y="1114576"/>
            <a:ext cx="3692981" cy="2594412"/>
          </a:xfrm>
          <a:prstGeom prst="rect">
            <a:avLst/>
          </a:prstGeom>
          <a:noFill/>
          <a:ln>
            <a:noFill/>
          </a:ln>
        </p:spPr>
      </p:pic>
      <p:graphicFrame>
        <p:nvGraphicFramePr>
          <p:cNvPr id="524" name="Google Shape;524;p94"/>
          <p:cNvGraphicFramePr/>
          <p:nvPr/>
        </p:nvGraphicFramePr>
        <p:xfrm>
          <a:off x="93225" y="1015900"/>
          <a:ext cx="3000000" cy="3000000"/>
        </p:xfrm>
        <a:graphic>
          <a:graphicData uri="http://schemas.openxmlformats.org/drawingml/2006/table">
            <a:tbl>
              <a:tblPr>
                <a:noFill/>
                <a:tableStyleId>{875FF242-65BD-4BEC-9965-0DD7952A758F}</a:tableStyleId>
              </a:tblPr>
              <a:tblGrid>
                <a:gridCol w="1551325">
                  <a:extLst>
                    <a:ext uri="{9D8B030D-6E8A-4147-A177-3AD203B41FA5}">
                      <a16:colId xmlns:a16="http://schemas.microsoft.com/office/drawing/2014/main" val="20000"/>
                    </a:ext>
                  </a:extLst>
                </a:gridCol>
                <a:gridCol w="3238850">
                  <a:extLst>
                    <a:ext uri="{9D8B030D-6E8A-4147-A177-3AD203B41FA5}">
                      <a16:colId xmlns:a16="http://schemas.microsoft.com/office/drawing/2014/main" val="20001"/>
                    </a:ext>
                  </a:extLst>
                </a:gridCol>
              </a:tblGrid>
              <a:tr h="299450">
                <a:tc>
                  <a:txBody>
                    <a:bodyPr/>
                    <a:lstStyle/>
                    <a:p>
                      <a:pPr marL="91440" marR="91440" lvl="0" indent="0" algn="l" rtl="0">
                        <a:lnSpc>
                          <a:spcPct val="115000"/>
                        </a:lnSpc>
                        <a:spcBef>
                          <a:spcPts val="0"/>
                        </a:spcBef>
                        <a:spcAft>
                          <a:spcPts val="0"/>
                        </a:spcAft>
                        <a:buNone/>
                      </a:pPr>
                      <a:r>
                        <a:rPr lang="en" sz="1200" b="1">
                          <a:latin typeface="Cabin"/>
                          <a:ea typeface="Cabin"/>
                          <a:cs typeface="Cabin"/>
                          <a:sym typeface="Cabin"/>
                        </a:rPr>
                        <a:t>Company</a:t>
                      </a:r>
                      <a:endParaRPr sz="1200" b="1">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91440" marR="91440" lvl="0" indent="0" algn="l" rtl="0">
                        <a:lnSpc>
                          <a:spcPct val="115000"/>
                        </a:lnSpc>
                        <a:spcBef>
                          <a:spcPts val="0"/>
                        </a:spcBef>
                        <a:spcAft>
                          <a:spcPts val="0"/>
                        </a:spcAft>
                        <a:buNone/>
                      </a:pPr>
                      <a:r>
                        <a:rPr lang="en" sz="1200">
                          <a:latin typeface="Cabin"/>
                          <a:ea typeface="Cabin"/>
                          <a:cs typeface="Cabin"/>
                          <a:sym typeface="Cabin"/>
                        </a:rPr>
                        <a:t>Emivest Feedmill (Vietnam) Co., Ltd.</a:t>
                      </a:r>
                      <a:endParaRPr sz="1200">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299450">
                <a:tc>
                  <a:txBody>
                    <a:bodyPr/>
                    <a:lstStyle/>
                    <a:p>
                      <a:pPr marL="91440" marR="91440" lvl="0" indent="0" algn="l" rtl="0">
                        <a:lnSpc>
                          <a:spcPct val="115000"/>
                        </a:lnSpc>
                        <a:spcBef>
                          <a:spcPts val="0"/>
                        </a:spcBef>
                        <a:spcAft>
                          <a:spcPts val="0"/>
                        </a:spcAft>
                        <a:buNone/>
                      </a:pPr>
                      <a:r>
                        <a:rPr lang="en" sz="1200" b="1">
                          <a:latin typeface="Cabin"/>
                          <a:ea typeface="Cabin"/>
                          <a:cs typeface="Cabin"/>
                          <a:sym typeface="Cabin"/>
                        </a:rPr>
                        <a:t>Industry</a:t>
                      </a:r>
                      <a:endParaRPr sz="1200" b="1">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91440" marR="91440" lvl="0" indent="0" algn="l" rtl="0">
                        <a:lnSpc>
                          <a:spcPct val="115000"/>
                        </a:lnSpc>
                        <a:spcBef>
                          <a:spcPts val="0"/>
                        </a:spcBef>
                        <a:spcAft>
                          <a:spcPts val="0"/>
                        </a:spcAft>
                        <a:buNone/>
                      </a:pPr>
                      <a:r>
                        <a:rPr lang="en" sz="1200">
                          <a:latin typeface="Cabin"/>
                          <a:ea typeface="Cabin"/>
                          <a:cs typeface="Cabin"/>
                          <a:sym typeface="Cabin"/>
                        </a:rPr>
                        <a:t>Livestock feed production</a:t>
                      </a:r>
                      <a:endParaRPr sz="1200">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299450">
                <a:tc>
                  <a:txBody>
                    <a:bodyPr/>
                    <a:lstStyle/>
                    <a:p>
                      <a:pPr marL="91440" marR="91440" lvl="0" indent="0" algn="l" rtl="0">
                        <a:lnSpc>
                          <a:spcPct val="115000"/>
                        </a:lnSpc>
                        <a:spcBef>
                          <a:spcPts val="0"/>
                        </a:spcBef>
                        <a:spcAft>
                          <a:spcPts val="0"/>
                        </a:spcAft>
                        <a:buNone/>
                      </a:pPr>
                      <a:r>
                        <a:rPr lang="en" sz="1200" b="1">
                          <a:latin typeface="Cabin"/>
                          <a:ea typeface="Cabin"/>
                          <a:cs typeface="Cabin"/>
                          <a:sym typeface="Cabin"/>
                        </a:rPr>
                        <a:t>Location</a:t>
                      </a:r>
                      <a:endParaRPr sz="1200" b="1">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91440" marR="91440" lvl="0" indent="0" algn="l" rtl="0">
                        <a:lnSpc>
                          <a:spcPct val="115000"/>
                        </a:lnSpc>
                        <a:spcBef>
                          <a:spcPts val="0"/>
                        </a:spcBef>
                        <a:spcAft>
                          <a:spcPts val="0"/>
                        </a:spcAft>
                        <a:buNone/>
                      </a:pPr>
                      <a:r>
                        <a:rPr lang="en" sz="1200">
                          <a:latin typeface="Cabin"/>
                          <a:ea typeface="Cabin"/>
                          <a:cs typeface="Cabin"/>
                          <a:sym typeface="Cabin"/>
                        </a:rPr>
                        <a:t>Dong Nai Province, Vietnam</a:t>
                      </a:r>
                      <a:endParaRPr sz="1200">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507950">
                <a:tc>
                  <a:txBody>
                    <a:bodyPr/>
                    <a:lstStyle/>
                    <a:p>
                      <a:pPr marL="91440" marR="91440" lvl="0" indent="0" algn="l" rtl="0">
                        <a:lnSpc>
                          <a:spcPct val="115000"/>
                        </a:lnSpc>
                        <a:spcBef>
                          <a:spcPts val="0"/>
                        </a:spcBef>
                        <a:spcAft>
                          <a:spcPts val="0"/>
                        </a:spcAft>
                        <a:buNone/>
                      </a:pPr>
                      <a:r>
                        <a:rPr lang="en" sz="1200" b="1">
                          <a:latin typeface="Cabin"/>
                          <a:ea typeface="Cabin"/>
                          <a:cs typeface="Cabin"/>
                          <a:sym typeface="Cabin"/>
                        </a:rPr>
                        <a:t>Operation</a:t>
                      </a:r>
                      <a:endParaRPr sz="1200" b="1">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91440" marR="91440" lvl="0" indent="0" algn="l" rtl="0">
                        <a:lnSpc>
                          <a:spcPct val="115000"/>
                        </a:lnSpc>
                        <a:spcBef>
                          <a:spcPts val="0"/>
                        </a:spcBef>
                        <a:spcAft>
                          <a:spcPts val="0"/>
                        </a:spcAft>
                        <a:buNone/>
                      </a:pPr>
                      <a:r>
                        <a:rPr lang="en" sz="1200">
                          <a:latin typeface="Cabin"/>
                          <a:ea typeface="Cabin"/>
                          <a:cs typeface="Cabin"/>
                          <a:sym typeface="Cabin"/>
                        </a:rPr>
                        <a:t>Continuous production: 3 shifts/day with no operations on Sunday</a:t>
                      </a:r>
                      <a:endParaRPr sz="1200">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299450">
                <a:tc>
                  <a:txBody>
                    <a:bodyPr/>
                    <a:lstStyle/>
                    <a:p>
                      <a:pPr marL="91440" marR="91440" lvl="0" indent="0" algn="l" rtl="0">
                        <a:lnSpc>
                          <a:spcPct val="115000"/>
                        </a:lnSpc>
                        <a:spcBef>
                          <a:spcPts val="0"/>
                        </a:spcBef>
                        <a:spcAft>
                          <a:spcPts val="0"/>
                        </a:spcAft>
                        <a:buNone/>
                      </a:pPr>
                      <a:r>
                        <a:rPr lang="en" sz="1200" b="1">
                          <a:latin typeface="Cabin"/>
                          <a:ea typeface="Cabin"/>
                          <a:cs typeface="Cabin"/>
                          <a:sym typeface="Cabin"/>
                        </a:rPr>
                        <a:t>Load Profile</a:t>
                      </a:r>
                      <a:endParaRPr sz="1200" b="1">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91440" marR="91440" lvl="0" indent="0" algn="l" rtl="0">
                        <a:lnSpc>
                          <a:spcPct val="115000"/>
                        </a:lnSpc>
                        <a:spcBef>
                          <a:spcPts val="0"/>
                        </a:spcBef>
                        <a:spcAft>
                          <a:spcPts val="0"/>
                        </a:spcAft>
                        <a:buNone/>
                      </a:pPr>
                      <a:r>
                        <a:rPr lang="en" sz="1200">
                          <a:latin typeface="Cabin"/>
                          <a:ea typeface="Cabin"/>
                          <a:cs typeface="Cabin"/>
                          <a:sym typeface="Cabin"/>
                        </a:rPr>
                        <a:t>High, flat base load with minimal fluctuation</a:t>
                      </a:r>
                      <a:endParaRPr sz="1200">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299450">
                <a:tc>
                  <a:txBody>
                    <a:bodyPr/>
                    <a:lstStyle/>
                    <a:p>
                      <a:pPr marL="91440" marR="91440" lvl="0" indent="0" algn="l" rtl="0">
                        <a:lnSpc>
                          <a:spcPct val="115000"/>
                        </a:lnSpc>
                        <a:spcBef>
                          <a:spcPts val="0"/>
                        </a:spcBef>
                        <a:spcAft>
                          <a:spcPts val="0"/>
                        </a:spcAft>
                        <a:buNone/>
                      </a:pPr>
                      <a:r>
                        <a:rPr lang="en" sz="1200" b="1">
                          <a:latin typeface="Cabin"/>
                          <a:ea typeface="Cabin"/>
                          <a:cs typeface="Cabin"/>
                          <a:sym typeface="Cabin"/>
                        </a:rPr>
                        <a:t>Key Equipment</a:t>
                      </a:r>
                      <a:endParaRPr sz="1200" b="1">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91440" marR="91440" lvl="0" indent="0" algn="l" rtl="0">
                        <a:lnSpc>
                          <a:spcPct val="115000"/>
                        </a:lnSpc>
                        <a:spcBef>
                          <a:spcPts val="0"/>
                        </a:spcBef>
                        <a:spcAft>
                          <a:spcPts val="0"/>
                        </a:spcAft>
                        <a:buNone/>
                      </a:pPr>
                      <a:r>
                        <a:rPr lang="en" sz="1200">
                          <a:latin typeface="Cabin"/>
                          <a:ea typeface="Cabin"/>
                          <a:cs typeface="Cabin"/>
                          <a:sym typeface="Cabin"/>
                        </a:rPr>
                        <a:t>Feed grinders, mixers, conveyors, pelletizers</a:t>
                      </a:r>
                      <a:endParaRPr sz="1200">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299450">
                <a:tc>
                  <a:txBody>
                    <a:bodyPr/>
                    <a:lstStyle/>
                    <a:p>
                      <a:pPr marL="91440" marR="91440" lvl="0" indent="0" algn="l" rtl="0">
                        <a:lnSpc>
                          <a:spcPct val="115000"/>
                        </a:lnSpc>
                        <a:spcBef>
                          <a:spcPts val="0"/>
                        </a:spcBef>
                        <a:spcAft>
                          <a:spcPts val="0"/>
                        </a:spcAft>
                        <a:buNone/>
                      </a:pPr>
                      <a:r>
                        <a:rPr lang="en" sz="1200" b="1">
                          <a:latin typeface="Cabin"/>
                          <a:ea typeface="Cabin"/>
                          <a:cs typeface="Cabin"/>
                          <a:sym typeface="Cabin"/>
                        </a:rPr>
                        <a:t>Tariff Structure</a:t>
                      </a:r>
                      <a:endParaRPr sz="1200" b="1">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91440" marR="91440" lvl="0" indent="0" algn="l" rtl="0">
                        <a:lnSpc>
                          <a:spcPct val="115000"/>
                        </a:lnSpc>
                        <a:spcBef>
                          <a:spcPts val="0"/>
                        </a:spcBef>
                        <a:spcAft>
                          <a:spcPts val="0"/>
                        </a:spcAft>
                        <a:buNone/>
                      </a:pPr>
                      <a:r>
                        <a:rPr lang="en" sz="1200">
                          <a:latin typeface="Cabin"/>
                          <a:ea typeface="Cabin"/>
                          <a:cs typeface="Cabin"/>
                          <a:sym typeface="Cabin"/>
                        </a:rPr>
                        <a:t>Time-of-Use Industrial rates</a:t>
                      </a:r>
                      <a:endParaRPr sz="1200">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r h="299450">
                <a:tc>
                  <a:txBody>
                    <a:bodyPr/>
                    <a:lstStyle/>
                    <a:p>
                      <a:pPr marL="91440" marR="91440" lvl="0" indent="0" algn="l" rtl="0">
                        <a:lnSpc>
                          <a:spcPct val="115000"/>
                        </a:lnSpc>
                        <a:spcBef>
                          <a:spcPts val="0"/>
                        </a:spcBef>
                        <a:spcAft>
                          <a:spcPts val="0"/>
                        </a:spcAft>
                        <a:buNone/>
                      </a:pPr>
                      <a:r>
                        <a:rPr lang="en" sz="1200" b="1">
                          <a:latin typeface="Cabin"/>
                          <a:ea typeface="Cabin"/>
                          <a:cs typeface="Cabin"/>
                          <a:sym typeface="Cabin"/>
                        </a:rPr>
                        <a:t>Existing RE/BESS</a:t>
                      </a:r>
                      <a:endParaRPr sz="1200" b="1">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91440" marR="91440" lvl="0" indent="0" algn="l" rtl="0">
                        <a:lnSpc>
                          <a:spcPct val="115000"/>
                        </a:lnSpc>
                        <a:spcBef>
                          <a:spcPts val="0"/>
                        </a:spcBef>
                        <a:spcAft>
                          <a:spcPts val="0"/>
                        </a:spcAft>
                        <a:buNone/>
                      </a:pPr>
                      <a:r>
                        <a:rPr lang="en" sz="1200">
                          <a:latin typeface="Cabin"/>
                          <a:ea typeface="Cabin"/>
                          <a:cs typeface="Cabin"/>
                          <a:sym typeface="Cabin"/>
                        </a:rPr>
                        <a:t>3,221 kWp rooftop solar; No BESS</a:t>
                      </a:r>
                      <a:endParaRPr sz="1200">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7"/>
                  </a:ext>
                </a:extLst>
              </a:tr>
              <a:tr h="299450">
                <a:tc>
                  <a:txBody>
                    <a:bodyPr/>
                    <a:lstStyle/>
                    <a:p>
                      <a:pPr marL="91440" marR="91440" lvl="0" indent="0" algn="l" rtl="0">
                        <a:lnSpc>
                          <a:spcPct val="115000"/>
                        </a:lnSpc>
                        <a:spcBef>
                          <a:spcPts val="0"/>
                        </a:spcBef>
                        <a:spcAft>
                          <a:spcPts val="0"/>
                        </a:spcAft>
                        <a:buNone/>
                      </a:pPr>
                      <a:r>
                        <a:rPr lang="en" sz="1200" b="1">
                          <a:latin typeface="Cabin"/>
                          <a:ea typeface="Cabin"/>
                          <a:cs typeface="Cabin"/>
                          <a:sym typeface="Cabin"/>
                        </a:rPr>
                        <a:t>Main Challenges</a:t>
                      </a:r>
                      <a:endParaRPr sz="1200" b="1">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91440" marR="91440" lvl="0" indent="0" algn="l" rtl="0">
                        <a:lnSpc>
                          <a:spcPct val="115000"/>
                        </a:lnSpc>
                        <a:spcBef>
                          <a:spcPts val="0"/>
                        </a:spcBef>
                        <a:spcAft>
                          <a:spcPts val="0"/>
                        </a:spcAft>
                        <a:buNone/>
                      </a:pPr>
                      <a:r>
                        <a:rPr lang="en" sz="1200">
                          <a:latin typeface="Cabin"/>
                          <a:ea typeface="Cabin"/>
                          <a:cs typeface="Cabin"/>
                          <a:sym typeface="Cabin"/>
                        </a:rPr>
                        <a:t>High solar energy curtailment</a:t>
                      </a:r>
                      <a:endParaRPr sz="1200">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8"/>
                  </a:ext>
                </a:extLst>
              </a:tr>
              <a:tr h="299450">
                <a:tc>
                  <a:txBody>
                    <a:bodyPr/>
                    <a:lstStyle/>
                    <a:p>
                      <a:pPr marL="91440" marR="91440" lvl="0" indent="0" algn="l" rtl="0">
                        <a:lnSpc>
                          <a:spcPct val="115000"/>
                        </a:lnSpc>
                        <a:spcBef>
                          <a:spcPts val="0"/>
                        </a:spcBef>
                        <a:spcAft>
                          <a:spcPts val="0"/>
                        </a:spcAft>
                        <a:buNone/>
                      </a:pPr>
                      <a:r>
                        <a:rPr lang="en" sz="1200" b="1">
                          <a:latin typeface="Cabin"/>
                          <a:ea typeface="Cabin"/>
                          <a:cs typeface="Cabin"/>
                          <a:sym typeface="Cabin"/>
                        </a:rPr>
                        <a:t>BESS Opportunity</a:t>
                      </a:r>
                      <a:endParaRPr sz="1200" b="1">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91440" marR="91440" lvl="0" indent="0" algn="l" rtl="0">
                        <a:lnSpc>
                          <a:spcPct val="115000"/>
                        </a:lnSpc>
                        <a:spcBef>
                          <a:spcPts val="0"/>
                        </a:spcBef>
                        <a:spcAft>
                          <a:spcPts val="0"/>
                        </a:spcAft>
                        <a:buNone/>
                      </a:pPr>
                      <a:r>
                        <a:rPr lang="en" sz="1200">
                          <a:latin typeface="Cabin"/>
                          <a:ea typeface="Cabin"/>
                          <a:cs typeface="Cabin"/>
                          <a:sym typeface="Cabin"/>
                        </a:rPr>
                        <a:t>Peak shaving, solar+BESS integration</a:t>
                      </a:r>
                      <a:endParaRPr sz="1200">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9"/>
                  </a:ext>
                </a:extLst>
              </a:tr>
              <a:tr h="507950">
                <a:tc>
                  <a:txBody>
                    <a:bodyPr/>
                    <a:lstStyle/>
                    <a:p>
                      <a:pPr marL="91440" marR="91440" lvl="0" indent="0" algn="l" rtl="0">
                        <a:lnSpc>
                          <a:spcPct val="115000"/>
                        </a:lnSpc>
                        <a:spcBef>
                          <a:spcPts val="0"/>
                        </a:spcBef>
                        <a:spcAft>
                          <a:spcPts val="0"/>
                        </a:spcAft>
                        <a:buNone/>
                      </a:pPr>
                      <a:r>
                        <a:rPr lang="en" sz="1200" b="1">
                          <a:latin typeface="Cabin"/>
                          <a:ea typeface="Cabin"/>
                          <a:cs typeface="Cabin"/>
                          <a:sym typeface="Cabin"/>
                        </a:rPr>
                        <a:t>Data Collected</a:t>
                      </a:r>
                      <a:endParaRPr sz="1200" b="1">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91440" marR="91440" lvl="0" indent="0" algn="l" rtl="0">
                        <a:lnSpc>
                          <a:spcPct val="115000"/>
                        </a:lnSpc>
                        <a:spcBef>
                          <a:spcPts val="0"/>
                        </a:spcBef>
                        <a:spcAft>
                          <a:spcPts val="0"/>
                        </a:spcAft>
                        <a:buNone/>
                      </a:pPr>
                      <a:r>
                        <a:rPr lang="en" sz="1200">
                          <a:latin typeface="Cabin"/>
                          <a:ea typeface="Cabin"/>
                          <a:cs typeface="Cabin"/>
                          <a:sym typeface="Cabin"/>
                        </a:rPr>
                        <a:t>5-min interval load data (5 months), tariff/bill info, ops constraints</a:t>
                      </a:r>
                      <a:endParaRPr sz="1200">
                        <a:latin typeface="Cabin"/>
                        <a:ea typeface="Cabin"/>
                        <a:cs typeface="Cabin"/>
                        <a:sym typeface="Cabin"/>
                      </a:endParaRPr>
                    </a:p>
                  </a:txBody>
                  <a:tcPr marL="0" marR="0" marT="91425"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95"/>
          <p:cNvSpPr txBox="1">
            <a:spLocks noGrp="1"/>
          </p:cNvSpPr>
          <p:nvPr>
            <p:ph type="title"/>
          </p:nvPr>
        </p:nvSpPr>
        <p:spPr>
          <a:xfrm>
            <a:off x="235425" y="290225"/>
            <a:ext cx="6381600" cy="42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Site Analysis 1: </a:t>
            </a:r>
            <a:endParaRPr/>
          </a:p>
          <a:p>
            <a:pPr marL="0" lvl="0" indent="0" algn="l" rtl="0">
              <a:spcBef>
                <a:spcPts val="0"/>
              </a:spcBef>
              <a:spcAft>
                <a:spcPts val="0"/>
              </a:spcAft>
              <a:buNone/>
            </a:pPr>
            <a:r>
              <a:rPr lang="en"/>
              <a:t>Emivest: Behind-the-Meter BESS</a:t>
            </a:r>
            <a:endParaRPr/>
          </a:p>
        </p:txBody>
      </p:sp>
      <p:pic>
        <p:nvPicPr>
          <p:cNvPr id="530" name="Google Shape;530;p95"/>
          <p:cNvPicPr preferRelativeResize="0"/>
          <p:nvPr/>
        </p:nvPicPr>
        <p:blipFill rotWithShape="1">
          <a:blip r:embed="rId3">
            <a:alphaModFix/>
          </a:blip>
          <a:srcRect l="3195" t="16937"/>
          <a:stretch/>
        </p:blipFill>
        <p:spPr>
          <a:xfrm>
            <a:off x="3459728" y="1193650"/>
            <a:ext cx="4698150" cy="1000500"/>
          </a:xfrm>
          <a:prstGeom prst="rect">
            <a:avLst/>
          </a:prstGeom>
          <a:noFill/>
          <a:ln>
            <a:noFill/>
          </a:ln>
        </p:spPr>
      </p:pic>
      <p:pic>
        <p:nvPicPr>
          <p:cNvPr id="531" name="Google Shape;531;p95"/>
          <p:cNvPicPr preferRelativeResize="0"/>
          <p:nvPr/>
        </p:nvPicPr>
        <p:blipFill>
          <a:blip r:embed="rId4">
            <a:alphaModFix/>
          </a:blip>
          <a:stretch>
            <a:fillRect/>
          </a:stretch>
        </p:blipFill>
        <p:spPr>
          <a:xfrm>
            <a:off x="2953137" y="2367050"/>
            <a:ext cx="2963975" cy="2220025"/>
          </a:xfrm>
          <a:prstGeom prst="rect">
            <a:avLst/>
          </a:prstGeom>
          <a:noFill/>
          <a:ln>
            <a:noFill/>
          </a:ln>
        </p:spPr>
      </p:pic>
      <p:pic>
        <p:nvPicPr>
          <p:cNvPr id="532" name="Google Shape;532;p95"/>
          <p:cNvPicPr preferRelativeResize="0"/>
          <p:nvPr/>
        </p:nvPicPr>
        <p:blipFill>
          <a:blip r:embed="rId5">
            <a:alphaModFix/>
          </a:blip>
          <a:stretch>
            <a:fillRect/>
          </a:stretch>
        </p:blipFill>
        <p:spPr>
          <a:xfrm>
            <a:off x="6050987" y="2367050"/>
            <a:ext cx="2860250" cy="2220025"/>
          </a:xfrm>
          <a:prstGeom prst="rect">
            <a:avLst/>
          </a:prstGeom>
          <a:noFill/>
          <a:ln>
            <a:noFill/>
          </a:ln>
        </p:spPr>
      </p:pic>
      <p:sp>
        <p:nvSpPr>
          <p:cNvPr id="533" name="Google Shape;533;p95"/>
          <p:cNvSpPr txBox="1"/>
          <p:nvPr/>
        </p:nvSpPr>
        <p:spPr>
          <a:xfrm>
            <a:off x="3318201" y="4634825"/>
            <a:ext cx="3000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000000"/>
                </a:solidFill>
                <a:latin typeface="Cabin"/>
                <a:ea typeface="Cabin"/>
                <a:cs typeface="Cabin"/>
                <a:sym typeface="Cabin"/>
              </a:rPr>
              <a:t>Load Consumption vs Energy Supply</a:t>
            </a:r>
            <a:endParaRPr>
              <a:latin typeface="Cabin"/>
              <a:ea typeface="Cabin"/>
              <a:cs typeface="Cabin"/>
              <a:sym typeface="Cabin"/>
            </a:endParaRPr>
          </a:p>
        </p:txBody>
      </p:sp>
      <p:sp>
        <p:nvSpPr>
          <p:cNvPr id="534" name="Google Shape;534;p95"/>
          <p:cNvSpPr txBox="1"/>
          <p:nvPr/>
        </p:nvSpPr>
        <p:spPr>
          <a:xfrm>
            <a:off x="6502563" y="4634825"/>
            <a:ext cx="3000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000000"/>
                </a:solidFill>
                <a:latin typeface="Cabin"/>
                <a:ea typeface="Cabin"/>
                <a:cs typeface="Cabin"/>
                <a:sym typeface="Cabin"/>
              </a:rPr>
              <a:t>Total Solar PV Energy Distribution</a:t>
            </a:r>
            <a:endParaRPr>
              <a:latin typeface="Cabin"/>
              <a:ea typeface="Cabin"/>
              <a:cs typeface="Cabin"/>
              <a:sym typeface="Cabin"/>
            </a:endParaRPr>
          </a:p>
        </p:txBody>
      </p:sp>
      <p:sp>
        <p:nvSpPr>
          <p:cNvPr id="535" name="Google Shape;535;p95"/>
          <p:cNvSpPr txBox="1"/>
          <p:nvPr/>
        </p:nvSpPr>
        <p:spPr>
          <a:xfrm>
            <a:off x="58700" y="1098550"/>
            <a:ext cx="2727300" cy="3624000"/>
          </a:xfrm>
          <a:prstGeom prst="rect">
            <a:avLst/>
          </a:prstGeom>
          <a:noFill/>
          <a:ln>
            <a:noFill/>
          </a:ln>
        </p:spPr>
        <p:txBody>
          <a:bodyPr spcFirstLastPara="1" wrap="square" lIns="91425" tIns="91425" rIns="91425" bIns="91425" anchor="t" anchorCtr="0">
            <a:noAutofit/>
          </a:bodyPr>
          <a:lstStyle/>
          <a:p>
            <a:pPr marL="365760" lvl="0" indent="-207010" algn="just" rtl="0">
              <a:spcBef>
                <a:spcPts val="0"/>
              </a:spcBef>
              <a:spcAft>
                <a:spcPts val="0"/>
              </a:spcAft>
              <a:buClr>
                <a:schemeClr val="dk1"/>
              </a:buClr>
              <a:buSzPts val="1100"/>
              <a:buFont typeface="Cabin"/>
              <a:buChar char="●"/>
            </a:pPr>
            <a:r>
              <a:rPr lang="en" sz="1100">
                <a:solidFill>
                  <a:schemeClr val="dk1"/>
                </a:solidFill>
                <a:latin typeface="Cabin"/>
                <a:ea typeface="Cabin"/>
                <a:cs typeface="Cabin"/>
                <a:sym typeface="Cabin"/>
              </a:rPr>
              <a:t>The existing 3,221  kWp rooftop solar system at the site consistently generates more energy than the factory consumes during daylight hours. Approximately </a:t>
            </a:r>
            <a:r>
              <a:rPr lang="en" sz="1100" b="1">
                <a:solidFill>
                  <a:schemeClr val="dk1"/>
                </a:solidFill>
                <a:latin typeface="Cabin"/>
                <a:ea typeface="Cabin"/>
                <a:cs typeface="Cabin"/>
                <a:sym typeface="Cabin"/>
              </a:rPr>
              <a:t>29% of annual solar generation is surplus</a:t>
            </a:r>
            <a:r>
              <a:rPr lang="en" sz="1100">
                <a:solidFill>
                  <a:schemeClr val="dk1"/>
                </a:solidFill>
                <a:latin typeface="Cabin"/>
                <a:ea typeface="Cabin"/>
                <a:cs typeface="Cabin"/>
                <a:sym typeface="Cabin"/>
              </a:rPr>
              <a:t>, typically occurring between 9:00 and 14:00 depending on the season.</a:t>
            </a:r>
            <a:endParaRPr sz="1100">
              <a:solidFill>
                <a:schemeClr val="dk1"/>
              </a:solidFill>
              <a:latin typeface="Cabin"/>
              <a:ea typeface="Cabin"/>
              <a:cs typeface="Cabin"/>
              <a:sym typeface="Cabin"/>
            </a:endParaRPr>
          </a:p>
          <a:p>
            <a:pPr marL="365760" lvl="0" indent="-207010" algn="just" rtl="0">
              <a:spcBef>
                <a:spcPts val="1000"/>
              </a:spcBef>
              <a:spcAft>
                <a:spcPts val="0"/>
              </a:spcAft>
              <a:buClr>
                <a:schemeClr val="dk1"/>
              </a:buClr>
              <a:buSzPts val="1100"/>
              <a:buFont typeface="Cabin"/>
              <a:buChar char="●"/>
            </a:pPr>
            <a:r>
              <a:rPr lang="en" sz="1100" b="1">
                <a:solidFill>
                  <a:schemeClr val="dk1"/>
                </a:solidFill>
                <a:latin typeface="Cabin"/>
                <a:ea typeface="Cabin"/>
                <a:cs typeface="Cabin"/>
                <a:sym typeface="Cabin"/>
              </a:rPr>
              <a:t>Integrating BESS can capture this excess solar generation</a:t>
            </a:r>
            <a:r>
              <a:rPr lang="en" sz="1100">
                <a:solidFill>
                  <a:schemeClr val="dk1"/>
                </a:solidFill>
                <a:latin typeface="Cabin"/>
                <a:ea typeface="Cabin"/>
                <a:cs typeface="Cabin"/>
                <a:sym typeface="Cabin"/>
              </a:rPr>
              <a:t> and shift it to evening consumption hours, enabling </a:t>
            </a:r>
            <a:r>
              <a:rPr lang="en" sz="1100" b="1">
                <a:solidFill>
                  <a:schemeClr val="dk1"/>
                </a:solidFill>
                <a:latin typeface="Cabin"/>
                <a:ea typeface="Cabin"/>
                <a:cs typeface="Cabin"/>
                <a:sym typeface="Cabin"/>
              </a:rPr>
              <a:t>optimal energy utilization</a:t>
            </a:r>
            <a:r>
              <a:rPr lang="en" sz="1100">
                <a:solidFill>
                  <a:schemeClr val="dk1"/>
                </a:solidFill>
                <a:latin typeface="Cabin"/>
                <a:ea typeface="Cabin"/>
                <a:cs typeface="Cabin"/>
                <a:sym typeface="Cabin"/>
              </a:rPr>
              <a:t> and </a:t>
            </a:r>
            <a:r>
              <a:rPr lang="en" sz="1100" b="1">
                <a:solidFill>
                  <a:schemeClr val="dk1"/>
                </a:solidFill>
                <a:latin typeface="Cabin"/>
                <a:ea typeface="Cabin"/>
                <a:cs typeface="Cabin"/>
                <a:sym typeface="Cabin"/>
              </a:rPr>
              <a:t>investment returns.</a:t>
            </a:r>
            <a:endParaRPr sz="1100" b="1">
              <a:solidFill>
                <a:schemeClr val="dk1"/>
              </a:solidFill>
              <a:latin typeface="Cabin"/>
              <a:ea typeface="Cabin"/>
              <a:cs typeface="Cabin"/>
              <a:sym typeface="Cabin"/>
            </a:endParaRPr>
          </a:p>
          <a:p>
            <a:pPr marL="365760" lvl="0" indent="-207010" algn="just" rtl="0">
              <a:spcBef>
                <a:spcPts val="1000"/>
              </a:spcBef>
              <a:spcAft>
                <a:spcPts val="0"/>
              </a:spcAft>
              <a:buClr>
                <a:schemeClr val="dk1"/>
              </a:buClr>
              <a:buSzPts val="1100"/>
              <a:buFont typeface="Cabin"/>
              <a:buChar char="●"/>
            </a:pPr>
            <a:r>
              <a:rPr lang="en" sz="1100">
                <a:solidFill>
                  <a:schemeClr val="dk1"/>
                </a:solidFill>
                <a:latin typeface="Cabin"/>
                <a:ea typeface="Cabin"/>
                <a:cs typeface="Cabin"/>
                <a:sym typeface="Cabin"/>
              </a:rPr>
              <a:t>All input parameters are based on conservative industry standards and battery manufacturer guidelines to ensure long-term system reliability and battery health.</a:t>
            </a:r>
            <a:endParaRPr sz="1700">
              <a:solidFill>
                <a:schemeClr val="dk1"/>
              </a:solidFill>
              <a:latin typeface="Cabin"/>
              <a:ea typeface="Cabin"/>
              <a:cs typeface="Cabin"/>
              <a:sym typeface="Cabi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96"/>
          <p:cNvSpPr txBox="1"/>
          <p:nvPr/>
        </p:nvSpPr>
        <p:spPr>
          <a:xfrm>
            <a:off x="252328" y="278797"/>
            <a:ext cx="6148500" cy="4377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Clr>
                <a:schemeClr val="dk1"/>
              </a:buClr>
              <a:buSzPts val="1100"/>
              <a:buFont typeface="Arial"/>
              <a:buNone/>
            </a:pPr>
            <a:r>
              <a:rPr lang="en" sz="2400" b="1">
                <a:solidFill>
                  <a:schemeClr val="lt1"/>
                </a:solidFill>
                <a:latin typeface="Cabin"/>
                <a:ea typeface="Cabin"/>
                <a:cs typeface="Cabin"/>
                <a:sym typeface="Cabin"/>
              </a:rPr>
              <a:t>Site Analysis 1: </a:t>
            </a:r>
            <a:endParaRPr sz="2400" b="1">
              <a:solidFill>
                <a:schemeClr val="lt1"/>
              </a:solidFill>
              <a:latin typeface="Cabin"/>
              <a:ea typeface="Cabin"/>
              <a:cs typeface="Cabin"/>
              <a:sym typeface="Cabin"/>
            </a:endParaRPr>
          </a:p>
          <a:p>
            <a:pPr marL="0" lvl="0" indent="0" algn="l" rtl="0">
              <a:spcBef>
                <a:spcPts val="0"/>
              </a:spcBef>
              <a:spcAft>
                <a:spcPts val="0"/>
              </a:spcAft>
              <a:buClr>
                <a:schemeClr val="dk1"/>
              </a:buClr>
              <a:buSzPts val="1100"/>
              <a:buFont typeface="Arial"/>
              <a:buNone/>
            </a:pPr>
            <a:r>
              <a:rPr lang="en" sz="2400" b="1">
                <a:solidFill>
                  <a:schemeClr val="lt1"/>
                </a:solidFill>
                <a:latin typeface="Cabin"/>
                <a:ea typeface="Cabin"/>
                <a:cs typeface="Cabin"/>
                <a:sym typeface="Cabin"/>
              </a:rPr>
              <a:t>Emivest: Conclusions and Key Takeaways</a:t>
            </a:r>
            <a:endParaRPr sz="1100" b="0" i="0" u="none" strike="noStrike" cap="none">
              <a:solidFill>
                <a:srgbClr val="000000"/>
              </a:solidFill>
              <a:latin typeface="Arial"/>
              <a:ea typeface="Arial"/>
              <a:cs typeface="Arial"/>
              <a:sym typeface="Arial"/>
            </a:endParaRPr>
          </a:p>
        </p:txBody>
      </p:sp>
      <p:sp>
        <p:nvSpPr>
          <p:cNvPr id="541" name="Google Shape;541;p96"/>
          <p:cNvSpPr/>
          <p:nvPr/>
        </p:nvSpPr>
        <p:spPr>
          <a:xfrm>
            <a:off x="2193925" y="1546225"/>
            <a:ext cx="91440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2" name="Google Shape;542;p96"/>
          <p:cNvSpPr/>
          <p:nvPr/>
        </p:nvSpPr>
        <p:spPr>
          <a:xfrm>
            <a:off x="252325" y="1546225"/>
            <a:ext cx="1658700" cy="3216000"/>
          </a:xfrm>
          <a:prstGeom prst="roundRect">
            <a:avLst>
              <a:gd name="adj" fmla="val 16667"/>
            </a:avLst>
          </a:prstGeom>
          <a:solidFill>
            <a:srgbClr val="147668">
              <a:alpha val="3882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43" name="Google Shape;543;p96"/>
          <p:cNvSpPr/>
          <p:nvPr/>
        </p:nvSpPr>
        <p:spPr>
          <a:xfrm>
            <a:off x="2014201" y="1556438"/>
            <a:ext cx="1658700" cy="3216000"/>
          </a:xfrm>
          <a:prstGeom prst="roundRect">
            <a:avLst>
              <a:gd name="adj" fmla="val 16667"/>
            </a:avLst>
          </a:prstGeom>
          <a:solidFill>
            <a:srgbClr val="147668">
              <a:alpha val="3882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44" name="Google Shape;544;p96"/>
          <p:cNvSpPr/>
          <p:nvPr/>
        </p:nvSpPr>
        <p:spPr>
          <a:xfrm>
            <a:off x="3776076" y="1554761"/>
            <a:ext cx="1658700" cy="3216000"/>
          </a:xfrm>
          <a:prstGeom prst="roundRect">
            <a:avLst>
              <a:gd name="adj" fmla="val 16667"/>
            </a:avLst>
          </a:prstGeom>
          <a:solidFill>
            <a:srgbClr val="147668">
              <a:alpha val="3882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45" name="Google Shape;545;p96"/>
          <p:cNvSpPr/>
          <p:nvPr/>
        </p:nvSpPr>
        <p:spPr>
          <a:xfrm>
            <a:off x="5537952" y="1564973"/>
            <a:ext cx="1658700" cy="3216000"/>
          </a:xfrm>
          <a:prstGeom prst="roundRect">
            <a:avLst>
              <a:gd name="adj" fmla="val 16667"/>
            </a:avLst>
          </a:prstGeom>
          <a:solidFill>
            <a:srgbClr val="147668">
              <a:alpha val="3882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46" name="Google Shape;546;p96"/>
          <p:cNvSpPr/>
          <p:nvPr/>
        </p:nvSpPr>
        <p:spPr>
          <a:xfrm>
            <a:off x="7299825" y="1551406"/>
            <a:ext cx="1658700" cy="3216000"/>
          </a:xfrm>
          <a:prstGeom prst="roundRect">
            <a:avLst>
              <a:gd name="adj" fmla="val 16667"/>
            </a:avLst>
          </a:prstGeom>
          <a:solidFill>
            <a:srgbClr val="147668">
              <a:alpha val="3882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47" name="Google Shape;547;p96"/>
          <p:cNvSpPr/>
          <p:nvPr/>
        </p:nvSpPr>
        <p:spPr>
          <a:xfrm>
            <a:off x="3779070" y="2282931"/>
            <a:ext cx="1655700" cy="2497800"/>
          </a:xfrm>
          <a:prstGeom prst="roundRect">
            <a:avLst>
              <a:gd name="adj" fmla="val 16667"/>
            </a:avLst>
          </a:prstGeom>
          <a:solidFill>
            <a:srgbClr val="1166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48" name="Google Shape;548;p96"/>
          <p:cNvSpPr/>
          <p:nvPr/>
        </p:nvSpPr>
        <p:spPr>
          <a:xfrm>
            <a:off x="5538260" y="2282931"/>
            <a:ext cx="1650900" cy="2497800"/>
          </a:xfrm>
          <a:prstGeom prst="roundRect">
            <a:avLst>
              <a:gd name="adj" fmla="val 16667"/>
            </a:avLst>
          </a:prstGeom>
          <a:solidFill>
            <a:srgbClr val="1476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49" name="Google Shape;549;p96"/>
          <p:cNvSpPr/>
          <p:nvPr/>
        </p:nvSpPr>
        <p:spPr>
          <a:xfrm>
            <a:off x="7299825" y="2275650"/>
            <a:ext cx="1658700" cy="2497800"/>
          </a:xfrm>
          <a:prstGeom prst="roundRect">
            <a:avLst>
              <a:gd name="adj" fmla="val 16667"/>
            </a:avLst>
          </a:prstGeom>
          <a:solidFill>
            <a:srgbClr val="198F7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0" name="Google Shape;550;p96"/>
          <p:cNvSpPr/>
          <p:nvPr/>
        </p:nvSpPr>
        <p:spPr>
          <a:xfrm>
            <a:off x="2017198" y="2282932"/>
            <a:ext cx="1655700" cy="2497800"/>
          </a:xfrm>
          <a:prstGeom prst="roundRect">
            <a:avLst>
              <a:gd name="adj" fmla="val 16667"/>
            </a:avLst>
          </a:prstGeom>
          <a:solidFill>
            <a:srgbClr val="105C5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1" name="Google Shape;551;p96"/>
          <p:cNvSpPr/>
          <p:nvPr/>
        </p:nvSpPr>
        <p:spPr>
          <a:xfrm>
            <a:off x="249350" y="2275651"/>
            <a:ext cx="1658700" cy="2497800"/>
          </a:xfrm>
          <a:prstGeom prst="roundRect">
            <a:avLst>
              <a:gd name="adj" fmla="val 16667"/>
            </a:avLst>
          </a:prstGeom>
          <a:solidFill>
            <a:srgbClr val="0C48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2" name="Google Shape;552;p96"/>
          <p:cNvSpPr txBox="1"/>
          <p:nvPr/>
        </p:nvSpPr>
        <p:spPr>
          <a:xfrm>
            <a:off x="349245" y="1684316"/>
            <a:ext cx="1424400" cy="523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400" b="1" i="0" u="none" strike="noStrike" cap="none">
                <a:solidFill>
                  <a:srgbClr val="0C483F"/>
                </a:solidFill>
                <a:latin typeface="Cabin"/>
                <a:ea typeface="Cabin"/>
                <a:cs typeface="Cabin"/>
                <a:sym typeface="Cabin"/>
              </a:rPr>
              <a:t>Significant Solar Surplus</a:t>
            </a:r>
            <a:endParaRPr sz="1400" b="1" i="0" u="none" strike="noStrike" cap="none">
              <a:solidFill>
                <a:srgbClr val="0C483F"/>
              </a:solidFill>
              <a:latin typeface="Cabin"/>
              <a:ea typeface="Cabin"/>
              <a:cs typeface="Cabin"/>
              <a:sym typeface="Cabin"/>
            </a:endParaRPr>
          </a:p>
        </p:txBody>
      </p:sp>
      <p:sp>
        <p:nvSpPr>
          <p:cNvPr id="553" name="Google Shape;553;p96"/>
          <p:cNvSpPr txBox="1"/>
          <p:nvPr/>
        </p:nvSpPr>
        <p:spPr>
          <a:xfrm>
            <a:off x="2131483" y="1708375"/>
            <a:ext cx="1424400" cy="523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400" b="1" i="0" u="none" strike="noStrike" cap="none">
                <a:solidFill>
                  <a:srgbClr val="155B55"/>
                </a:solidFill>
                <a:latin typeface="Cabin"/>
                <a:ea typeface="Cabin"/>
                <a:cs typeface="Cabin"/>
                <a:sym typeface="Cabin"/>
              </a:rPr>
              <a:t>Optimal BESS Sizing</a:t>
            </a:r>
            <a:endParaRPr sz="1400" b="0" i="0" u="none" strike="noStrike" cap="none">
              <a:solidFill>
                <a:srgbClr val="155B55"/>
              </a:solidFill>
              <a:latin typeface="Cabin"/>
              <a:ea typeface="Cabin"/>
              <a:cs typeface="Cabin"/>
              <a:sym typeface="Cabin"/>
            </a:endParaRPr>
          </a:p>
        </p:txBody>
      </p:sp>
      <p:sp>
        <p:nvSpPr>
          <p:cNvPr id="554" name="Google Shape;554;p96"/>
          <p:cNvSpPr txBox="1"/>
          <p:nvPr/>
        </p:nvSpPr>
        <p:spPr>
          <a:xfrm>
            <a:off x="3852751" y="1708375"/>
            <a:ext cx="1424400" cy="523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400" b="1" i="0" u="none" strike="noStrike" cap="none">
                <a:solidFill>
                  <a:srgbClr val="155B55"/>
                </a:solidFill>
                <a:latin typeface="Cabin"/>
                <a:ea typeface="Cabin"/>
                <a:cs typeface="Cabin"/>
                <a:sym typeface="Cabin"/>
              </a:rPr>
              <a:t>Strong Financial Viability</a:t>
            </a:r>
            <a:endParaRPr>
              <a:solidFill>
                <a:srgbClr val="155B55"/>
              </a:solidFill>
            </a:endParaRPr>
          </a:p>
        </p:txBody>
      </p:sp>
      <p:sp>
        <p:nvSpPr>
          <p:cNvPr id="555" name="Google Shape;555;p96"/>
          <p:cNvSpPr txBox="1"/>
          <p:nvPr/>
        </p:nvSpPr>
        <p:spPr>
          <a:xfrm>
            <a:off x="5577050" y="1708375"/>
            <a:ext cx="1550700" cy="523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400" b="1" i="0" u="none" strike="noStrike" cap="none">
                <a:solidFill>
                  <a:srgbClr val="155B55"/>
                </a:solidFill>
                <a:latin typeface="Cabin"/>
                <a:ea typeface="Cabin"/>
                <a:cs typeface="Cabin"/>
                <a:sym typeface="Cabin"/>
              </a:rPr>
              <a:t>Effective Peak Shaving Strategy</a:t>
            </a:r>
            <a:endParaRPr>
              <a:solidFill>
                <a:srgbClr val="155B55"/>
              </a:solidFill>
            </a:endParaRPr>
          </a:p>
        </p:txBody>
      </p:sp>
      <p:sp>
        <p:nvSpPr>
          <p:cNvPr id="556" name="Google Shape;556;p96"/>
          <p:cNvSpPr txBox="1"/>
          <p:nvPr/>
        </p:nvSpPr>
        <p:spPr>
          <a:xfrm>
            <a:off x="7399896" y="1708375"/>
            <a:ext cx="1424400" cy="523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400" b="1" i="0" u="none" strike="noStrike" cap="none">
                <a:solidFill>
                  <a:srgbClr val="155B55"/>
                </a:solidFill>
                <a:latin typeface="Cabin"/>
                <a:ea typeface="Cabin"/>
                <a:cs typeface="Cabin"/>
                <a:sym typeface="Cabin"/>
              </a:rPr>
              <a:t>Sensitivity to Costs</a:t>
            </a:r>
            <a:endParaRPr>
              <a:solidFill>
                <a:srgbClr val="155B55"/>
              </a:solidFill>
            </a:endParaRPr>
          </a:p>
        </p:txBody>
      </p:sp>
      <p:sp>
        <p:nvSpPr>
          <p:cNvPr id="557" name="Google Shape;557;p96"/>
          <p:cNvSpPr txBox="1"/>
          <p:nvPr/>
        </p:nvSpPr>
        <p:spPr>
          <a:xfrm>
            <a:off x="285403" y="2417569"/>
            <a:ext cx="1539600" cy="1939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200" b="0" i="0" u="none" strike="noStrike" cap="none">
                <a:solidFill>
                  <a:schemeClr val="lt1"/>
                </a:solidFill>
                <a:latin typeface="Cabin"/>
                <a:ea typeface="Cabin"/>
                <a:cs typeface="Cabin"/>
                <a:sym typeface="Cabin"/>
              </a:rPr>
              <a:t>The factory's 3,221</a:t>
            </a:r>
            <a:r>
              <a:rPr lang="en" sz="1200">
                <a:solidFill>
                  <a:schemeClr val="lt1"/>
                </a:solidFill>
                <a:latin typeface="Cabin"/>
                <a:ea typeface="Cabin"/>
                <a:cs typeface="Cabin"/>
                <a:sym typeface="Cabin"/>
              </a:rPr>
              <a:t> kWp </a:t>
            </a:r>
            <a:r>
              <a:rPr lang="en" sz="1200" b="0" i="0" u="none" strike="noStrike" cap="none">
                <a:solidFill>
                  <a:schemeClr val="lt1"/>
                </a:solidFill>
                <a:latin typeface="Cabin"/>
                <a:ea typeface="Cabin"/>
                <a:cs typeface="Cabin"/>
                <a:sym typeface="Cabin"/>
              </a:rPr>
              <a:t>PV system generates a substantial energy surplus, with approximately </a:t>
            </a:r>
            <a:r>
              <a:rPr lang="en" sz="1200" b="1" i="0" u="none" strike="noStrike" cap="none">
                <a:solidFill>
                  <a:schemeClr val="lt1"/>
                </a:solidFill>
                <a:latin typeface="Cabin"/>
                <a:ea typeface="Cabin"/>
                <a:cs typeface="Cabin"/>
                <a:sym typeface="Cabin"/>
              </a:rPr>
              <a:t>29% of its total annual generation available to be captured by a BESS</a:t>
            </a:r>
            <a:r>
              <a:rPr lang="en" sz="1200" b="0" i="0" u="none" strike="noStrike" cap="none">
                <a:solidFill>
                  <a:schemeClr val="lt1"/>
                </a:solidFill>
                <a:latin typeface="Cabin"/>
                <a:ea typeface="Cabin"/>
                <a:cs typeface="Cabin"/>
                <a:sym typeface="Cabin"/>
              </a:rPr>
              <a:t>.</a:t>
            </a:r>
            <a:endParaRPr/>
          </a:p>
        </p:txBody>
      </p:sp>
      <p:sp>
        <p:nvSpPr>
          <p:cNvPr id="558" name="Google Shape;558;p96"/>
          <p:cNvSpPr txBox="1"/>
          <p:nvPr/>
        </p:nvSpPr>
        <p:spPr>
          <a:xfrm>
            <a:off x="2008228" y="2417569"/>
            <a:ext cx="1664700" cy="1939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200" b="0" i="0" u="none" strike="noStrike" cap="none">
                <a:solidFill>
                  <a:schemeClr val="lt1"/>
                </a:solidFill>
                <a:latin typeface="Cabin"/>
                <a:ea typeface="Cabin"/>
                <a:cs typeface="Cabin"/>
                <a:sym typeface="Cabin"/>
              </a:rPr>
              <a:t>A </a:t>
            </a:r>
            <a:r>
              <a:rPr lang="en" sz="1200" b="1" i="0" u="none" strike="noStrike" cap="none">
                <a:solidFill>
                  <a:schemeClr val="lt1"/>
                </a:solidFill>
                <a:latin typeface="Cabin"/>
                <a:ea typeface="Cabin"/>
                <a:cs typeface="Cabin"/>
                <a:sym typeface="Cabin"/>
              </a:rPr>
              <a:t>BESS with a 3-hour storage duration</a:t>
            </a:r>
            <a:r>
              <a:rPr lang="en" sz="1200" b="0" i="0" u="none" strike="noStrike" cap="none">
                <a:solidFill>
                  <a:schemeClr val="lt1"/>
                </a:solidFill>
                <a:latin typeface="Cabin"/>
                <a:ea typeface="Cabin"/>
                <a:cs typeface="Cabin"/>
                <a:sym typeface="Cabin"/>
              </a:rPr>
              <a:t> is identified as the most cost-effective solution, providing optimal energy shifting capabilities at a lower capital cost compared to other configurations.</a:t>
            </a:r>
            <a:endParaRPr/>
          </a:p>
        </p:txBody>
      </p:sp>
      <p:sp>
        <p:nvSpPr>
          <p:cNvPr id="559" name="Google Shape;559;p96"/>
          <p:cNvSpPr txBox="1"/>
          <p:nvPr/>
        </p:nvSpPr>
        <p:spPr>
          <a:xfrm>
            <a:off x="3769064" y="2417569"/>
            <a:ext cx="1655700" cy="1754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200" b="0" i="0" u="none" strike="noStrike" cap="none">
                <a:solidFill>
                  <a:schemeClr val="lt1"/>
                </a:solidFill>
                <a:latin typeface="Cabin"/>
                <a:ea typeface="Cabin"/>
                <a:cs typeface="Cabin"/>
                <a:sym typeface="Cabin"/>
              </a:rPr>
              <a:t>The project is financially attractive under </a:t>
            </a:r>
            <a:r>
              <a:rPr lang="en" sz="1200" b="1" i="0" u="none" strike="noStrike" cap="none">
                <a:solidFill>
                  <a:schemeClr val="lt1"/>
                </a:solidFill>
                <a:latin typeface="Cabin"/>
                <a:ea typeface="Cabin"/>
                <a:cs typeface="Cabin"/>
                <a:sym typeface="Cabin"/>
              </a:rPr>
              <a:t>a 15-year PPA model</a:t>
            </a:r>
            <a:r>
              <a:rPr lang="en" sz="1200" b="0" i="0" u="none" strike="noStrike" cap="none">
                <a:solidFill>
                  <a:schemeClr val="lt1"/>
                </a:solidFill>
                <a:latin typeface="Cabin"/>
                <a:ea typeface="Cabin"/>
                <a:cs typeface="Cabin"/>
                <a:sym typeface="Cabin"/>
              </a:rPr>
              <a:t>, demonstrating a </a:t>
            </a:r>
            <a:r>
              <a:rPr lang="en" sz="1200" b="1" i="0" u="none" strike="noStrike" cap="none">
                <a:solidFill>
                  <a:schemeClr val="lt1"/>
                </a:solidFill>
                <a:latin typeface="Cabin"/>
                <a:ea typeface="Cabin"/>
                <a:cs typeface="Cabin"/>
                <a:sym typeface="Cabin"/>
              </a:rPr>
              <a:t>robust project internal rate of return (IRR) of 9.2% </a:t>
            </a:r>
            <a:r>
              <a:rPr lang="en" sz="1200" b="0" i="0" u="none" strike="noStrike" cap="none">
                <a:solidFill>
                  <a:schemeClr val="lt1"/>
                </a:solidFill>
                <a:latin typeface="Cabin"/>
                <a:ea typeface="Cabin"/>
                <a:cs typeface="Cabin"/>
                <a:sym typeface="Cabin"/>
              </a:rPr>
              <a:t>(conservative scenario)</a:t>
            </a:r>
            <a:endParaRPr sz="1200" b="0" i="0" u="none" strike="noStrike" cap="none">
              <a:solidFill>
                <a:schemeClr val="lt1"/>
              </a:solidFill>
              <a:latin typeface="Cabin"/>
              <a:ea typeface="Cabin"/>
              <a:cs typeface="Cabin"/>
              <a:sym typeface="Cabin"/>
            </a:endParaRPr>
          </a:p>
        </p:txBody>
      </p:sp>
      <p:sp>
        <p:nvSpPr>
          <p:cNvPr id="560" name="Google Shape;560;p96"/>
          <p:cNvSpPr txBox="1"/>
          <p:nvPr/>
        </p:nvSpPr>
        <p:spPr>
          <a:xfrm>
            <a:off x="5520935" y="2417569"/>
            <a:ext cx="1668000" cy="2308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200" b="0" i="0" u="none" strike="noStrike" cap="none">
                <a:solidFill>
                  <a:schemeClr val="lt1"/>
                </a:solidFill>
                <a:latin typeface="Cabin"/>
                <a:ea typeface="Cabin"/>
                <a:cs typeface="Cabin"/>
                <a:sym typeface="Cabin"/>
              </a:rPr>
              <a:t>The proposed BESS operational strategy </a:t>
            </a:r>
            <a:r>
              <a:rPr lang="en" sz="1200" i="0" u="none" strike="noStrike" cap="none">
                <a:solidFill>
                  <a:schemeClr val="lt1"/>
                </a:solidFill>
                <a:latin typeface="Cabin"/>
                <a:ea typeface="Cabin"/>
                <a:cs typeface="Cabin"/>
                <a:sym typeface="Cabin"/>
              </a:rPr>
              <a:t>successfully shifts captured solar energy to evening peak hours</a:t>
            </a:r>
            <a:r>
              <a:rPr lang="en" sz="1200" b="0" i="0" u="none" strike="noStrike" cap="none">
                <a:solidFill>
                  <a:schemeClr val="lt1"/>
                </a:solidFill>
                <a:latin typeface="Cabin"/>
                <a:ea typeface="Cabin"/>
                <a:cs typeface="Cabin"/>
                <a:sym typeface="Cabin"/>
              </a:rPr>
              <a:t>, with </a:t>
            </a:r>
            <a:r>
              <a:rPr lang="en" sz="1200" b="1" i="0" u="none" strike="noStrike" cap="none">
                <a:solidFill>
                  <a:schemeClr val="lt1"/>
                </a:solidFill>
                <a:latin typeface="Cabin"/>
                <a:ea typeface="Cabin"/>
                <a:cs typeface="Cabin"/>
                <a:sym typeface="Cabin"/>
              </a:rPr>
              <a:t>over 83% of the battery's annual discharge occurring during the most expensive tariff </a:t>
            </a:r>
            <a:r>
              <a:rPr lang="en" sz="1200" b="0" i="0" u="none" strike="noStrike" cap="none">
                <a:solidFill>
                  <a:schemeClr val="lt1"/>
                </a:solidFill>
                <a:latin typeface="Cabin"/>
                <a:ea typeface="Cabin"/>
                <a:cs typeface="Cabin"/>
                <a:sym typeface="Cabin"/>
              </a:rPr>
              <a:t>periods, maximizing cost savings.</a:t>
            </a:r>
            <a:endParaRPr sz="1200" b="0" i="0" u="none" strike="noStrike" cap="none">
              <a:solidFill>
                <a:schemeClr val="lt1"/>
              </a:solidFill>
              <a:latin typeface="Cabin"/>
              <a:ea typeface="Cabin"/>
              <a:cs typeface="Cabin"/>
              <a:sym typeface="Cabin"/>
            </a:endParaRPr>
          </a:p>
        </p:txBody>
      </p:sp>
      <p:sp>
        <p:nvSpPr>
          <p:cNvPr id="561" name="Google Shape;561;p96"/>
          <p:cNvSpPr txBox="1"/>
          <p:nvPr/>
        </p:nvSpPr>
        <p:spPr>
          <a:xfrm>
            <a:off x="7270231" y="2417569"/>
            <a:ext cx="1683600" cy="1754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200" b="0" i="0" u="none" strike="noStrike" cap="none">
                <a:solidFill>
                  <a:schemeClr val="lt1"/>
                </a:solidFill>
                <a:latin typeface="Cabin"/>
                <a:ea typeface="Cabin"/>
                <a:cs typeface="Cabin"/>
                <a:sym typeface="Cabin"/>
              </a:rPr>
              <a:t>The project's profitability is highly sensitive to the upfront CAPEX. Securing competitive equipment and installation costs will be critical to achieving the projected returns.</a:t>
            </a:r>
            <a:endParaRPr sz="1200" b="0" i="0" u="none" strike="noStrike" cap="none">
              <a:solidFill>
                <a:schemeClr val="lt1"/>
              </a:solidFill>
              <a:latin typeface="Cabin"/>
              <a:ea typeface="Cabin"/>
              <a:cs typeface="Cabin"/>
              <a:sym typeface="Cabin"/>
            </a:endParaRPr>
          </a:p>
        </p:txBody>
      </p:sp>
      <p:pic>
        <p:nvPicPr>
          <p:cNvPr id="562" name="Google Shape;562;p96"/>
          <p:cNvPicPr preferRelativeResize="0"/>
          <p:nvPr/>
        </p:nvPicPr>
        <p:blipFill rotWithShape="1">
          <a:blip r:embed="rId3">
            <a:alphaModFix/>
          </a:blip>
          <a:srcRect/>
          <a:stretch/>
        </p:blipFill>
        <p:spPr>
          <a:xfrm>
            <a:off x="6088345" y="948849"/>
            <a:ext cx="528119" cy="528119"/>
          </a:xfrm>
          <a:prstGeom prst="rect">
            <a:avLst/>
          </a:prstGeom>
          <a:noFill/>
          <a:ln>
            <a:noFill/>
          </a:ln>
        </p:spPr>
      </p:pic>
      <p:pic>
        <p:nvPicPr>
          <p:cNvPr id="563" name="Google Shape;563;p96"/>
          <p:cNvPicPr preferRelativeResize="0"/>
          <p:nvPr/>
        </p:nvPicPr>
        <p:blipFill rotWithShape="1">
          <a:blip r:embed="rId4">
            <a:alphaModFix/>
          </a:blip>
          <a:srcRect/>
          <a:stretch/>
        </p:blipFill>
        <p:spPr>
          <a:xfrm>
            <a:off x="4414269" y="1038490"/>
            <a:ext cx="449263" cy="449263"/>
          </a:xfrm>
          <a:prstGeom prst="rect">
            <a:avLst/>
          </a:prstGeom>
          <a:noFill/>
          <a:ln>
            <a:noFill/>
          </a:ln>
        </p:spPr>
      </p:pic>
      <p:pic>
        <p:nvPicPr>
          <p:cNvPr id="564" name="Google Shape;564;p96"/>
          <p:cNvPicPr preferRelativeResize="0"/>
          <p:nvPr/>
        </p:nvPicPr>
        <p:blipFill rotWithShape="1">
          <a:blip r:embed="rId5">
            <a:alphaModFix/>
          </a:blip>
          <a:srcRect/>
          <a:stretch/>
        </p:blipFill>
        <p:spPr>
          <a:xfrm>
            <a:off x="2615692" y="1037880"/>
            <a:ext cx="449873" cy="449873"/>
          </a:xfrm>
          <a:prstGeom prst="rect">
            <a:avLst/>
          </a:prstGeom>
          <a:noFill/>
          <a:ln>
            <a:noFill/>
          </a:ln>
        </p:spPr>
      </p:pic>
      <p:pic>
        <p:nvPicPr>
          <p:cNvPr id="565" name="Google Shape;565;p96"/>
          <p:cNvPicPr preferRelativeResize="0"/>
          <p:nvPr/>
        </p:nvPicPr>
        <p:blipFill rotWithShape="1">
          <a:blip r:embed="rId6">
            <a:alphaModFix/>
          </a:blip>
          <a:srcRect/>
          <a:stretch/>
        </p:blipFill>
        <p:spPr>
          <a:xfrm>
            <a:off x="833374" y="1049995"/>
            <a:ext cx="443546" cy="443546"/>
          </a:xfrm>
          <a:prstGeom prst="rect">
            <a:avLst/>
          </a:prstGeom>
          <a:noFill/>
          <a:ln>
            <a:noFill/>
          </a:ln>
        </p:spPr>
      </p:pic>
      <p:pic>
        <p:nvPicPr>
          <p:cNvPr id="566" name="Google Shape;566;p96"/>
          <p:cNvPicPr preferRelativeResize="0"/>
          <p:nvPr/>
        </p:nvPicPr>
        <p:blipFill rotWithShape="1">
          <a:blip r:embed="rId7">
            <a:alphaModFix/>
          </a:blip>
          <a:srcRect/>
          <a:stretch/>
        </p:blipFill>
        <p:spPr>
          <a:xfrm>
            <a:off x="7904878" y="1032036"/>
            <a:ext cx="414301" cy="4143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6F4F1"/>
        </a:solidFill>
        <a:effectLst/>
      </p:bgPr>
    </p:bg>
    <p:spTree>
      <p:nvGrpSpPr>
        <p:cNvPr id="1" name="Shape 570"/>
        <p:cNvGrpSpPr/>
        <p:nvPr/>
      </p:nvGrpSpPr>
      <p:grpSpPr>
        <a:xfrm>
          <a:off x="0" y="0"/>
          <a:ext cx="0" cy="0"/>
          <a:chOff x="0" y="0"/>
          <a:chExt cx="0" cy="0"/>
        </a:xfrm>
      </p:grpSpPr>
      <p:sp>
        <p:nvSpPr>
          <p:cNvPr id="571" name="Google Shape;571;p97"/>
          <p:cNvSpPr/>
          <p:nvPr/>
        </p:nvSpPr>
        <p:spPr>
          <a:xfrm>
            <a:off x="65575" y="69625"/>
            <a:ext cx="8991000" cy="9201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17780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FBFBFB"/>
                </a:solidFill>
                <a:latin typeface="Cabin"/>
                <a:ea typeface="Cabin"/>
                <a:cs typeface="Cabin"/>
                <a:sym typeface="Cabin"/>
              </a:rPr>
              <a:t> </a:t>
            </a:r>
            <a:endParaRPr sz="1500" b="1" i="0" u="none" strike="noStrike" cap="none">
              <a:solidFill>
                <a:srgbClr val="FBFBFB"/>
              </a:solidFill>
              <a:latin typeface="Cabin"/>
              <a:ea typeface="Cabin"/>
              <a:cs typeface="Cabin"/>
              <a:sym typeface="Cabin"/>
            </a:endParaRPr>
          </a:p>
        </p:txBody>
      </p:sp>
      <p:sp>
        <p:nvSpPr>
          <p:cNvPr id="572" name="Google Shape;572;p97"/>
          <p:cNvSpPr txBox="1">
            <a:spLocks noGrp="1"/>
          </p:cNvSpPr>
          <p:nvPr>
            <p:ph type="title"/>
          </p:nvPr>
        </p:nvSpPr>
        <p:spPr>
          <a:xfrm>
            <a:off x="323125" y="137300"/>
            <a:ext cx="86493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00"/>
              <a:buNone/>
            </a:pPr>
            <a:r>
              <a:rPr lang="en" sz="1960" b="1">
                <a:solidFill>
                  <a:schemeClr val="lt1"/>
                </a:solidFill>
                <a:latin typeface="Cabin"/>
                <a:ea typeface="Cabin"/>
                <a:cs typeface="Cabin"/>
                <a:sym typeface="Cabin"/>
              </a:rPr>
              <a:t>State-Owned Champion Bank Collaboration: </a:t>
            </a:r>
            <a:endParaRPr sz="1960" b="1">
              <a:solidFill>
                <a:schemeClr val="lt1"/>
              </a:solidFill>
              <a:latin typeface="Cabin"/>
              <a:ea typeface="Cabin"/>
              <a:cs typeface="Cabin"/>
              <a:sym typeface="Cabin"/>
            </a:endParaRPr>
          </a:p>
          <a:p>
            <a:pPr marL="0" lvl="0" indent="0" algn="l" rtl="0">
              <a:lnSpc>
                <a:spcPct val="100000"/>
              </a:lnSpc>
              <a:spcBef>
                <a:spcPts val="0"/>
              </a:spcBef>
              <a:spcAft>
                <a:spcPts val="0"/>
              </a:spcAft>
              <a:buSzPts val="900"/>
              <a:buNone/>
            </a:pPr>
            <a:r>
              <a:rPr lang="en" sz="1960" b="1">
                <a:solidFill>
                  <a:schemeClr val="lt1"/>
                </a:solidFill>
                <a:latin typeface="Cabin"/>
                <a:ea typeface="Cabin"/>
                <a:cs typeface="Cabin"/>
                <a:sym typeface="Cabin"/>
              </a:rPr>
              <a:t>BIDV Progress Update - Scope 1,2, 3 Non Financed Report and Tool Completed</a:t>
            </a:r>
            <a:endParaRPr sz="1960" b="1">
              <a:solidFill>
                <a:schemeClr val="lt1"/>
              </a:solidFill>
              <a:latin typeface="Cabin"/>
              <a:ea typeface="Cabin"/>
              <a:cs typeface="Cabin"/>
              <a:sym typeface="Cabin"/>
            </a:endParaRPr>
          </a:p>
        </p:txBody>
      </p:sp>
      <p:pic>
        <p:nvPicPr>
          <p:cNvPr id="573" name="Google Shape;573;p97"/>
          <p:cNvPicPr preferRelativeResize="0"/>
          <p:nvPr/>
        </p:nvPicPr>
        <p:blipFill rotWithShape="1">
          <a:blip r:embed="rId3">
            <a:alphaModFix/>
          </a:blip>
          <a:srcRect t="8950"/>
          <a:stretch/>
        </p:blipFill>
        <p:spPr>
          <a:xfrm>
            <a:off x="3227750" y="1129675"/>
            <a:ext cx="3111900" cy="3655700"/>
          </a:xfrm>
          <a:prstGeom prst="rect">
            <a:avLst/>
          </a:prstGeom>
          <a:noFill/>
          <a:ln>
            <a:noFill/>
          </a:ln>
        </p:spPr>
      </p:pic>
      <p:pic>
        <p:nvPicPr>
          <p:cNvPr id="574" name="Google Shape;574;p97"/>
          <p:cNvPicPr preferRelativeResize="0"/>
          <p:nvPr/>
        </p:nvPicPr>
        <p:blipFill rotWithShape="1">
          <a:blip r:embed="rId4">
            <a:alphaModFix/>
          </a:blip>
          <a:srcRect t="8198"/>
          <a:stretch/>
        </p:blipFill>
        <p:spPr>
          <a:xfrm>
            <a:off x="6469725" y="1129675"/>
            <a:ext cx="2584250" cy="1930275"/>
          </a:xfrm>
          <a:prstGeom prst="rect">
            <a:avLst/>
          </a:prstGeom>
          <a:noFill/>
          <a:ln>
            <a:noFill/>
          </a:ln>
        </p:spPr>
      </p:pic>
      <p:pic>
        <p:nvPicPr>
          <p:cNvPr id="575" name="Google Shape;575;p97"/>
          <p:cNvPicPr preferRelativeResize="0"/>
          <p:nvPr/>
        </p:nvPicPr>
        <p:blipFill>
          <a:blip r:embed="rId5">
            <a:alphaModFix/>
          </a:blip>
          <a:stretch>
            <a:fillRect/>
          </a:stretch>
        </p:blipFill>
        <p:spPr>
          <a:xfrm>
            <a:off x="61025" y="1173588"/>
            <a:ext cx="3036642" cy="3611775"/>
          </a:xfrm>
          <a:prstGeom prst="rect">
            <a:avLst/>
          </a:prstGeom>
          <a:noFill/>
          <a:ln>
            <a:noFill/>
          </a:ln>
        </p:spPr>
      </p:pic>
      <p:sp>
        <p:nvSpPr>
          <p:cNvPr id="576" name="Google Shape;576;p97"/>
          <p:cNvSpPr txBox="1"/>
          <p:nvPr/>
        </p:nvSpPr>
        <p:spPr>
          <a:xfrm>
            <a:off x="3227750" y="4785375"/>
            <a:ext cx="5860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Cabin"/>
                <a:ea typeface="Cabin"/>
                <a:cs typeface="Cabin"/>
                <a:sym typeface="Cabin"/>
              </a:rPr>
              <a:t>Scope 3 Non-Financed: Completed report + Toolkit </a:t>
            </a:r>
            <a:endParaRPr>
              <a:latin typeface="Cabin"/>
              <a:ea typeface="Cabin"/>
              <a:cs typeface="Cabin"/>
              <a:sym typeface="Cabin"/>
            </a:endParaRPr>
          </a:p>
        </p:txBody>
      </p:sp>
      <p:sp>
        <p:nvSpPr>
          <p:cNvPr id="577" name="Google Shape;577;p97"/>
          <p:cNvSpPr txBox="1"/>
          <p:nvPr/>
        </p:nvSpPr>
        <p:spPr>
          <a:xfrm>
            <a:off x="61050" y="4785375"/>
            <a:ext cx="3036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Cabin"/>
                <a:ea typeface="Cabin"/>
                <a:cs typeface="Cabin"/>
                <a:sym typeface="Cabin"/>
              </a:rPr>
              <a:t>Scope 1 &amp; 2 reduction: Completed</a:t>
            </a:r>
            <a:endParaRPr>
              <a:latin typeface="Cabin"/>
              <a:ea typeface="Cabin"/>
              <a:cs typeface="Cabin"/>
              <a:sym typeface="Cabin"/>
            </a:endParaRPr>
          </a:p>
        </p:txBody>
      </p:sp>
      <p:pic>
        <p:nvPicPr>
          <p:cNvPr id="578" name="Google Shape;578;p97"/>
          <p:cNvPicPr preferRelativeResize="0"/>
          <p:nvPr/>
        </p:nvPicPr>
        <p:blipFill rotWithShape="1">
          <a:blip r:embed="rId6">
            <a:alphaModFix/>
          </a:blip>
          <a:srcRect/>
          <a:stretch/>
        </p:blipFill>
        <p:spPr>
          <a:xfrm>
            <a:off x="7830116" y="66645"/>
            <a:ext cx="1207990" cy="42043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6F4F1"/>
        </a:solidFill>
        <a:effectLst/>
      </p:bgPr>
    </p:bg>
    <p:spTree>
      <p:nvGrpSpPr>
        <p:cNvPr id="1" name="Shape 582"/>
        <p:cNvGrpSpPr/>
        <p:nvPr/>
      </p:nvGrpSpPr>
      <p:grpSpPr>
        <a:xfrm>
          <a:off x="0" y="0"/>
          <a:ext cx="0" cy="0"/>
          <a:chOff x="0" y="0"/>
          <a:chExt cx="0" cy="0"/>
        </a:xfrm>
      </p:grpSpPr>
      <p:sp>
        <p:nvSpPr>
          <p:cNvPr id="583" name="Google Shape;583;p98"/>
          <p:cNvSpPr/>
          <p:nvPr/>
        </p:nvSpPr>
        <p:spPr>
          <a:xfrm>
            <a:off x="65575" y="69625"/>
            <a:ext cx="8991000" cy="9201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17780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FBFBFB"/>
                </a:solidFill>
                <a:latin typeface="Cabin"/>
                <a:ea typeface="Cabin"/>
                <a:cs typeface="Cabin"/>
                <a:sym typeface="Cabin"/>
              </a:rPr>
              <a:t> </a:t>
            </a:r>
            <a:endParaRPr sz="1500" b="1" i="0" u="none" strike="noStrike" cap="none">
              <a:solidFill>
                <a:srgbClr val="FBFBFB"/>
              </a:solidFill>
              <a:latin typeface="Cabin"/>
              <a:ea typeface="Cabin"/>
              <a:cs typeface="Cabin"/>
              <a:sym typeface="Cabin"/>
            </a:endParaRPr>
          </a:p>
        </p:txBody>
      </p:sp>
      <p:sp>
        <p:nvSpPr>
          <p:cNvPr id="584" name="Google Shape;584;p98"/>
          <p:cNvSpPr txBox="1">
            <a:spLocks noGrp="1"/>
          </p:cNvSpPr>
          <p:nvPr>
            <p:ph type="title"/>
          </p:nvPr>
        </p:nvSpPr>
        <p:spPr>
          <a:xfrm>
            <a:off x="323150" y="137292"/>
            <a:ext cx="8188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00"/>
              <a:buNone/>
            </a:pPr>
            <a:r>
              <a:rPr lang="en" sz="2060" b="1">
                <a:solidFill>
                  <a:schemeClr val="lt1"/>
                </a:solidFill>
                <a:latin typeface="Cabin"/>
                <a:ea typeface="Cabin"/>
                <a:cs typeface="Cabin"/>
                <a:sym typeface="Cabin"/>
              </a:rPr>
              <a:t>State-Owned Champion Bank Collaboration: </a:t>
            </a:r>
            <a:endParaRPr sz="2060" b="1">
              <a:solidFill>
                <a:schemeClr val="lt1"/>
              </a:solidFill>
              <a:latin typeface="Cabin"/>
              <a:ea typeface="Cabin"/>
              <a:cs typeface="Cabin"/>
              <a:sym typeface="Cabin"/>
            </a:endParaRPr>
          </a:p>
          <a:p>
            <a:pPr marL="0" lvl="0" indent="0" algn="l" rtl="0">
              <a:lnSpc>
                <a:spcPct val="100000"/>
              </a:lnSpc>
              <a:spcBef>
                <a:spcPts val="0"/>
              </a:spcBef>
              <a:spcAft>
                <a:spcPts val="0"/>
              </a:spcAft>
              <a:buSzPts val="900"/>
              <a:buNone/>
            </a:pPr>
            <a:r>
              <a:rPr lang="en" sz="2060" b="1">
                <a:solidFill>
                  <a:schemeClr val="lt1"/>
                </a:solidFill>
                <a:latin typeface="Cabin"/>
                <a:ea typeface="Cabin"/>
                <a:cs typeface="Cabin"/>
                <a:sym typeface="Cabin"/>
              </a:rPr>
              <a:t>BIDV Progress Update - Scope 3 Financed Report and Tool in Progress</a:t>
            </a:r>
            <a:endParaRPr sz="2060" b="1">
              <a:solidFill>
                <a:schemeClr val="lt1"/>
              </a:solidFill>
              <a:latin typeface="Cabin"/>
              <a:ea typeface="Cabin"/>
              <a:cs typeface="Cabin"/>
              <a:sym typeface="Cabin"/>
            </a:endParaRPr>
          </a:p>
        </p:txBody>
      </p:sp>
      <p:pic>
        <p:nvPicPr>
          <p:cNvPr id="585" name="Google Shape;585;p98"/>
          <p:cNvPicPr preferRelativeResize="0"/>
          <p:nvPr/>
        </p:nvPicPr>
        <p:blipFill rotWithShape="1">
          <a:blip r:embed="rId3">
            <a:alphaModFix/>
          </a:blip>
          <a:srcRect t="12173"/>
          <a:stretch/>
        </p:blipFill>
        <p:spPr>
          <a:xfrm>
            <a:off x="144575" y="1165850"/>
            <a:ext cx="3003944" cy="3581925"/>
          </a:xfrm>
          <a:prstGeom prst="rect">
            <a:avLst/>
          </a:prstGeom>
          <a:noFill/>
          <a:ln>
            <a:noFill/>
          </a:ln>
        </p:spPr>
      </p:pic>
      <p:pic>
        <p:nvPicPr>
          <p:cNvPr id="586" name="Google Shape;586;p98"/>
          <p:cNvPicPr preferRelativeResize="0"/>
          <p:nvPr/>
        </p:nvPicPr>
        <p:blipFill>
          <a:blip r:embed="rId4">
            <a:alphaModFix/>
          </a:blip>
          <a:stretch>
            <a:fillRect/>
          </a:stretch>
        </p:blipFill>
        <p:spPr>
          <a:xfrm>
            <a:off x="6474948" y="1142125"/>
            <a:ext cx="2539224" cy="1605294"/>
          </a:xfrm>
          <a:prstGeom prst="rect">
            <a:avLst/>
          </a:prstGeom>
          <a:noFill/>
          <a:ln>
            <a:noFill/>
          </a:ln>
        </p:spPr>
      </p:pic>
      <p:pic>
        <p:nvPicPr>
          <p:cNvPr id="587" name="Google Shape;587;p98"/>
          <p:cNvPicPr preferRelativeResize="0"/>
          <p:nvPr/>
        </p:nvPicPr>
        <p:blipFill>
          <a:blip r:embed="rId5">
            <a:alphaModFix/>
          </a:blip>
          <a:stretch>
            <a:fillRect/>
          </a:stretch>
        </p:blipFill>
        <p:spPr>
          <a:xfrm>
            <a:off x="3261125" y="1142125"/>
            <a:ext cx="3101224" cy="3581914"/>
          </a:xfrm>
          <a:prstGeom prst="rect">
            <a:avLst/>
          </a:prstGeom>
          <a:noFill/>
          <a:ln>
            <a:noFill/>
          </a:ln>
        </p:spPr>
      </p:pic>
      <p:pic>
        <p:nvPicPr>
          <p:cNvPr id="588" name="Google Shape;588;p98"/>
          <p:cNvPicPr preferRelativeResize="0"/>
          <p:nvPr/>
        </p:nvPicPr>
        <p:blipFill>
          <a:blip r:embed="rId6">
            <a:alphaModFix/>
          </a:blip>
          <a:stretch>
            <a:fillRect/>
          </a:stretch>
        </p:blipFill>
        <p:spPr>
          <a:xfrm>
            <a:off x="6474949" y="2788925"/>
            <a:ext cx="2581625" cy="1389049"/>
          </a:xfrm>
          <a:prstGeom prst="rect">
            <a:avLst/>
          </a:prstGeom>
          <a:noFill/>
          <a:ln>
            <a:noFill/>
          </a:ln>
        </p:spPr>
      </p:pic>
      <p:sp>
        <p:nvSpPr>
          <p:cNvPr id="589" name="Google Shape;589;p98"/>
          <p:cNvSpPr txBox="1"/>
          <p:nvPr/>
        </p:nvSpPr>
        <p:spPr>
          <a:xfrm>
            <a:off x="61050" y="4785375"/>
            <a:ext cx="3036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Cabin"/>
                <a:ea typeface="Cabin"/>
                <a:cs typeface="Cabin"/>
                <a:sym typeface="Cabin"/>
              </a:rPr>
              <a:t>Scope 3 financed: </a:t>
            </a:r>
            <a:r>
              <a:rPr lang="en">
                <a:solidFill>
                  <a:schemeClr val="dk1"/>
                </a:solidFill>
                <a:latin typeface="Cabin"/>
                <a:ea typeface="Cabin"/>
                <a:cs typeface="Cabin"/>
                <a:sym typeface="Cabin"/>
              </a:rPr>
              <a:t>Completed</a:t>
            </a:r>
            <a:endParaRPr>
              <a:latin typeface="Cabin"/>
              <a:ea typeface="Cabin"/>
              <a:cs typeface="Cabin"/>
              <a:sym typeface="Cabin"/>
            </a:endParaRPr>
          </a:p>
        </p:txBody>
      </p:sp>
      <p:sp>
        <p:nvSpPr>
          <p:cNvPr id="590" name="Google Shape;590;p98"/>
          <p:cNvSpPr txBox="1"/>
          <p:nvPr/>
        </p:nvSpPr>
        <p:spPr>
          <a:xfrm>
            <a:off x="3261125" y="4785375"/>
            <a:ext cx="3213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Cabin"/>
                <a:ea typeface="Cabin"/>
                <a:cs typeface="Cabin"/>
                <a:sym typeface="Cabin"/>
              </a:rPr>
              <a:t>Scope 3 financed roadmap: In progress</a:t>
            </a:r>
            <a:endParaRPr>
              <a:latin typeface="Cabin"/>
              <a:ea typeface="Cabin"/>
              <a:cs typeface="Cabin"/>
              <a:sym typeface="Cabin"/>
            </a:endParaRPr>
          </a:p>
        </p:txBody>
      </p:sp>
      <p:sp>
        <p:nvSpPr>
          <p:cNvPr id="591" name="Google Shape;591;p98"/>
          <p:cNvSpPr txBox="1"/>
          <p:nvPr/>
        </p:nvSpPr>
        <p:spPr>
          <a:xfrm>
            <a:off x="6781575" y="4386675"/>
            <a:ext cx="22326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Cabin"/>
                <a:ea typeface="Cabin"/>
                <a:cs typeface="Cabin"/>
                <a:sym typeface="Cabin"/>
              </a:rPr>
              <a:t>Scope 3 financed toolkits: In progress</a:t>
            </a:r>
            <a:endParaRPr>
              <a:latin typeface="Cabin"/>
              <a:ea typeface="Cabin"/>
              <a:cs typeface="Cabin"/>
              <a:sym typeface="Cabin"/>
            </a:endParaRPr>
          </a:p>
        </p:txBody>
      </p:sp>
      <p:pic>
        <p:nvPicPr>
          <p:cNvPr id="592" name="Google Shape;592;p98"/>
          <p:cNvPicPr preferRelativeResize="0"/>
          <p:nvPr/>
        </p:nvPicPr>
        <p:blipFill rotWithShape="1">
          <a:blip r:embed="rId7">
            <a:alphaModFix/>
          </a:blip>
          <a:srcRect/>
          <a:stretch/>
        </p:blipFill>
        <p:spPr>
          <a:xfrm>
            <a:off x="7830116" y="66645"/>
            <a:ext cx="1207990" cy="42043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99"/>
          <p:cNvSpPr txBox="1">
            <a:spLocks noGrp="1"/>
          </p:cNvSpPr>
          <p:nvPr>
            <p:ph type="title"/>
          </p:nvPr>
        </p:nvSpPr>
        <p:spPr>
          <a:xfrm>
            <a:off x="226518" y="166475"/>
            <a:ext cx="8432400" cy="5067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chemeClr val="dk1"/>
              </a:buClr>
              <a:buSzPts val="1000"/>
              <a:buFont typeface="Arial"/>
              <a:buNone/>
            </a:pPr>
            <a:r>
              <a:rPr lang="en" sz="2400">
                <a:solidFill>
                  <a:schemeClr val="lt1"/>
                </a:solidFill>
              </a:rPr>
              <a:t>Commercial Champion Bank Collaboration: </a:t>
            </a:r>
            <a:endParaRPr sz="2400">
              <a:solidFill>
                <a:schemeClr val="lt1"/>
              </a:solidFill>
            </a:endParaRPr>
          </a:p>
          <a:p>
            <a:pPr marL="0" lvl="0" indent="0" algn="l" rtl="0">
              <a:lnSpc>
                <a:spcPct val="100000"/>
              </a:lnSpc>
              <a:spcBef>
                <a:spcPts val="0"/>
              </a:spcBef>
              <a:spcAft>
                <a:spcPts val="0"/>
              </a:spcAft>
              <a:buSzPts val="2700"/>
              <a:buNone/>
            </a:pPr>
            <a:r>
              <a:rPr lang="en" sz="2200">
                <a:solidFill>
                  <a:schemeClr val="lt1"/>
                </a:solidFill>
              </a:rPr>
              <a:t>TCB Progress Update - Scope 1 and 2 Report and Tool Completed</a:t>
            </a:r>
            <a:endParaRPr sz="2500"/>
          </a:p>
        </p:txBody>
      </p:sp>
      <p:pic>
        <p:nvPicPr>
          <p:cNvPr id="598" name="Google Shape;598;p99"/>
          <p:cNvPicPr preferRelativeResize="0"/>
          <p:nvPr/>
        </p:nvPicPr>
        <p:blipFill rotWithShape="1">
          <a:blip r:embed="rId3">
            <a:alphaModFix/>
          </a:blip>
          <a:srcRect t="8992"/>
          <a:stretch/>
        </p:blipFill>
        <p:spPr>
          <a:xfrm>
            <a:off x="3113725" y="1075875"/>
            <a:ext cx="2810425" cy="3456675"/>
          </a:xfrm>
          <a:prstGeom prst="rect">
            <a:avLst/>
          </a:prstGeom>
          <a:noFill/>
          <a:ln>
            <a:noFill/>
          </a:ln>
        </p:spPr>
      </p:pic>
      <p:pic>
        <p:nvPicPr>
          <p:cNvPr id="599" name="Google Shape;599;p99"/>
          <p:cNvPicPr preferRelativeResize="0"/>
          <p:nvPr/>
        </p:nvPicPr>
        <p:blipFill rotWithShape="1">
          <a:blip r:embed="rId4">
            <a:alphaModFix/>
          </a:blip>
          <a:srcRect/>
          <a:stretch/>
        </p:blipFill>
        <p:spPr>
          <a:xfrm>
            <a:off x="5924150" y="2854400"/>
            <a:ext cx="3182900" cy="1340945"/>
          </a:xfrm>
          <a:prstGeom prst="rect">
            <a:avLst/>
          </a:prstGeom>
          <a:noFill/>
          <a:ln>
            <a:noFill/>
          </a:ln>
        </p:spPr>
      </p:pic>
      <p:pic>
        <p:nvPicPr>
          <p:cNvPr id="600" name="Google Shape;600;p99"/>
          <p:cNvPicPr preferRelativeResize="0"/>
          <p:nvPr/>
        </p:nvPicPr>
        <p:blipFill rotWithShape="1">
          <a:blip r:embed="rId5">
            <a:alphaModFix/>
          </a:blip>
          <a:srcRect/>
          <a:stretch/>
        </p:blipFill>
        <p:spPr>
          <a:xfrm>
            <a:off x="6232769" y="1075882"/>
            <a:ext cx="2605611" cy="1588987"/>
          </a:xfrm>
          <a:prstGeom prst="rect">
            <a:avLst/>
          </a:prstGeom>
          <a:noFill/>
          <a:ln>
            <a:noFill/>
          </a:ln>
        </p:spPr>
      </p:pic>
      <p:pic>
        <p:nvPicPr>
          <p:cNvPr id="601" name="Google Shape;601;p99"/>
          <p:cNvPicPr preferRelativeResize="0"/>
          <p:nvPr/>
        </p:nvPicPr>
        <p:blipFill>
          <a:blip r:embed="rId6">
            <a:alphaModFix/>
          </a:blip>
          <a:stretch>
            <a:fillRect/>
          </a:stretch>
        </p:blipFill>
        <p:spPr>
          <a:xfrm>
            <a:off x="160025" y="1075880"/>
            <a:ext cx="2839400" cy="3456669"/>
          </a:xfrm>
          <a:prstGeom prst="rect">
            <a:avLst/>
          </a:prstGeom>
          <a:noFill/>
          <a:ln>
            <a:noFill/>
          </a:ln>
        </p:spPr>
      </p:pic>
      <p:sp>
        <p:nvSpPr>
          <p:cNvPr id="602" name="Google Shape;602;p99"/>
          <p:cNvSpPr txBox="1"/>
          <p:nvPr/>
        </p:nvSpPr>
        <p:spPr>
          <a:xfrm>
            <a:off x="61050" y="4606045"/>
            <a:ext cx="3036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Cabin"/>
                <a:ea typeface="Cabin"/>
                <a:cs typeface="Cabin"/>
                <a:sym typeface="Cabin"/>
              </a:rPr>
              <a:t>Scope 1&amp;2 reduction: Completed</a:t>
            </a:r>
            <a:endParaRPr>
              <a:latin typeface="Cabin"/>
              <a:ea typeface="Cabin"/>
              <a:cs typeface="Cabin"/>
              <a:sym typeface="Cabin"/>
            </a:endParaRPr>
          </a:p>
        </p:txBody>
      </p:sp>
      <p:sp>
        <p:nvSpPr>
          <p:cNvPr id="603" name="Google Shape;603;p99"/>
          <p:cNvSpPr txBox="1"/>
          <p:nvPr/>
        </p:nvSpPr>
        <p:spPr>
          <a:xfrm>
            <a:off x="3196175" y="4606045"/>
            <a:ext cx="5847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Cabin"/>
                <a:ea typeface="Cabin"/>
                <a:cs typeface="Cabin"/>
                <a:sym typeface="Cabin"/>
              </a:rPr>
              <a:t>Scope 1&amp;2 inventory toolkit: Completed</a:t>
            </a:r>
            <a:endParaRPr>
              <a:latin typeface="Cabin"/>
              <a:ea typeface="Cabin"/>
              <a:cs typeface="Cabin"/>
              <a:sym typeface="Cabi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100"/>
          <p:cNvSpPr txBox="1">
            <a:spLocks noGrp="1"/>
          </p:cNvSpPr>
          <p:nvPr>
            <p:ph type="title"/>
          </p:nvPr>
        </p:nvSpPr>
        <p:spPr>
          <a:xfrm>
            <a:off x="289150" y="166475"/>
            <a:ext cx="8724900" cy="5067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000"/>
              <a:buNone/>
            </a:pPr>
            <a:r>
              <a:rPr lang="en" sz="2200">
                <a:solidFill>
                  <a:schemeClr val="lt1"/>
                </a:solidFill>
              </a:rPr>
              <a:t>Commercial Champion Bank Collaboration: </a:t>
            </a:r>
            <a:endParaRPr sz="2200">
              <a:solidFill>
                <a:schemeClr val="lt1"/>
              </a:solidFill>
            </a:endParaRPr>
          </a:p>
          <a:p>
            <a:pPr marL="0" lvl="0" indent="0" algn="l" rtl="0">
              <a:lnSpc>
                <a:spcPct val="100000"/>
              </a:lnSpc>
              <a:spcBef>
                <a:spcPts val="0"/>
              </a:spcBef>
              <a:spcAft>
                <a:spcPts val="0"/>
              </a:spcAft>
              <a:buSzPts val="2700"/>
              <a:buNone/>
            </a:pPr>
            <a:r>
              <a:rPr lang="en" sz="2200">
                <a:solidFill>
                  <a:schemeClr val="lt1"/>
                </a:solidFill>
              </a:rPr>
              <a:t>TCB Progress Update - Scope 3 Financed Report and Tool in Progress</a:t>
            </a:r>
            <a:endParaRPr sz="2200">
              <a:solidFill>
                <a:schemeClr val="lt1"/>
              </a:solidFill>
            </a:endParaRPr>
          </a:p>
          <a:p>
            <a:pPr marL="0" lvl="0" indent="0" algn="l" rtl="0">
              <a:lnSpc>
                <a:spcPct val="100000"/>
              </a:lnSpc>
              <a:spcBef>
                <a:spcPts val="0"/>
              </a:spcBef>
              <a:spcAft>
                <a:spcPts val="0"/>
              </a:spcAft>
              <a:buSzPts val="2700"/>
              <a:buNone/>
            </a:pPr>
            <a:endParaRPr sz="2200">
              <a:solidFill>
                <a:schemeClr val="lt1"/>
              </a:solidFill>
            </a:endParaRPr>
          </a:p>
        </p:txBody>
      </p:sp>
      <p:pic>
        <p:nvPicPr>
          <p:cNvPr id="609" name="Google Shape;609;p100"/>
          <p:cNvPicPr preferRelativeResize="0"/>
          <p:nvPr/>
        </p:nvPicPr>
        <p:blipFill>
          <a:blip r:embed="rId3">
            <a:alphaModFix/>
          </a:blip>
          <a:stretch>
            <a:fillRect/>
          </a:stretch>
        </p:blipFill>
        <p:spPr>
          <a:xfrm>
            <a:off x="101300" y="1046988"/>
            <a:ext cx="3135900" cy="3693025"/>
          </a:xfrm>
          <a:prstGeom prst="rect">
            <a:avLst/>
          </a:prstGeom>
          <a:noFill/>
          <a:ln>
            <a:noFill/>
          </a:ln>
        </p:spPr>
      </p:pic>
      <p:pic>
        <p:nvPicPr>
          <p:cNvPr id="610" name="Google Shape;610;p100"/>
          <p:cNvPicPr preferRelativeResize="0"/>
          <p:nvPr/>
        </p:nvPicPr>
        <p:blipFill>
          <a:blip r:embed="rId4">
            <a:alphaModFix/>
          </a:blip>
          <a:stretch>
            <a:fillRect/>
          </a:stretch>
        </p:blipFill>
        <p:spPr>
          <a:xfrm>
            <a:off x="3306050" y="1039014"/>
            <a:ext cx="3135900" cy="3708960"/>
          </a:xfrm>
          <a:prstGeom prst="rect">
            <a:avLst/>
          </a:prstGeom>
          <a:noFill/>
          <a:ln>
            <a:noFill/>
          </a:ln>
        </p:spPr>
      </p:pic>
      <p:pic>
        <p:nvPicPr>
          <p:cNvPr id="611" name="Google Shape;611;p100"/>
          <p:cNvPicPr preferRelativeResize="0"/>
          <p:nvPr/>
        </p:nvPicPr>
        <p:blipFill>
          <a:blip r:embed="rId5">
            <a:alphaModFix/>
          </a:blip>
          <a:stretch>
            <a:fillRect/>
          </a:stretch>
        </p:blipFill>
        <p:spPr>
          <a:xfrm>
            <a:off x="6510799" y="1047000"/>
            <a:ext cx="2581625" cy="1389049"/>
          </a:xfrm>
          <a:prstGeom prst="rect">
            <a:avLst/>
          </a:prstGeom>
          <a:noFill/>
          <a:ln>
            <a:noFill/>
          </a:ln>
        </p:spPr>
      </p:pic>
      <p:sp>
        <p:nvSpPr>
          <p:cNvPr id="612" name="Google Shape;612;p100"/>
          <p:cNvSpPr txBox="1"/>
          <p:nvPr/>
        </p:nvSpPr>
        <p:spPr>
          <a:xfrm>
            <a:off x="61050" y="4736467"/>
            <a:ext cx="3036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Cabin"/>
                <a:ea typeface="Cabin"/>
                <a:cs typeface="Cabin"/>
                <a:sym typeface="Cabin"/>
              </a:rPr>
              <a:t>Scope 3 financed: In progress</a:t>
            </a:r>
            <a:endParaRPr>
              <a:latin typeface="Cabin"/>
              <a:ea typeface="Cabin"/>
              <a:cs typeface="Cabin"/>
              <a:sym typeface="Cabin"/>
            </a:endParaRPr>
          </a:p>
        </p:txBody>
      </p:sp>
      <p:sp>
        <p:nvSpPr>
          <p:cNvPr id="613" name="Google Shape;613;p100"/>
          <p:cNvSpPr txBox="1"/>
          <p:nvPr/>
        </p:nvSpPr>
        <p:spPr>
          <a:xfrm>
            <a:off x="3355700" y="4736467"/>
            <a:ext cx="3036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Cabin"/>
                <a:ea typeface="Cabin"/>
                <a:cs typeface="Cabin"/>
                <a:sym typeface="Cabin"/>
              </a:rPr>
              <a:t>Scope 3 setting target: In progress</a:t>
            </a:r>
            <a:endParaRPr>
              <a:latin typeface="Cabin"/>
              <a:ea typeface="Cabin"/>
              <a:cs typeface="Cabin"/>
              <a:sym typeface="Cabin"/>
            </a:endParaRPr>
          </a:p>
        </p:txBody>
      </p:sp>
      <p:sp>
        <p:nvSpPr>
          <p:cNvPr id="614" name="Google Shape;614;p100"/>
          <p:cNvSpPr txBox="1"/>
          <p:nvPr/>
        </p:nvSpPr>
        <p:spPr>
          <a:xfrm>
            <a:off x="6781575" y="4386675"/>
            <a:ext cx="22326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Cabin"/>
                <a:ea typeface="Cabin"/>
                <a:cs typeface="Cabin"/>
                <a:sym typeface="Cabin"/>
              </a:rPr>
              <a:t>Scope 3 financed database: In progress</a:t>
            </a:r>
            <a:endParaRPr>
              <a:latin typeface="Cabin"/>
              <a:ea typeface="Cabin"/>
              <a:cs typeface="Cabin"/>
              <a:sym typeface="Cabi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618"/>
        <p:cNvGrpSpPr/>
        <p:nvPr/>
      </p:nvGrpSpPr>
      <p:grpSpPr>
        <a:xfrm>
          <a:off x="0" y="0"/>
          <a:ext cx="0" cy="0"/>
          <a:chOff x="0" y="0"/>
          <a:chExt cx="0" cy="0"/>
        </a:xfrm>
      </p:grpSpPr>
      <p:sp>
        <p:nvSpPr>
          <p:cNvPr id="619" name="Google Shape;619;p101"/>
          <p:cNvSpPr txBox="1">
            <a:spLocks noGrp="1"/>
          </p:cNvSpPr>
          <p:nvPr>
            <p:ph type="title"/>
          </p:nvPr>
        </p:nvSpPr>
        <p:spPr>
          <a:xfrm>
            <a:off x="235425" y="135250"/>
            <a:ext cx="7978800" cy="4290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en" sz="2600"/>
              <a:t>Looking Ahead: </a:t>
            </a:r>
            <a:endParaRPr sz="2600"/>
          </a:p>
          <a:p>
            <a:pPr marL="0" lvl="0" indent="0" algn="l" rtl="0">
              <a:spcBef>
                <a:spcPts val="0"/>
              </a:spcBef>
              <a:spcAft>
                <a:spcPts val="0"/>
              </a:spcAft>
              <a:buNone/>
            </a:pPr>
            <a:r>
              <a:rPr lang="en" sz="2600"/>
              <a:t>Proposed 2026 GTB Vietnam Activities</a:t>
            </a:r>
            <a:endParaRPr sz="2600"/>
          </a:p>
        </p:txBody>
      </p:sp>
      <p:sp>
        <p:nvSpPr>
          <p:cNvPr id="620" name="Google Shape;620;p101"/>
          <p:cNvSpPr/>
          <p:nvPr/>
        </p:nvSpPr>
        <p:spPr>
          <a:xfrm>
            <a:off x="319450" y="1173550"/>
            <a:ext cx="8367300" cy="1557000"/>
          </a:xfrm>
          <a:prstGeom prst="round2DiagRect">
            <a:avLst>
              <a:gd name="adj1" fmla="val 16667"/>
              <a:gd name="adj2" fmla="val 0"/>
            </a:avLst>
          </a:prstGeom>
          <a:solidFill>
            <a:srgbClr val="7CD0C8"/>
          </a:solidFill>
          <a:ln>
            <a:noFill/>
          </a:ln>
          <a:effectLst>
            <a:outerShdw blurRad="21431" dist="85725" dir="2580000" algn="bl" rotWithShape="0">
              <a:srgbClr val="155B54">
                <a:alpha val="94510"/>
              </a:srgbClr>
            </a:outerShdw>
          </a:effectLst>
        </p:spPr>
        <p:txBody>
          <a:bodyPr spcFirstLastPara="1" wrap="square" lIns="68575" tIns="68575" rIns="68575" bIns="68575" anchor="ctr" anchorCtr="0">
            <a:noAutofit/>
          </a:bodyPr>
          <a:lstStyle/>
          <a:p>
            <a:pPr marL="0" marR="0" lvl="0" indent="0" algn="l" rtl="0">
              <a:lnSpc>
                <a:spcPct val="90000"/>
              </a:lnSpc>
              <a:spcBef>
                <a:spcPts val="800"/>
              </a:spcBef>
              <a:spcAft>
                <a:spcPts val="0"/>
              </a:spcAft>
              <a:buClr>
                <a:srgbClr val="000000"/>
              </a:buClr>
              <a:buSzPts val="1800"/>
              <a:buFont typeface="Cabin"/>
              <a:buNone/>
            </a:pPr>
            <a:endParaRPr sz="1500" b="0" i="0" u="none" strike="noStrike" cap="none">
              <a:solidFill>
                <a:srgbClr val="000000"/>
              </a:solidFill>
              <a:latin typeface="Cabin"/>
              <a:ea typeface="Cabin"/>
              <a:cs typeface="Cabin"/>
              <a:sym typeface="Cabin"/>
            </a:endParaRPr>
          </a:p>
        </p:txBody>
      </p:sp>
      <p:sp>
        <p:nvSpPr>
          <p:cNvPr id="621" name="Google Shape;621;p101"/>
          <p:cNvSpPr txBox="1">
            <a:spLocks noGrp="1"/>
          </p:cNvSpPr>
          <p:nvPr>
            <p:ph type="body" idx="1"/>
          </p:nvPr>
        </p:nvSpPr>
        <p:spPr>
          <a:xfrm>
            <a:off x="319450" y="3076874"/>
            <a:ext cx="8611500" cy="18681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800"/>
              </a:spcBef>
              <a:spcAft>
                <a:spcPts val="0"/>
              </a:spcAft>
              <a:buClr>
                <a:srgbClr val="000000"/>
              </a:buClr>
              <a:buSzPts val="1800"/>
              <a:buFont typeface="Cabin"/>
              <a:buNone/>
            </a:pPr>
            <a:r>
              <a:rPr lang="en" sz="1500" b="1"/>
              <a:t> Questions and Discussion</a:t>
            </a:r>
            <a:endParaRPr sz="1500" b="1"/>
          </a:p>
          <a:p>
            <a:pPr marL="342900" marR="0" lvl="0" indent="-247650" algn="just" rtl="0">
              <a:lnSpc>
                <a:spcPct val="90000"/>
              </a:lnSpc>
              <a:spcBef>
                <a:spcPts val="800"/>
              </a:spcBef>
              <a:spcAft>
                <a:spcPts val="0"/>
              </a:spcAft>
              <a:buSzPts val="1300"/>
              <a:buChar char="●"/>
            </a:pPr>
            <a:r>
              <a:rPr lang="en" sz="1300"/>
              <a:t>Questions from Tara on our Greening the Banks Vietnam project?</a:t>
            </a:r>
            <a:endParaRPr sz="1300"/>
          </a:p>
          <a:p>
            <a:pPr marL="342900" marR="0" lvl="0" indent="-247650" algn="just" rtl="0">
              <a:lnSpc>
                <a:spcPct val="90000"/>
              </a:lnSpc>
              <a:spcBef>
                <a:spcPts val="800"/>
              </a:spcBef>
              <a:spcAft>
                <a:spcPts val="0"/>
              </a:spcAft>
              <a:buSzPts val="1300"/>
              <a:buChar char="●"/>
            </a:pPr>
            <a:r>
              <a:rPr lang="en" sz="1300"/>
              <a:t>Further insights on Tara’s 2026 requirements and timelines?</a:t>
            </a:r>
            <a:endParaRPr sz="1300"/>
          </a:p>
          <a:p>
            <a:pPr marL="342900" marR="0" lvl="0" indent="-247650" algn="just" rtl="0">
              <a:lnSpc>
                <a:spcPct val="90000"/>
              </a:lnSpc>
              <a:spcBef>
                <a:spcPts val="800"/>
              </a:spcBef>
              <a:spcAft>
                <a:spcPts val="0"/>
              </a:spcAft>
              <a:buSzPts val="1300"/>
              <a:buChar char="●"/>
            </a:pPr>
            <a:r>
              <a:rPr lang="en" sz="1300"/>
              <a:t>Trilateral arrangement between BIDV, Tara and Allotrope timelines?</a:t>
            </a:r>
            <a:endParaRPr sz="1300"/>
          </a:p>
          <a:p>
            <a:pPr marL="342900" marR="0" lvl="0" indent="-247650" algn="just" rtl="0">
              <a:lnSpc>
                <a:spcPct val="90000"/>
              </a:lnSpc>
              <a:spcBef>
                <a:spcPts val="800"/>
              </a:spcBef>
              <a:spcAft>
                <a:spcPts val="0"/>
              </a:spcAft>
              <a:buSzPts val="1300"/>
              <a:buChar char="●"/>
            </a:pPr>
            <a:r>
              <a:rPr lang="en" sz="1300"/>
              <a:t>Consideration for commercial banks instrumental in facilitating energy transition in Vietnam? </a:t>
            </a:r>
            <a:endParaRPr sz="1300"/>
          </a:p>
        </p:txBody>
      </p:sp>
      <p:sp>
        <p:nvSpPr>
          <p:cNvPr id="622" name="Google Shape;622;p101"/>
          <p:cNvSpPr txBox="1">
            <a:spLocks noGrp="1"/>
          </p:cNvSpPr>
          <p:nvPr>
            <p:ph type="body" idx="1"/>
          </p:nvPr>
        </p:nvSpPr>
        <p:spPr>
          <a:xfrm>
            <a:off x="424525" y="1362125"/>
            <a:ext cx="8130300" cy="13683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800"/>
              </a:spcBef>
              <a:spcAft>
                <a:spcPts val="0"/>
              </a:spcAft>
              <a:buClr>
                <a:srgbClr val="000000"/>
              </a:buClr>
              <a:buSzPts val="1800"/>
              <a:buFont typeface="Cabin"/>
              <a:buNone/>
            </a:pPr>
            <a:r>
              <a:rPr lang="en" sz="1500" b="1"/>
              <a:t> Proposed Engagement for 2026: </a:t>
            </a:r>
            <a:endParaRPr sz="1500" b="1"/>
          </a:p>
          <a:p>
            <a:pPr marL="342900" marR="0" lvl="0" indent="-247650" algn="just" rtl="0">
              <a:lnSpc>
                <a:spcPct val="90000"/>
              </a:lnSpc>
              <a:spcBef>
                <a:spcPts val="800"/>
              </a:spcBef>
              <a:spcAft>
                <a:spcPts val="0"/>
              </a:spcAft>
              <a:buSzPts val="1300"/>
              <a:buChar char="●"/>
            </a:pPr>
            <a:r>
              <a:rPr lang="en" sz="1300" b="1"/>
              <a:t>Provide advanced analytics and training for banks on quantifying financed emissions, setting science-based targets, and embedding climate intelligence into core lending decisions  </a:t>
            </a:r>
            <a:endParaRPr sz="1300"/>
          </a:p>
          <a:p>
            <a:pPr marL="342900" marR="0" lvl="0" indent="-247650" algn="just" rtl="0">
              <a:lnSpc>
                <a:spcPct val="90000"/>
              </a:lnSpc>
              <a:spcBef>
                <a:spcPts val="800"/>
              </a:spcBef>
              <a:spcAft>
                <a:spcPts val="0"/>
              </a:spcAft>
              <a:buSzPts val="1300"/>
              <a:buChar char="●"/>
            </a:pPr>
            <a:r>
              <a:rPr lang="en" sz="1300" b="1"/>
              <a:t>Address the market gap by offering hands-on support for relationship managers and product teams on structuring credible and ambitious green and sustainability-linked transactions</a:t>
            </a:r>
            <a:endParaRPr sz="13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626"/>
        <p:cNvGrpSpPr/>
        <p:nvPr/>
      </p:nvGrpSpPr>
      <p:grpSpPr>
        <a:xfrm>
          <a:off x="0" y="0"/>
          <a:ext cx="0" cy="0"/>
          <a:chOff x="0" y="0"/>
          <a:chExt cx="0" cy="0"/>
        </a:xfrm>
      </p:grpSpPr>
      <p:sp>
        <p:nvSpPr>
          <p:cNvPr id="627" name="Google Shape;627;p102"/>
          <p:cNvSpPr txBox="1">
            <a:spLocks noGrp="1"/>
          </p:cNvSpPr>
          <p:nvPr>
            <p:ph type="title"/>
          </p:nvPr>
        </p:nvSpPr>
        <p:spPr>
          <a:xfrm>
            <a:off x="254800" y="270875"/>
            <a:ext cx="7978800" cy="4290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en" sz="2600"/>
              <a:t>Questions and Discussion </a:t>
            </a:r>
            <a:endParaRPr sz="2600"/>
          </a:p>
        </p:txBody>
      </p:sp>
      <p:sp>
        <p:nvSpPr>
          <p:cNvPr id="628" name="Google Shape;628;p102"/>
          <p:cNvSpPr txBox="1">
            <a:spLocks noGrp="1"/>
          </p:cNvSpPr>
          <p:nvPr>
            <p:ph type="body" idx="1"/>
          </p:nvPr>
        </p:nvSpPr>
        <p:spPr>
          <a:xfrm>
            <a:off x="337325" y="1192326"/>
            <a:ext cx="8611500" cy="12351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800"/>
              </a:spcBef>
              <a:spcAft>
                <a:spcPts val="0"/>
              </a:spcAft>
              <a:buClr>
                <a:srgbClr val="000000"/>
              </a:buClr>
              <a:buSzPts val="1800"/>
              <a:buFont typeface="Cabin"/>
              <a:buNone/>
            </a:pPr>
            <a:r>
              <a:rPr lang="en" sz="1500" b="1"/>
              <a:t>Discussion</a:t>
            </a:r>
            <a:endParaRPr sz="1500" b="1"/>
          </a:p>
          <a:p>
            <a:pPr marL="342900" marR="0" lvl="0" indent="-247650" algn="just" rtl="0">
              <a:lnSpc>
                <a:spcPct val="90000"/>
              </a:lnSpc>
              <a:spcBef>
                <a:spcPts val="800"/>
              </a:spcBef>
              <a:spcAft>
                <a:spcPts val="0"/>
              </a:spcAft>
              <a:buSzPts val="1300"/>
              <a:buChar char="●"/>
            </a:pPr>
            <a:r>
              <a:rPr lang="en" sz="1300"/>
              <a:t>Questions from Tara across both projects?</a:t>
            </a:r>
            <a:endParaRPr sz="1300"/>
          </a:p>
          <a:p>
            <a:pPr marL="342900" marR="0" lvl="0" indent="-247650" algn="just" rtl="0">
              <a:lnSpc>
                <a:spcPct val="90000"/>
              </a:lnSpc>
              <a:spcBef>
                <a:spcPts val="800"/>
              </a:spcBef>
              <a:spcAft>
                <a:spcPts val="0"/>
              </a:spcAft>
              <a:buSzPts val="1300"/>
              <a:buChar char="●"/>
            </a:pPr>
            <a:r>
              <a:rPr lang="en" sz="1300"/>
              <a:t>Further insights on Tara’s 2026 requirements and timelines?</a:t>
            </a:r>
            <a:endParaRPr sz="13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E6F4F1"/>
        </a:solidFill>
        <a:effectLst/>
      </p:bgPr>
    </p:bg>
    <p:spTree>
      <p:nvGrpSpPr>
        <p:cNvPr id="1" name="Shape 632"/>
        <p:cNvGrpSpPr/>
        <p:nvPr/>
      </p:nvGrpSpPr>
      <p:grpSpPr>
        <a:xfrm>
          <a:off x="0" y="0"/>
          <a:ext cx="0" cy="0"/>
          <a:chOff x="0" y="0"/>
          <a:chExt cx="0" cy="0"/>
        </a:xfrm>
      </p:grpSpPr>
      <p:sp>
        <p:nvSpPr>
          <p:cNvPr id="633" name="Google Shape;633;p103"/>
          <p:cNvSpPr/>
          <p:nvPr/>
        </p:nvSpPr>
        <p:spPr>
          <a:xfrm>
            <a:off x="65575" y="69625"/>
            <a:ext cx="8991000" cy="9201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17780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FBFBFB"/>
                </a:solidFill>
                <a:latin typeface="Cabin"/>
                <a:ea typeface="Cabin"/>
                <a:cs typeface="Cabin"/>
                <a:sym typeface="Cabin"/>
              </a:rPr>
              <a:t> </a:t>
            </a:r>
            <a:endParaRPr sz="1500" b="1" i="0" u="none" strike="noStrike" cap="none">
              <a:solidFill>
                <a:srgbClr val="FBFBFB"/>
              </a:solidFill>
              <a:latin typeface="Cabin"/>
              <a:ea typeface="Cabin"/>
              <a:cs typeface="Cabin"/>
              <a:sym typeface="Cabin"/>
            </a:endParaRPr>
          </a:p>
        </p:txBody>
      </p:sp>
      <p:sp>
        <p:nvSpPr>
          <p:cNvPr id="634" name="Google Shape;634;p103"/>
          <p:cNvSpPr txBox="1">
            <a:spLocks noGrp="1"/>
          </p:cNvSpPr>
          <p:nvPr>
            <p:ph type="title"/>
          </p:nvPr>
        </p:nvSpPr>
        <p:spPr>
          <a:xfrm>
            <a:off x="202173" y="153865"/>
            <a:ext cx="81885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41667"/>
              <a:buNone/>
            </a:pPr>
            <a:r>
              <a:rPr lang="en" sz="2400" b="1">
                <a:solidFill>
                  <a:schemeClr val="lt1"/>
                </a:solidFill>
                <a:latin typeface="Cabin"/>
                <a:ea typeface="Cabin"/>
                <a:cs typeface="Cabin"/>
                <a:sym typeface="Cabin"/>
              </a:rPr>
              <a:t>State-Owned Champion Bank Collaboration: </a:t>
            </a:r>
            <a:endParaRPr sz="2400" b="1">
              <a:solidFill>
                <a:schemeClr val="lt1"/>
              </a:solidFill>
              <a:latin typeface="Cabin"/>
              <a:ea typeface="Cabin"/>
              <a:cs typeface="Cabin"/>
              <a:sym typeface="Cabin"/>
            </a:endParaRPr>
          </a:p>
          <a:p>
            <a:pPr marL="0" lvl="0" indent="0" algn="l" rtl="0">
              <a:lnSpc>
                <a:spcPct val="100000"/>
              </a:lnSpc>
              <a:spcBef>
                <a:spcPts val="0"/>
              </a:spcBef>
              <a:spcAft>
                <a:spcPts val="0"/>
              </a:spcAft>
              <a:buSzPct val="41667"/>
              <a:buNone/>
            </a:pPr>
            <a:r>
              <a:rPr lang="en" sz="2400" b="1">
                <a:solidFill>
                  <a:schemeClr val="lt1"/>
                </a:solidFill>
                <a:latin typeface="Cabin"/>
                <a:ea typeface="Cabin"/>
                <a:cs typeface="Cabin"/>
                <a:sym typeface="Cabin"/>
              </a:rPr>
              <a:t>BIDV Progress Update - Summary  </a:t>
            </a:r>
            <a:endParaRPr sz="2400" b="1">
              <a:solidFill>
                <a:schemeClr val="lt1"/>
              </a:solidFill>
              <a:latin typeface="Cabin"/>
              <a:ea typeface="Cabin"/>
              <a:cs typeface="Cabin"/>
              <a:sym typeface="Cabin"/>
            </a:endParaRPr>
          </a:p>
        </p:txBody>
      </p:sp>
      <p:sp>
        <p:nvSpPr>
          <p:cNvPr id="635" name="Google Shape;635;p103"/>
          <p:cNvSpPr/>
          <p:nvPr/>
        </p:nvSpPr>
        <p:spPr>
          <a:xfrm>
            <a:off x="310739" y="1274090"/>
            <a:ext cx="598800" cy="543000"/>
          </a:xfrm>
          <a:prstGeom prst="homePlate">
            <a:avLst>
              <a:gd name="adj" fmla="val 50000"/>
            </a:avLst>
          </a:prstGeom>
          <a:solidFill>
            <a:srgbClr val="D3E9E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2700" b="1">
                <a:solidFill>
                  <a:srgbClr val="11665A"/>
                </a:solidFill>
                <a:latin typeface="Cabin"/>
                <a:ea typeface="Cabin"/>
                <a:cs typeface="Cabin"/>
                <a:sym typeface="Cabin"/>
              </a:rPr>
              <a:t>1</a:t>
            </a:r>
            <a:endParaRPr sz="1100"/>
          </a:p>
        </p:txBody>
      </p:sp>
      <p:sp>
        <p:nvSpPr>
          <p:cNvPr id="636" name="Google Shape;636;p103"/>
          <p:cNvSpPr/>
          <p:nvPr/>
        </p:nvSpPr>
        <p:spPr>
          <a:xfrm>
            <a:off x="310739" y="2634403"/>
            <a:ext cx="598800" cy="543000"/>
          </a:xfrm>
          <a:prstGeom prst="homePlate">
            <a:avLst>
              <a:gd name="adj" fmla="val 50000"/>
            </a:avLst>
          </a:prstGeom>
          <a:solidFill>
            <a:srgbClr val="B9DDD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2700" b="1">
                <a:solidFill>
                  <a:srgbClr val="11665A"/>
                </a:solidFill>
                <a:latin typeface="Cabin"/>
                <a:ea typeface="Cabin"/>
                <a:cs typeface="Cabin"/>
                <a:sym typeface="Cabin"/>
              </a:rPr>
              <a:t>2</a:t>
            </a:r>
            <a:endParaRPr sz="1100"/>
          </a:p>
        </p:txBody>
      </p:sp>
      <p:sp>
        <p:nvSpPr>
          <p:cNvPr id="637" name="Google Shape;637;p103"/>
          <p:cNvSpPr/>
          <p:nvPr/>
        </p:nvSpPr>
        <p:spPr>
          <a:xfrm>
            <a:off x="1088708" y="1062989"/>
            <a:ext cx="1662900" cy="1217700"/>
          </a:xfrm>
          <a:prstGeom prst="roundRect">
            <a:avLst>
              <a:gd name="adj" fmla="val 16667"/>
            </a:avLst>
          </a:prstGeom>
          <a:solidFill>
            <a:srgbClr val="D3E9E6"/>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500" b="1">
                <a:solidFill>
                  <a:srgbClr val="1D6E62"/>
                </a:solidFill>
                <a:latin typeface="Cabin"/>
                <a:ea typeface="Cabin"/>
                <a:cs typeface="Cabin"/>
                <a:sym typeface="Cabin"/>
              </a:rPr>
              <a:t>Scope 1, 2 &amp; 3 </a:t>
            </a:r>
            <a:br>
              <a:rPr lang="en" sz="1500" b="1">
                <a:solidFill>
                  <a:srgbClr val="1D6E62"/>
                </a:solidFill>
                <a:latin typeface="Cabin"/>
                <a:ea typeface="Cabin"/>
                <a:cs typeface="Cabin"/>
                <a:sym typeface="Cabin"/>
              </a:rPr>
            </a:br>
            <a:r>
              <a:rPr lang="en" sz="1500" b="1">
                <a:solidFill>
                  <a:srgbClr val="1D6E62"/>
                </a:solidFill>
                <a:latin typeface="Cabin"/>
                <a:ea typeface="Cabin"/>
                <a:cs typeface="Cabin"/>
                <a:sym typeface="Cabin"/>
              </a:rPr>
              <a:t>GHG Inventory Reports</a:t>
            </a:r>
            <a:endParaRPr sz="1100">
              <a:latin typeface="Cabin"/>
              <a:ea typeface="Cabin"/>
              <a:cs typeface="Cabin"/>
              <a:sym typeface="Cabin"/>
            </a:endParaRPr>
          </a:p>
        </p:txBody>
      </p:sp>
      <p:sp>
        <p:nvSpPr>
          <p:cNvPr id="638" name="Google Shape;638;p103"/>
          <p:cNvSpPr/>
          <p:nvPr/>
        </p:nvSpPr>
        <p:spPr>
          <a:xfrm>
            <a:off x="1088700" y="2390275"/>
            <a:ext cx="1662900" cy="2632500"/>
          </a:xfrm>
          <a:prstGeom prst="roundRect">
            <a:avLst>
              <a:gd name="adj" fmla="val 16667"/>
            </a:avLst>
          </a:prstGeom>
          <a:solidFill>
            <a:srgbClr val="B9DDD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400" b="1">
                <a:solidFill>
                  <a:srgbClr val="1D6E62"/>
                </a:solidFill>
                <a:latin typeface="Cabin"/>
                <a:ea typeface="Cabin"/>
                <a:cs typeface="Cabin"/>
                <a:sym typeface="Cabin"/>
              </a:rPr>
              <a:t>Net Zero Roadmap for Scope 1, 2 &amp; 3, and Inventory Toolkits</a:t>
            </a:r>
            <a:endParaRPr sz="1100">
              <a:latin typeface="Cabin"/>
              <a:ea typeface="Cabin"/>
              <a:cs typeface="Cabin"/>
              <a:sym typeface="Cabin"/>
            </a:endParaRPr>
          </a:p>
        </p:txBody>
      </p:sp>
      <p:sp>
        <p:nvSpPr>
          <p:cNvPr id="639" name="Google Shape;639;p103"/>
          <p:cNvSpPr/>
          <p:nvPr/>
        </p:nvSpPr>
        <p:spPr>
          <a:xfrm>
            <a:off x="3023484" y="1084618"/>
            <a:ext cx="2736600" cy="572700"/>
          </a:xfrm>
          <a:prstGeom prst="flowChartAlternateProcess">
            <a:avLst/>
          </a:prstGeom>
          <a:solidFill>
            <a:srgbClr val="D3E9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Scope 3 Non-Financed:</a:t>
            </a:r>
            <a:endParaRPr sz="1100"/>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Completed </a:t>
            </a:r>
            <a:endParaRPr sz="1100" b="0" i="0" u="none" strike="noStrike" cap="none">
              <a:solidFill>
                <a:srgbClr val="000000"/>
              </a:solidFill>
              <a:latin typeface="Cabin"/>
              <a:ea typeface="Cabin"/>
              <a:cs typeface="Cabin"/>
              <a:sym typeface="Cabin"/>
            </a:endParaRPr>
          </a:p>
        </p:txBody>
      </p:sp>
      <p:sp>
        <p:nvSpPr>
          <p:cNvPr id="640" name="Google Shape;640;p103"/>
          <p:cNvSpPr/>
          <p:nvPr/>
        </p:nvSpPr>
        <p:spPr>
          <a:xfrm>
            <a:off x="3023484" y="1766855"/>
            <a:ext cx="2736600" cy="513900"/>
          </a:xfrm>
          <a:prstGeom prst="flowChartAlternateProcess">
            <a:avLst/>
          </a:prstGeom>
          <a:solidFill>
            <a:srgbClr val="D3E9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Scope 3 Financed:</a:t>
            </a:r>
            <a:endParaRPr sz="1100"/>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Finalizing report</a:t>
            </a:r>
            <a:endParaRPr sz="1100" b="0" i="0" u="none" strike="noStrike" cap="none">
              <a:solidFill>
                <a:srgbClr val="000000"/>
              </a:solidFill>
              <a:latin typeface="Cabin"/>
              <a:ea typeface="Cabin"/>
              <a:cs typeface="Cabin"/>
              <a:sym typeface="Cabin"/>
            </a:endParaRPr>
          </a:p>
        </p:txBody>
      </p:sp>
      <p:sp>
        <p:nvSpPr>
          <p:cNvPr id="641" name="Google Shape;641;p103"/>
          <p:cNvSpPr/>
          <p:nvPr/>
        </p:nvSpPr>
        <p:spPr>
          <a:xfrm>
            <a:off x="3023484" y="2390275"/>
            <a:ext cx="2736600" cy="513900"/>
          </a:xfrm>
          <a:prstGeom prst="flowChartAlternateProcess">
            <a:avLst/>
          </a:prstGeom>
          <a:solidFill>
            <a:srgbClr val="B9DD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Scope 1 &amp; 2 reduction:</a:t>
            </a:r>
            <a:endParaRPr sz="1100"/>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Completed</a:t>
            </a:r>
            <a:endParaRPr sz="1100" b="0" i="0" u="none" strike="noStrike" cap="none">
              <a:solidFill>
                <a:srgbClr val="000000"/>
              </a:solidFill>
              <a:latin typeface="Cabin"/>
              <a:ea typeface="Cabin"/>
              <a:cs typeface="Cabin"/>
              <a:sym typeface="Cabin"/>
            </a:endParaRPr>
          </a:p>
        </p:txBody>
      </p:sp>
      <p:sp>
        <p:nvSpPr>
          <p:cNvPr id="642" name="Google Shape;642;p103"/>
          <p:cNvSpPr/>
          <p:nvPr/>
        </p:nvSpPr>
        <p:spPr>
          <a:xfrm>
            <a:off x="3023475" y="3013700"/>
            <a:ext cx="2736600" cy="773400"/>
          </a:xfrm>
          <a:prstGeom prst="flowChartAlternateProcess">
            <a:avLst/>
          </a:prstGeom>
          <a:solidFill>
            <a:srgbClr val="B9DD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Scope 3 Non-Financed:</a:t>
            </a:r>
            <a:endParaRPr sz="1100"/>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Data missing for evaluation in 13 of the remaining 14 categories because BIDV has not yet collected the data.</a:t>
            </a:r>
            <a:endParaRPr sz="1100" b="0" i="0" u="none" strike="noStrike" cap="none">
              <a:solidFill>
                <a:srgbClr val="000000"/>
              </a:solidFill>
              <a:latin typeface="Cabin"/>
              <a:ea typeface="Cabin"/>
              <a:cs typeface="Cabin"/>
              <a:sym typeface="Cabin"/>
            </a:endParaRPr>
          </a:p>
        </p:txBody>
      </p:sp>
      <p:sp>
        <p:nvSpPr>
          <p:cNvPr id="643" name="Google Shape;643;p103"/>
          <p:cNvSpPr/>
          <p:nvPr/>
        </p:nvSpPr>
        <p:spPr>
          <a:xfrm>
            <a:off x="3023525" y="3891525"/>
            <a:ext cx="2736600" cy="709200"/>
          </a:xfrm>
          <a:prstGeom prst="flowChartAlternateProcess">
            <a:avLst/>
          </a:prstGeom>
          <a:solidFill>
            <a:srgbClr val="B9DD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Scope 3 Financed:</a:t>
            </a:r>
            <a:endParaRPr sz="1100"/>
          </a:p>
          <a:p>
            <a:pPr marL="0" lvl="0" indent="0" algn="l" rtl="0">
              <a:spcBef>
                <a:spcPts val="0"/>
              </a:spcBef>
              <a:spcAft>
                <a:spcPts val="0"/>
              </a:spcAft>
              <a:buClr>
                <a:schemeClr val="dk1"/>
              </a:buClr>
              <a:buSzPts val="1100"/>
              <a:buFont typeface="Arial"/>
              <a:buNone/>
            </a:pPr>
            <a:r>
              <a:rPr lang="en" sz="1100">
                <a:solidFill>
                  <a:schemeClr val="dk1"/>
                </a:solidFill>
                <a:latin typeface="Cabin"/>
                <a:ea typeface="Cabin"/>
                <a:cs typeface="Cabin"/>
                <a:sym typeface="Cabin"/>
              </a:rPr>
              <a:t>Finalizing report</a:t>
            </a:r>
            <a:endParaRPr sz="1100"/>
          </a:p>
        </p:txBody>
      </p:sp>
      <p:sp>
        <p:nvSpPr>
          <p:cNvPr id="644" name="Google Shape;644;p103"/>
          <p:cNvSpPr/>
          <p:nvPr/>
        </p:nvSpPr>
        <p:spPr>
          <a:xfrm>
            <a:off x="6032062" y="1766855"/>
            <a:ext cx="2883300" cy="513900"/>
          </a:xfrm>
          <a:prstGeom prst="flowChartAlternateProcess">
            <a:avLst/>
          </a:prstGeom>
          <a:solidFill>
            <a:srgbClr val="D3E9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Scope 3 Financed:</a:t>
            </a:r>
            <a:endParaRPr sz="1100"/>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The report is expected to be submitted to BIDV in December 2025</a:t>
            </a:r>
            <a:endParaRPr sz="1100" b="0" i="0" u="none" strike="noStrike" cap="none">
              <a:solidFill>
                <a:srgbClr val="000000"/>
              </a:solidFill>
              <a:latin typeface="Cabin"/>
              <a:ea typeface="Cabin"/>
              <a:cs typeface="Cabin"/>
              <a:sym typeface="Cabin"/>
            </a:endParaRPr>
          </a:p>
        </p:txBody>
      </p:sp>
      <p:sp>
        <p:nvSpPr>
          <p:cNvPr id="645" name="Google Shape;645;p103"/>
          <p:cNvSpPr/>
          <p:nvPr/>
        </p:nvSpPr>
        <p:spPr>
          <a:xfrm>
            <a:off x="6032062" y="2390275"/>
            <a:ext cx="2855100" cy="513900"/>
          </a:xfrm>
          <a:prstGeom prst="flowChartAlternateProcess">
            <a:avLst/>
          </a:prstGeom>
          <a:solidFill>
            <a:srgbClr val="B9DD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Scope 1 &amp; 2:</a:t>
            </a:r>
            <a:endParaRPr sz="1100"/>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Waiting for a response from BIDV</a:t>
            </a:r>
            <a:endParaRPr sz="1100" b="0" i="0" u="none" strike="noStrike" cap="none">
              <a:solidFill>
                <a:srgbClr val="000000"/>
              </a:solidFill>
              <a:latin typeface="Cabin"/>
              <a:ea typeface="Cabin"/>
              <a:cs typeface="Cabin"/>
              <a:sym typeface="Cabin"/>
            </a:endParaRPr>
          </a:p>
        </p:txBody>
      </p:sp>
      <p:sp>
        <p:nvSpPr>
          <p:cNvPr id="646" name="Google Shape;646;p103"/>
          <p:cNvSpPr/>
          <p:nvPr/>
        </p:nvSpPr>
        <p:spPr>
          <a:xfrm>
            <a:off x="6032050" y="3013700"/>
            <a:ext cx="2883300" cy="773400"/>
          </a:xfrm>
          <a:prstGeom prst="flowChartAlternateProcess">
            <a:avLst/>
          </a:prstGeom>
          <a:solidFill>
            <a:srgbClr val="B9DD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Scope 3 Non-Financed:</a:t>
            </a:r>
            <a:endParaRPr sz="1100"/>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BIDV proposes transferring this report to the Report on Proposed Methods for Collecting Other Key Categories for 2026</a:t>
            </a:r>
            <a:endParaRPr sz="1100" b="0" i="0" u="none" strike="noStrike" cap="none">
              <a:solidFill>
                <a:srgbClr val="000000"/>
              </a:solidFill>
              <a:latin typeface="Cabin"/>
              <a:ea typeface="Cabin"/>
              <a:cs typeface="Cabin"/>
              <a:sym typeface="Cabin"/>
            </a:endParaRPr>
          </a:p>
        </p:txBody>
      </p:sp>
      <p:sp>
        <p:nvSpPr>
          <p:cNvPr id="647" name="Google Shape;647;p103"/>
          <p:cNvSpPr/>
          <p:nvPr/>
        </p:nvSpPr>
        <p:spPr>
          <a:xfrm>
            <a:off x="6032050" y="3891525"/>
            <a:ext cx="2883300" cy="709200"/>
          </a:xfrm>
          <a:prstGeom prst="flowChartAlternateProcess">
            <a:avLst/>
          </a:prstGeom>
          <a:solidFill>
            <a:srgbClr val="B9DD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Scope 3 Non-Financed:</a:t>
            </a:r>
            <a:endParaRPr sz="1100"/>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After receiving feedback from the inventory report, the roadmap report will be finalized.</a:t>
            </a:r>
            <a:endParaRPr sz="1100"/>
          </a:p>
        </p:txBody>
      </p:sp>
      <p:sp>
        <p:nvSpPr>
          <p:cNvPr id="648" name="Google Shape;648;p103"/>
          <p:cNvSpPr/>
          <p:nvPr/>
        </p:nvSpPr>
        <p:spPr>
          <a:xfrm>
            <a:off x="3023475" y="4705150"/>
            <a:ext cx="2736600" cy="317700"/>
          </a:xfrm>
          <a:prstGeom prst="flowChartAlternateProcess">
            <a:avLst/>
          </a:prstGeom>
          <a:solidFill>
            <a:srgbClr val="B9DDD8"/>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a:latin typeface="Cabin"/>
                <a:ea typeface="Cabin"/>
                <a:cs typeface="Cabin"/>
                <a:sym typeface="Cabin"/>
              </a:rPr>
              <a:t>Toolkits: 2 of 3 completed</a:t>
            </a:r>
            <a:endParaRPr sz="1100">
              <a:latin typeface="Cabin"/>
              <a:ea typeface="Cabin"/>
              <a:cs typeface="Cabin"/>
              <a:sym typeface="Cabin"/>
            </a:endParaRPr>
          </a:p>
        </p:txBody>
      </p:sp>
      <p:pic>
        <p:nvPicPr>
          <p:cNvPr id="649" name="Google Shape;649;p103"/>
          <p:cNvPicPr preferRelativeResize="0"/>
          <p:nvPr/>
        </p:nvPicPr>
        <p:blipFill rotWithShape="1">
          <a:blip r:embed="rId3">
            <a:alphaModFix/>
          </a:blip>
          <a:srcRect/>
          <a:stretch/>
        </p:blipFill>
        <p:spPr>
          <a:xfrm>
            <a:off x="7748099" y="52326"/>
            <a:ext cx="1243600" cy="431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E6F4F1"/>
        </a:solidFill>
        <a:effectLst/>
      </p:bgPr>
    </p:bg>
    <p:spTree>
      <p:nvGrpSpPr>
        <p:cNvPr id="1" name="Shape 653"/>
        <p:cNvGrpSpPr/>
        <p:nvPr/>
      </p:nvGrpSpPr>
      <p:grpSpPr>
        <a:xfrm>
          <a:off x="0" y="0"/>
          <a:ext cx="0" cy="0"/>
          <a:chOff x="0" y="0"/>
          <a:chExt cx="0" cy="0"/>
        </a:xfrm>
      </p:grpSpPr>
      <p:sp>
        <p:nvSpPr>
          <p:cNvPr id="654" name="Google Shape;654;p104"/>
          <p:cNvSpPr/>
          <p:nvPr/>
        </p:nvSpPr>
        <p:spPr>
          <a:xfrm>
            <a:off x="65575" y="69625"/>
            <a:ext cx="8991000" cy="9201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17780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FBFBFB"/>
                </a:solidFill>
                <a:latin typeface="Cabin"/>
                <a:ea typeface="Cabin"/>
                <a:cs typeface="Cabin"/>
                <a:sym typeface="Cabin"/>
              </a:rPr>
              <a:t> </a:t>
            </a:r>
            <a:endParaRPr sz="1500" b="1" i="0" u="none" strike="noStrike" cap="none">
              <a:solidFill>
                <a:srgbClr val="FBFBFB"/>
              </a:solidFill>
              <a:latin typeface="Cabin"/>
              <a:ea typeface="Cabin"/>
              <a:cs typeface="Cabin"/>
              <a:sym typeface="Cabin"/>
            </a:endParaRPr>
          </a:p>
        </p:txBody>
      </p:sp>
      <p:sp>
        <p:nvSpPr>
          <p:cNvPr id="655" name="Google Shape;655;p104"/>
          <p:cNvSpPr txBox="1">
            <a:spLocks noGrp="1"/>
          </p:cNvSpPr>
          <p:nvPr>
            <p:ph type="title"/>
          </p:nvPr>
        </p:nvSpPr>
        <p:spPr>
          <a:xfrm>
            <a:off x="323150" y="164122"/>
            <a:ext cx="8188500" cy="572700"/>
          </a:xfrm>
          <a:prstGeom prst="rect">
            <a:avLst/>
          </a:prstGeom>
          <a:noFill/>
          <a:ln>
            <a:noFill/>
          </a:ln>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41667"/>
              <a:buFont typeface="Arial"/>
              <a:buNone/>
            </a:pPr>
            <a:r>
              <a:rPr lang="en" sz="2400" b="1">
                <a:solidFill>
                  <a:schemeClr val="lt1"/>
                </a:solidFill>
                <a:latin typeface="Cabin"/>
                <a:ea typeface="Cabin"/>
                <a:cs typeface="Cabin"/>
                <a:sym typeface="Cabin"/>
              </a:rPr>
              <a:t>Commercial Champion Bank Collaboration: </a:t>
            </a:r>
            <a:endParaRPr sz="2400" b="1">
              <a:solidFill>
                <a:schemeClr val="lt1"/>
              </a:solidFill>
              <a:latin typeface="Cabin"/>
              <a:ea typeface="Cabin"/>
              <a:cs typeface="Cabin"/>
              <a:sym typeface="Cabin"/>
            </a:endParaRPr>
          </a:p>
          <a:p>
            <a:pPr marL="0" lvl="0" indent="0" algn="l" rtl="0">
              <a:spcBef>
                <a:spcPts val="0"/>
              </a:spcBef>
              <a:spcAft>
                <a:spcPts val="0"/>
              </a:spcAft>
              <a:buClr>
                <a:schemeClr val="dk1"/>
              </a:buClr>
              <a:buSzPct val="41667"/>
              <a:buFont typeface="Arial"/>
              <a:buNone/>
            </a:pPr>
            <a:r>
              <a:rPr lang="en" sz="2400" b="1">
                <a:solidFill>
                  <a:schemeClr val="lt1"/>
                </a:solidFill>
                <a:latin typeface="Cabin"/>
                <a:ea typeface="Cabin"/>
                <a:cs typeface="Cabin"/>
                <a:sym typeface="Cabin"/>
              </a:rPr>
              <a:t>TCB Progress Update - Summary  </a:t>
            </a:r>
            <a:endParaRPr sz="2400" b="1">
              <a:solidFill>
                <a:schemeClr val="lt1"/>
              </a:solidFill>
              <a:latin typeface="Cabin"/>
              <a:ea typeface="Cabin"/>
              <a:cs typeface="Cabin"/>
              <a:sym typeface="Cabin"/>
            </a:endParaRPr>
          </a:p>
          <a:p>
            <a:pPr marL="0" lvl="0" indent="0" algn="l" rtl="0">
              <a:lnSpc>
                <a:spcPct val="100000"/>
              </a:lnSpc>
              <a:spcBef>
                <a:spcPts val="0"/>
              </a:spcBef>
              <a:spcAft>
                <a:spcPts val="0"/>
              </a:spcAft>
              <a:buSzPct val="41667"/>
              <a:buNone/>
            </a:pPr>
            <a:endParaRPr sz="2400" b="1">
              <a:solidFill>
                <a:schemeClr val="lt1"/>
              </a:solidFill>
              <a:latin typeface="Cabin"/>
              <a:ea typeface="Cabin"/>
              <a:cs typeface="Cabin"/>
              <a:sym typeface="Cabin"/>
            </a:endParaRPr>
          </a:p>
        </p:txBody>
      </p:sp>
      <p:grpSp>
        <p:nvGrpSpPr>
          <p:cNvPr id="656" name="Google Shape;656;p104"/>
          <p:cNvGrpSpPr/>
          <p:nvPr/>
        </p:nvGrpSpPr>
        <p:grpSpPr>
          <a:xfrm>
            <a:off x="385164" y="3655502"/>
            <a:ext cx="2853102" cy="1209059"/>
            <a:chOff x="1593000" y="2322568"/>
            <a:chExt cx="2939827" cy="643356"/>
          </a:xfrm>
        </p:grpSpPr>
        <p:sp>
          <p:nvSpPr>
            <p:cNvPr id="657" name="Google Shape;657;p104"/>
            <p:cNvSpPr/>
            <p:nvPr/>
          </p:nvSpPr>
          <p:spPr>
            <a:xfrm flipH="1">
              <a:off x="2283025" y="2322575"/>
              <a:ext cx="1844400" cy="642600"/>
            </a:xfrm>
            <a:prstGeom prst="rect">
              <a:avLst/>
            </a:prstGeom>
            <a:solidFill>
              <a:srgbClr val="1B7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58" name="Google Shape;658;p104"/>
            <p:cNvSpPr/>
            <p:nvPr/>
          </p:nvSpPr>
          <p:spPr>
            <a:xfrm rot="-5400000">
              <a:off x="3501574" y="1934671"/>
              <a:ext cx="643356" cy="1419149"/>
            </a:xfrm>
            <a:prstGeom prst="flowChartOffpageConnector">
              <a:avLst/>
            </a:prstGeom>
            <a:solidFill>
              <a:srgbClr val="1B7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59" name="Google Shape;659;p104"/>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300"/>
                <a:buFont typeface="Arial"/>
                <a:buNone/>
              </a:pPr>
              <a:r>
                <a:rPr lang="en" sz="1300" b="0" i="0" u="none" strike="noStrike" cap="none">
                  <a:solidFill>
                    <a:srgbClr val="FFFFFF"/>
                  </a:solidFill>
                  <a:latin typeface="Cabin Medium"/>
                  <a:ea typeface="Cabin Medium"/>
                  <a:cs typeface="Cabin Medium"/>
                  <a:sym typeface="Cabin Medium"/>
                </a:rPr>
                <a:t>Potential of financed emission</a:t>
              </a:r>
              <a:endParaRPr sz="1300" b="0" i="0" u="none" strike="noStrike" cap="none">
                <a:solidFill>
                  <a:srgbClr val="FFFFFF"/>
                </a:solidFill>
                <a:latin typeface="Cabin Medium"/>
                <a:ea typeface="Cabin Medium"/>
                <a:cs typeface="Cabin Medium"/>
                <a:sym typeface="Cabin Medium"/>
              </a:endParaRPr>
            </a:p>
            <a:p>
              <a:pPr marL="0" marR="0" lvl="0" indent="0" algn="l" rtl="0">
                <a:lnSpc>
                  <a:spcPct val="115000"/>
                </a:lnSpc>
                <a:spcBef>
                  <a:spcPts val="0"/>
                </a:spcBef>
                <a:spcAft>
                  <a:spcPts val="0"/>
                </a:spcAft>
                <a:buClr>
                  <a:srgbClr val="000000"/>
                </a:buClr>
                <a:buSzPts val="1300"/>
                <a:buFont typeface="Arial"/>
                <a:buNone/>
              </a:pPr>
              <a:r>
                <a:rPr lang="en" sz="1300" b="0" i="0" u="none" strike="noStrike" cap="none">
                  <a:solidFill>
                    <a:srgbClr val="FFFFFF"/>
                  </a:solidFill>
                  <a:latin typeface="Cabin Medium"/>
                  <a:ea typeface="Cabin Medium"/>
                  <a:cs typeface="Cabin Medium"/>
                  <a:sym typeface="Cabin Medium"/>
                </a:rPr>
                <a:t>disclosure and target</a:t>
              </a:r>
              <a:endParaRPr sz="1300" b="0" i="0" u="none" strike="noStrike" cap="none">
                <a:solidFill>
                  <a:srgbClr val="FFFFFF"/>
                </a:solidFill>
                <a:latin typeface="Cabin Medium"/>
                <a:ea typeface="Cabin Medium"/>
                <a:cs typeface="Cabin Medium"/>
                <a:sym typeface="Cabin Medium"/>
              </a:endParaRPr>
            </a:p>
            <a:p>
              <a:pPr marL="0" marR="0" lvl="0" indent="0" algn="l" rtl="0">
                <a:lnSpc>
                  <a:spcPct val="115000"/>
                </a:lnSpc>
                <a:spcBef>
                  <a:spcPts val="0"/>
                </a:spcBef>
                <a:spcAft>
                  <a:spcPts val="0"/>
                </a:spcAft>
                <a:buClr>
                  <a:srgbClr val="000000"/>
                </a:buClr>
                <a:buSzPts val="1300"/>
                <a:buFont typeface="Arial"/>
                <a:buNone/>
              </a:pPr>
              <a:r>
                <a:rPr lang="en" sz="1300" b="0" i="0" u="none" strike="noStrike" cap="none">
                  <a:solidFill>
                    <a:srgbClr val="FFFFFF"/>
                  </a:solidFill>
                  <a:latin typeface="Cabin Medium"/>
                  <a:ea typeface="Cabin Medium"/>
                  <a:cs typeface="Cabin Medium"/>
                  <a:sym typeface="Cabin Medium"/>
                </a:rPr>
                <a:t>setting bodies</a:t>
              </a:r>
              <a:endParaRPr sz="1300" b="0" i="0" u="none" strike="noStrike" cap="none">
                <a:solidFill>
                  <a:srgbClr val="FFFFFF"/>
                </a:solidFill>
                <a:latin typeface="Cabin Medium"/>
                <a:ea typeface="Cabin Medium"/>
                <a:cs typeface="Cabin Medium"/>
                <a:sym typeface="Cabin Medium"/>
              </a:endParaRPr>
            </a:p>
          </p:txBody>
        </p:sp>
        <p:sp>
          <p:nvSpPr>
            <p:cNvPr id="660" name="Google Shape;660;p104"/>
            <p:cNvSpPr/>
            <p:nvPr/>
          </p:nvSpPr>
          <p:spPr>
            <a:xfrm>
              <a:off x="1593000" y="2322568"/>
              <a:ext cx="690000" cy="642300"/>
            </a:xfrm>
            <a:prstGeom prst="rect">
              <a:avLst/>
            </a:prstGeom>
            <a:solidFill>
              <a:srgbClr val="1D7E75"/>
            </a:solidFill>
            <a:ln>
              <a:noFill/>
            </a:ln>
            <a:effectLst>
              <a:outerShdw blurRad="71438" dist="28575" dir="2700000" algn="bl" rotWithShape="0">
                <a:srgbClr val="000000">
                  <a:alpha val="168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61" name="Google Shape;661;p104"/>
            <p:cNvSpPr/>
            <p:nvPr/>
          </p:nvSpPr>
          <p:spPr>
            <a:xfrm>
              <a:off x="1593000" y="2322575"/>
              <a:ext cx="690000" cy="642600"/>
            </a:xfrm>
            <a:prstGeom prst="rect">
              <a:avLst/>
            </a:prstGeom>
            <a:solidFill>
              <a:srgbClr val="1F88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 sz="2600" b="0" i="0" u="none" strike="noStrike" cap="none">
                  <a:solidFill>
                    <a:srgbClr val="FFFFFF"/>
                  </a:solidFill>
                  <a:latin typeface="Roboto Thin"/>
                  <a:ea typeface="Roboto Thin"/>
                  <a:cs typeface="Roboto Thin"/>
                  <a:sym typeface="Roboto Thin"/>
                </a:rPr>
                <a:t>03</a:t>
              </a:r>
              <a:endParaRPr sz="2600" b="0" i="0" u="none" strike="noStrike" cap="none">
                <a:solidFill>
                  <a:srgbClr val="FFFFFF"/>
                </a:solidFill>
                <a:latin typeface="Roboto Thin"/>
                <a:ea typeface="Roboto Thin"/>
                <a:cs typeface="Roboto Thin"/>
                <a:sym typeface="Roboto Thin"/>
              </a:endParaRPr>
            </a:p>
          </p:txBody>
        </p:sp>
      </p:grpSp>
      <p:grpSp>
        <p:nvGrpSpPr>
          <p:cNvPr id="662" name="Google Shape;662;p104"/>
          <p:cNvGrpSpPr/>
          <p:nvPr/>
        </p:nvGrpSpPr>
        <p:grpSpPr>
          <a:xfrm>
            <a:off x="385165" y="1193196"/>
            <a:ext cx="2853102" cy="1209059"/>
            <a:chOff x="1593000" y="2322568"/>
            <a:chExt cx="2939827" cy="643356"/>
          </a:xfrm>
        </p:grpSpPr>
        <p:sp>
          <p:nvSpPr>
            <p:cNvPr id="663" name="Google Shape;663;p104"/>
            <p:cNvSpPr/>
            <p:nvPr/>
          </p:nvSpPr>
          <p:spPr>
            <a:xfrm flipH="1">
              <a:off x="2283025" y="2322575"/>
              <a:ext cx="1844400" cy="642600"/>
            </a:xfrm>
            <a:prstGeom prst="rect">
              <a:avLst/>
            </a:prstGeom>
            <a:solidFill>
              <a:srgbClr val="1B7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64" name="Google Shape;664;p104"/>
            <p:cNvSpPr/>
            <p:nvPr/>
          </p:nvSpPr>
          <p:spPr>
            <a:xfrm rot="-5400000">
              <a:off x="3501574" y="1934671"/>
              <a:ext cx="643356" cy="1419149"/>
            </a:xfrm>
            <a:prstGeom prst="flowChartOffpageConnector">
              <a:avLst/>
            </a:prstGeom>
            <a:solidFill>
              <a:srgbClr val="1B7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65" name="Google Shape;665;p104"/>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 sz="1400" b="0" i="0" u="none" strike="noStrike" cap="none">
                  <a:solidFill>
                    <a:srgbClr val="FFFFFF"/>
                  </a:solidFill>
                  <a:latin typeface="Cabin Medium"/>
                  <a:ea typeface="Cabin Medium"/>
                  <a:cs typeface="Cabin Medium"/>
                  <a:sym typeface="Cabin Medium"/>
                </a:rPr>
                <a:t>Updated report assessing</a:t>
              </a:r>
              <a:endParaRPr sz="1400" b="0" i="0" u="none" strike="noStrike" cap="none">
                <a:solidFill>
                  <a:srgbClr val="FFFFFF"/>
                </a:solidFill>
                <a:latin typeface="Cabin Medium"/>
                <a:ea typeface="Cabin Medium"/>
                <a:cs typeface="Cabin Medium"/>
                <a:sym typeface="Cabin Medium"/>
              </a:endParaRPr>
            </a:p>
            <a:p>
              <a:pPr marL="0" marR="0" lvl="0" indent="0" algn="l" rtl="0">
                <a:lnSpc>
                  <a:spcPct val="115000"/>
                </a:lnSpc>
                <a:spcBef>
                  <a:spcPts val="0"/>
                </a:spcBef>
                <a:spcAft>
                  <a:spcPts val="0"/>
                </a:spcAft>
                <a:buClr>
                  <a:srgbClr val="000000"/>
                </a:buClr>
                <a:buSzPts val="1400"/>
                <a:buFont typeface="Arial"/>
                <a:buNone/>
              </a:pPr>
              <a:r>
                <a:rPr lang="en" sz="1400" b="0" i="0" u="none" strike="noStrike" cap="none">
                  <a:solidFill>
                    <a:srgbClr val="FFFFFF"/>
                  </a:solidFill>
                  <a:latin typeface="Cabin Medium"/>
                  <a:ea typeface="Cabin Medium"/>
                  <a:cs typeface="Cabin Medium"/>
                  <a:sym typeface="Cabin Medium"/>
                </a:rPr>
                <a:t>Techcombank ’s scope 1; 2 emissions</a:t>
              </a:r>
              <a:endParaRPr sz="1400" b="0" i="0" u="none" strike="noStrike" cap="none">
                <a:solidFill>
                  <a:srgbClr val="FFFFFF"/>
                </a:solidFill>
                <a:latin typeface="Cabin Medium"/>
                <a:ea typeface="Cabin Medium"/>
                <a:cs typeface="Cabin Medium"/>
                <a:sym typeface="Cabin Medium"/>
              </a:endParaRPr>
            </a:p>
          </p:txBody>
        </p:sp>
        <p:sp>
          <p:nvSpPr>
            <p:cNvPr id="666" name="Google Shape;666;p104"/>
            <p:cNvSpPr/>
            <p:nvPr/>
          </p:nvSpPr>
          <p:spPr>
            <a:xfrm>
              <a:off x="1593000" y="2322568"/>
              <a:ext cx="690000" cy="642300"/>
            </a:xfrm>
            <a:prstGeom prst="rect">
              <a:avLst/>
            </a:prstGeom>
            <a:solidFill>
              <a:srgbClr val="1D7E75"/>
            </a:solidFill>
            <a:ln>
              <a:noFill/>
            </a:ln>
            <a:effectLst>
              <a:outerShdw blurRad="71438" dist="28575" dir="2700000" algn="bl" rotWithShape="0">
                <a:srgbClr val="000000">
                  <a:alpha val="168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67" name="Google Shape;667;p104"/>
            <p:cNvSpPr/>
            <p:nvPr/>
          </p:nvSpPr>
          <p:spPr>
            <a:xfrm>
              <a:off x="1593000" y="2322575"/>
              <a:ext cx="690000" cy="642600"/>
            </a:xfrm>
            <a:prstGeom prst="rect">
              <a:avLst/>
            </a:prstGeom>
            <a:solidFill>
              <a:srgbClr val="1F88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 sz="2600" b="0" i="0" u="none" strike="noStrike" cap="none">
                  <a:solidFill>
                    <a:srgbClr val="FFFFFF"/>
                  </a:solidFill>
                  <a:latin typeface="Roboto Thin"/>
                  <a:ea typeface="Roboto Thin"/>
                  <a:cs typeface="Roboto Thin"/>
                  <a:sym typeface="Roboto Thin"/>
                </a:rPr>
                <a:t>01</a:t>
              </a:r>
              <a:endParaRPr sz="2600" b="0" i="0" u="none" strike="noStrike" cap="none">
                <a:solidFill>
                  <a:srgbClr val="FFFFFF"/>
                </a:solidFill>
                <a:latin typeface="Roboto Thin"/>
                <a:ea typeface="Roboto Thin"/>
                <a:cs typeface="Roboto Thin"/>
                <a:sym typeface="Roboto Thin"/>
              </a:endParaRPr>
            </a:p>
          </p:txBody>
        </p:sp>
      </p:grpSp>
      <p:grpSp>
        <p:nvGrpSpPr>
          <p:cNvPr id="668" name="Google Shape;668;p104"/>
          <p:cNvGrpSpPr/>
          <p:nvPr/>
        </p:nvGrpSpPr>
        <p:grpSpPr>
          <a:xfrm>
            <a:off x="385173" y="2424359"/>
            <a:ext cx="2853102" cy="1209059"/>
            <a:chOff x="1593000" y="2322568"/>
            <a:chExt cx="2939827" cy="643356"/>
          </a:xfrm>
        </p:grpSpPr>
        <p:sp>
          <p:nvSpPr>
            <p:cNvPr id="669" name="Google Shape;669;p104"/>
            <p:cNvSpPr/>
            <p:nvPr/>
          </p:nvSpPr>
          <p:spPr>
            <a:xfrm flipH="1">
              <a:off x="2283025" y="2322575"/>
              <a:ext cx="1844400" cy="642600"/>
            </a:xfrm>
            <a:prstGeom prst="rect">
              <a:avLst/>
            </a:prstGeom>
            <a:solidFill>
              <a:srgbClr val="1B7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70" name="Google Shape;670;p104"/>
            <p:cNvSpPr/>
            <p:nvPr/>
          </p:nvSpPr>
          <p:spPr>
            <a:xfrm rot="-5400000">
              <a:off x="3501574" y="1934671"/>
              <a:ext cx="643356" cy="1419149"/>
            </a:xfrm>
            <a:prstGeom prst="flowChartOffpageConnector">
              <a:avLst/>
            </a:prstGeom>
            <a:solidFill>
              <a:srgbClr val="1B7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71" name="Google Shape;671;p104"/>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300"/>
                <a:buFont typeface="Arial"/>
                <a:buNone/>
              </a:pPr>
              <a:r>
                <a:rPr lang="en" sz="1300" b="0" i="0" u="none" strike="noStrike" cap="none">
                  <a:solidFill>
                    <a:srgbClr val="FFFFFF"/>
                  </a:solidFill>
                  <a:latin typeface="Cabin Medium"/>
                  <a:ea typeface="Cabin Medium"/>
                  <a:cs typeface="Cabin Medium"/>
                  <a:sym typeface="Cabin Medium"/>
                </a:rPr>
                <a:t>Estimation of</a:t>
              </a:r>
              <a:endParaRPr sz="1300" b="0" i="0" u="none" strike="noStrike" cap="none">
                <a:solidFill>
                  <a:srgbClr val="FFFFFF"/>
                </a:solidFill>
                <a:latin typeface="Cabin Medium"/>
                <a:ea typeface="Cabin Medium"/>
                <a:cs typeface="Cabin Medium"/>
                <a:sym typeface="Cabin Medium"/>
              </a:endParaRPr>
            </a:p>
            <a:p>
              <a:pPr marL="0" marR="0" lvl="0" indent="0" algn="l" rtl="0">
                <a:lnSpc>
                  <a:spcPct val="115000"/>
                </a:lnSpc>
                <a:spcBef>
                  <a:spcPts val="0"/>
                </a:spcBef>
                <a:spcAft>
                  <a:spcPts val="0"/>
                </a:spcAft>
                <a:buClr>
                  <a:srgbClr val="000000"/>
                </a:buClr>
                <a:buSzPts val="1300"/>
                <a:buFont typeface="Arial"/>
                <a:buNone/>
              </a:pPr>
              <a:r>
                <a:rPr lang="en" sz="1300" b="0" i="0" u="none" strike="noStrike" cap="none">
                  <a:solidFill>
                    <a:srgbClr val="FFFFFF"/>
                  </a:solidFill>
                  <a:latin typeface="Cabin Medium"/>
                  <a:ea typeface="Cabin Medium"/>
                  <a:cs typeface="Cabin Medium"/>
                  <a:sym typeface="Cabin Medium"/>
                </a:rPr>
                <a:t>Techcombank’ financed</a:t>
              </a:r>
              <a:endParaRPr sz="1300" b="0" i="0" u="none" strike="noStrike" cap="none">
                <a:solidFill>
                  <a:srgbClr val="FFFFFF"/>
                </a:solidFill>
                <a:latin typeface="Cabin Medium"/>
                <a:ea typeface="Cabin Medium"/>
                <a:cs typeface="Cabin Medium"/>
                <a:sym typeface="Cabin Medium"/>
              </a:endParaRPr>
            </a:p>
            <a:p>
              <a:pPr marL="0" marR="0" lvl="0" indent="0" algn="l" rtl="0">
                <a:lnSpc>
                  <a:spcPct val="115000"/>
                </a:lnSpc>
                <a:spcBef>
                  <a:spcPts val="0"/>
                </a:spcBef>
                <a:spcAft>
                  <a:spcPts val="0"/>
                </a:spcAft>
                <a:buClr>
                  <a:srgbClr val="000000"/>
                </a:buClr>
                <a:buSzPts val="1300"/>
                <a:buFont typeface="Arial"/>
                <a:buNone/>
              </a:pPr>
              <a:r>
                <a:rPr lang="en" sz="1300" b="0" i="0" u="none" strike="noStrike" cap="none">
                  <a:solidFill>
                    <a:srgbClr val="FFFFFF"/>
                  </a:solidFill>
                  <a:latin typeface="Cabin Medium"/>
                  <a:ea typeface="Cabin Medium"/>
                  <a:cs typeface="Cabin Medium"/>
                  <a:sym typeface="Cabin Medium"/>
                </a:rPr>
                <a:t>emission</a:t>
              </a:r>
              <a:endParaRPr sz="1300" b="0" i="0" u="none" strike="noStrike" cap="none">
                <a:solidFill>
                  <a:srgbClr val="FFFFFF"/>
                </a:solidFill>
                <a:latin typeface="Cabin Medium"/>
                <a:ea typeface="Cabin Medium"/>
                <a:cs typeface="Cabin Medium"/>
                <a:sym typeface="Cabin Medium"/>
              </a:endParaRPr>
            </a:p>
          </p:txBody>
        </p:sp>
        <p:sp>
          <p:nvSpPr>
            <p:cNvPr id="672" name="Google Shape;672;p104"/>
            <p:cNvSpPr/>
            <p:nvPr/>
          </p:nvSpPr>
          <p:spPr>
            <a:xfrm>
              <a:off x="1593000" y="2322568"/>
              <a:ext cx="690000" cy="642300"/>
            </a:xfrm>
            <a:prstGeom prst="rect">
              <a:avLst/>
            </a:prstGeom>
            <a:solidFill>
              <a:srgbClr val="1D7E75"/>
            </a:solidFill>
            <a:ln>
              <a:noFill/>
            </a:ln>
            <a:effectLst>
              <a:outerShdw blurRad="71438" dist="28575" dir="2700000" algn="bl" rotWithShape="0">
                <a:srgbClr val="000000">
                  <a:alpha val="168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73" name="Google Shape;673;p104"/>
            <p:cNvSpPr/>
            <p:nvPr/>
          </p:nvSpPr>
          <p:spPr>
            <a:xfrm>
              <a:off x="1593000" y="2322575"/>
              <a:ext cx="690000" cy="642600"/>
            </a:xfrm>
            <a:prstGeom prst="rect">
              <a:avLst/>
            </a:prstGeom>
            <a:solidFill>
              <a:srgbClr val="1F88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 sz="2600" b="0" i="0" u="none" strike="noStrike" cap="none">
                  <a:solidFill>
                    <a:srgbClr val="FFFFFF"/>
                  </a:solidFill>
                  <a:latin typeface="Roboto Thin"/>
                  <a:ea typeface="Roboto Thin"/>
                  <a:cs typeface="Roboto Thin"/>
                  <a:sym typeface="Roboto Thin"/>
                </a:rPr>
                <a:t>02</a:t>
              </a:r>
              <a:endParaRPr sz="2600" b="0" i="0" u="none" strike="noStrike" cap="none">
                <a:solidFill>
                  <a:srgbClr val="FFFFFF"/>
                </a:solidFill>
                <a:latin typeface="Roboto Thin"/>
                <a:ea typeface="Roboto Thin"/>
                <a:cs typeface="Roboto Thin"/>
                <a:sym typeface="Roboto Thin"/>
              </a:endParaRPr>
            </a:p>
          </p:txBody>
        </p:sp>
      </p:grpSp>
      <p:sp>
        <p:nvSpPr>
          <p:cNvPr id="674" name="Google Shape;674;p104"/>
          <p:cNvSpPr/>
          <p:nvPr/>
        </p:nvSpPr>
        <p:spPr>
          <a:xfrm>
            <a:off x="3354813" y="1193138"/>
            <a:ext cx="2622300" cy="5727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Scope 1&amp;2</a:t>
            </a:r>
            <a:endParaRPr sz="1100" b="0" i="0" u="none" strike="noStrike" cap="none">
              <a:solidFill>
                <a:srgbClr val="000000"/>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Wait until 2025 for the updated report</a:t>
            </a:r>
            <a:endParaRPr sz="1100" b="0" i="0" u="none" strike="noStrike" cap="none">
              <a:solidFill>
                <a:srgbClr val="000000"/>
              </a:solidFill>
              <a:latin typeface="Cabin"/>
              <a:ea typeface="Cabin"/>
              <a:cs typeface="Cabin"/>
              <a:sym typeface="Cabin"/>
            </a:endParaRPr>
          </a:p>
        </p:txBody>
      </p:sp>
      <p:sp>
        <p:nvSpPr>
          <p:cNvPr id="675" name="Google Shape;675;p104"/>
          <p:cNvSpPr/>
          <p:nvPr/>
        </p:nvSpPr>
        <p:spPr>
          <a:xfrm>
            <a:off x="3354813" y="1798894"/>
            <a:ext cx="2622300" cy="5727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a:latin typeface="Cabin"/>
                <a:ea typeface="Cabin"/>
                <a:cs typeface="Cabin"/>
                <a:sym typeface="Cabin"/>
              </a:rPr>
              <a:t>Inventory Tools Scope 1 and 2:</a:t>
            </a:r>
            <a:endParaRPr sz="1100">
              <a:latin typeface="Cabin"/>
              <a:ea typeface="Cabin"/>
              <a:cs typeface="Cabin"/>
              <a:sym typeface="Cabin"/>
            </a:endParaRPr>
          </a:p>
          <a:p>
            <a:pPr marL="0" lvl="0" indent="0" algn="l" rtl="0">
              <a:spcBef>
                <a:spcPts val="0"/>
              </a:spcBef>
              <a:spcAft>
                <a:spcPts val="0"/>
              </a:spcAft>
              <a:buClr>
                <a:schemeClr val="dk1"/>
              </a:buClr>
              <a:buSzPts val="1100"/>
              <a:buFont typeface="Arial"/>
              <a:buNone/>
            </a:pPr>
            <a:r>
              <a:rPr lang="en" sz="1100">
                <a:latin typeface="Cabin"/>
                <a:ea typeface="Cabin"/>
                <a:cs typeface="Cabin"/>
                <a:sym typeface="Cabin"/>
              </a:rPr>
              <a:t>Completed</a:t>
            </a:r>
            <a:endParaRPr sz="1100">
              <a:latin typeface="Cabin"/>
              <a:ea typeface="Cabin"/>
              <a:cs typeface="Cabin"/>
              <a:sym typeface="Cabin"/>
            </a:endParaRPr>
          </a:p>
        </p:txBody>
      </p:sp>
      <p:sp>
        <p:nvSpPr>
          <p:cNvPr id="676" name="Google Shape;676;p104"/>
          <p:cNvSpPr/>
          <p:nvPr/>
        </p:nvSpPr>
        <p:spPr>
          <a:xfrm>
            <a:off x="3354813" y="2439628"/>
            <a:ext cx="2622300" cy="5727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Scope 3 financed:</a:t>
            </a:r>
            <a:endParaRPr sz="1100" b="0" i="0" u="none" strike="noStrike" cap="none">
              <a:solidFill>
                <a:srgbClr val="000000"/>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In progress for updating database</a:t>
            </a:r>
            <a:endParaRPr sz="1100" b="0" i="0" u="none" strike="noStrike" cap="none">
              <a:solidFill>
                <a:srgbClr val="000000"/>
              </a:solidFill>
              <a:latin typeface="Cabin"/>
              <a:ea typeface="Cabin"/>
              <a:cs typeface="Cabin"/>
              <a:sym typeface="Cabin"/>
            </a:endParaRPr>
          </a:p>
        </p:txBody>
      </p:sp>
      <p:sp>
        <p:nvSpPr>
          <p:cNvPr id="677" name="Google Shape;677;p104"/>
          <p:cNvSpPr/>
          <p:nvPr/>
        </p:nvSpPr>
        <p:spPr>
          <a:xfrm>
            <a:off x="3354813" y="3045384"/>
            <a:ext cx="2622300" cy="5727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Scope 3 toolkit:</a:t>
            </a:r>
            <a:endParaRPr sz="1100" b="0" i="0" u="none" strike="noStrike" cap="none">
              <a:solidFill>
                <a:srgbClr val="000000"/>
              </a:solidFill>
              <a:latin typeface="Cabin"/>
              <a:ea typeface="Cabin"/>
              <a:cs typeface="Cabin"/>
              <a:sym typeface="Cabin"/>
            </a:endParaRPr>
          </a:p>
          <a:p>
            <a:pPr marL="0" lvl="0" indent="0" algn="l" rtl="0">
              <a:spcBef>
                <a:spcPts val="0"/>
              </a:spcBef>
              <a:spcAft>
                <a:spcPts val="0"/>
              </a:spcAft>
              <a:buClr>
                <a:schemeClr val="dk1"/>
              </a:buClr>
              <a:buSzPts val="1100"/>
              <a:buFont typeface="Arial"/>
              <a:buNone/>
            </a:pPr>
            <a:r>
              <a:rPr lang="en" sz="1100">
                <a:solidFill>
                  <a:schemeClr val="dk1"/>
                </a:solidFill>
                <a:latin typeface="Cabin"/>
                <a:ea typeface="Cabin"/>
                <a:cs typeface="Cabin"/>
                <a:sym typeface="Cabin"/>
              </a:rPr>
              <a:t>In progress for updating database</a:t>
            </a:r>
            <a:endParaRPr sz="1100" b="0" i="0" u="none" strike="noStrike" cap="none">
              <a:solidFill>
                <a:srgbClr val="000000"/>
              </a:solidFill>
              <a:latin typeface="Cabin"/>
              <a:ea typeface="Cabin"/>
              <a:cs typeface="Cabin"/>
              <a:sym typeface="Cabin"/>
            </a:endParaRPr>
          </a:p>
        </p:txBody>
      </p:sp>
      <p:sp>
        <p:nvSpPr>
          <p:cNvPr id="678" name="Google Shape;678;p104"/>
          <p:cNvSpPr/>
          <p:nvPr/>
        </p:nvSpPr>
        <p:spPr>
          <a:xfrm>
            <a:off x="3354825" y="3686122"/>
            <a:ext cx="2622300" cy="12090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a:latin typeface="Cabin"/>
                <a:ea typeface="Cabin"/>
                <a:cs typeface="Cabin"/>
                <a:sym typeface="Cabin"/>
              </a:rPr>
              <a:t>Assessment of potential for report disclosure and setting target:</a:t>
            </a:r>
            <a:endParaRPr sz="1100">
              <a:latin typeface="Cabin"/>
              <a:ea typeface="Cabin"/>
              <a:cs typeface="Cabin"/>
              <a:sym typeface="Cabin"/>
            </a:endParaRPr>
          </a:p>
          <a:p>
            <a:pPr marL="0" lvl="0" indent="0" algn="l" rtl="0">
              <a:spcBef>
                <a:spcPts val="0"/>
              </a:spcBef>
              <a:spcAft>
                <a:spcPts val="0"/>
              </a:spcAft>
              <a:buClr>
                <a:schemeClr val="dk1"/>
              </a:buClr>
              <a:buSzPts val="1100"/>
              <a:buFont typeface="Arial"/>
              <a:buNone/>
            </a:pPr>
            <a:r>
              <a:rPr lang="en" sz="1100">
                <a:latin typeface="Cabin"/>
                <a:ea typeface="Cabin"/>
                <a:cs typeface="Cabin"/>
                <a:sym typeface="Cabin"/>
              </a:rPr>
              <a:t>In progress</a:t>
            </a:r>
            <a:endParaRPr sz="1100">
              <a:latin typeface="Cabin"/>
              <a:ea typeface="Cabin"/>
              <a:cs typeface="Cabin"/>
              <a:sym typeface="Cabin"/>
            </a:endParaRPr>
          </a:p>
        </p:txBody>
      </p:sp>
      <p:sp>
        <p:nvSpPr>
          <p:cNvPr id="679" name="Google Shape;679;p104"/>
          <p:cNvSpPr/>
          <p:nvPr/>
        </p:nvSpPr>
        <p:spPr>
          <a:xfrm>
            <a:off x="6136525" y="2439622"/>
            <a:ext cx="2622300" cy="11784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Scope 3 financed:</a:t>
            </a:r>
            <a:endParaRPr sz="1100" b="0" i="0" u="none" strike="noStrike" cap="none">
              <a:solidFill>
                <a:srgbClr val="000000"/>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PCAF announce the new database</a:t>
            </a:r>
            <a:endParaRPr sz="1100" b="0" i="0" u="none" strike="noStrike" cap="none">
              <a:solidFill>
                <a:srgbClr val="000000"/>
              </a:solidFill>
              <a:latin typeface="Cabin"/>
              <a:ea typeface="Cabin"/>
              <a:cs typeface="Cabin"/>
              <a:sym typeface="Cabin"/>
            </a:endParaRPr>
          </a:p>
        </p:txBody>
      </p:sp>
      <p:pic>
        <p:nvPicPr>
          <p:cNvPr id="680" name="Google Shape;680;p104"/>
          <p:cNvPicPr preferRelativeResize="0"/>
          <p:nvPr/>
        </p:nvPicPr>
        <p:blipFill rotWithShape="1">
          <a:blip r:embed="rId3">
            <a:alphaModFix/>
          </a:blip>
          <a:srcRect/>
          <a:stretch/>
        </p:blipFill>
        <p:spPr>
          <a:xfrm>
            <a:off x="7748099" y="52326"/>
            <a:ext cx="1243600" cy="431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684"/>
        <p:cNvGrpSpPr/>
        <p:nvPr/>
      </p:nvGrpSpPr>
      <p:grpSpPr>
        <a:xfrm>
          <a:off x="0" y="0"/>
          <a:ext cx="0" cy="0"/>
          <a:chOff x="0" y="0"/>
          <a:chExt cx="0" cy="0"/>
        </a:xfrm>
      </p:grpSpPr>
      <p:sp>
        <p:nvSpPr>
          <p:cNvPr id="685" name="Google Shape;685;p105"/>
          <p:cNvSpPr txBox="1">
            <a:spLocks noGrp="1"/>
          </p:cNvSpPr>
          <p:nvPr>
            <p:ph type="title"/>
          </p:nvPr>
        </p:nvSpPr>
        <p:spPr>
          <a:xfrm>
            <a:off x="235425" y="290225"/>
            <a:ext cx="6381600" cy="42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Case Study</a:t>
            </a:r>
            <a:endParaRPr/>
          </a:p>
        </p:txBody>
      </p:sp>
      <p:sp>
        <p:nvSpPr>
          <p:cNvPr id="686" name="Google Shape;686;p10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Building the business case to paid onsite solar with BESS in Vietnam</a:t>
            </a:r>
            <a:endParaRPr/>
          </a:p>
          <a:p>
            <a:pPr marL="914400" lvl="1" indent="-304800" algn="l" rtl="0">
              <a:spcBef>
                <a:spcPts val="0"/>
              </a:spcBef>
              <a:spcAft>
                <a:spcPts val="0"/>
              </a:spcAft>
              <a:buSzPts val="1200"/>
              <a:buChar char="○"/>
            </a:pPr>
            <a:r>
              <a:rPr lang="en"/>
              <a:t>Savings:</a:t>
            </a:r>
            <a:endParaRPr/>
          </a:p>
          <a:p>
            <a:pPr marL="1371600" lvl="2" indent="-304800" algn="l" rtl="0">
              <a:spcBef>
                <a:spcPts val="0"/>
              </a:spcBef>
              <a:spcAft>
                <a:spcPts val="0"/>
              </a:spcAft>
              <a:buSzPts val="1200"/>
              <a:buChar char="■"/>
            </a:pPr>
            <a:r>
              <a:rPr lang="en"/>
              <a:t>Solar + battery prices continue to trend downward</a:t>
            </a:r>
            <a:endParaRPr/>
          </a:p>
          <a:p>
            <a:pPr marL="1371600" lvl="2" indent="-304800" algn="l" rtl="0">
              <a:spcBef>
                <a:spcPts val="0"/>
              </a:spcBef>
              <a:spcAft>
                <a:spcPts val="0"/>
              </a:spcAft>
              <a:buSzPts val="1200"/>
              <a:buChar char="■"/>
            </a:pPr>
            <a:r>
              <a:rPr lang="en"/>
              <a:t>2-part tariff</a:t>
            </a:r>
            <a:endParaRPr/>
          </a:p>
          <a:p>
            <a:pPr marL="914400" lvl="1" indent="-304800" algn="l" rtl="0">
              <a:spcBef>
                <a:spcPts val="0"/>
              </a:spcBef>
              <a:spcAft>
                <a:spcPts val="0"/>
              </a:spcAft>
              <a:buSzPts val="1200"/>
              <a:buChar char="○"/>
            </a:pPr>
            <a:r>
              <a:rPr lang="en"/>
              <a:t>Enhance energy security and resilience, capture more onsite RE</a:t>
            </a:r>
            <a:endParaRPr/>
          </a:p>
          <a:p>
            <a:pPr marL="914400" lvl="1" indent="-304800" algn="l" rtl="0">
              <a:spcBef>
                <a:spcPts val="0"/>
              </a:spcBef>
              <a:spcAft>
                <a:spcPts val="0"/>
              </a:spcAft>
              <a:buSzPts val="1200"/>
              <a:buChar char="○"/>
            </a:pPr>
            <a:r>
              <a:rPr lang="en"/>
              <a:t>Etc</a:t>
            </a:r>
            <a:endParaRPr/>
          </a:p>
        </p:txBody>
      </p:sp>
      <p:sp>
        <p:nvSpPr>
          <p:cNvPr id="687" name="Google Shape;687;p105"/>
          <p:cNvSpPr/>
          <p:nvPr/>
        </p:nvSpPr>
        <p:spPr>
          <a:xfrm>
            <a:off x="5371750" y="1165650"/>
            <a:ext cx="3015900" cy="36600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abin"/>
                <a:ea typeface="Cabin"/>
                <a:cs typeface="Cabin"/>
                <a:sym typeface="Cabin"/>
              </a:rPr>
              <a:t>Case study screenshot if ready</a:t>
            </a:r>
            <a:endParaRPr>
              <a:latin typeface="Cabin"/>
              <a:ea typeface="Cabin"/>
              <a:cs typeface="Cabin"/>
              <a:sym typeface="Cabi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691"/>
        <p:cNvGrpSpPr/>
        <p:nvPr/>
      </p:nvGrpSpPr>
      <p:grpSpPr>
        <a:xfrm>
          <a:off x="0" y="0"/>
          <a:ext cx="0" cy="0"/>
          <a:chOff x="0" y="0"/>
          <a:chExt cx="0" cy="0"/>
        </a:xfrm>
      </p:grpSpPr>
      <p:sp>
        <p:nvSpPr>
          <p:cNvPr id="692" name="Google Shape;692;p106"/>
          <p:cNvSpPr txBox="1"/>
          <p:nvPr/>
        </p:nvSpPr>
        <p:spPr>
          <a:xfrm>
            <a:off x="105725" y="1070225"/>
            <a:ext cx="4596000" cy="3949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bin"/>
                <a:ea typeface="Cabin"/>
                <a:cs typeface="Cabin"/>
                <a:sym typeface="Cabin"/>
              </a:rPr>
              <a:t>Allotrope has developed a PV+BESS financial model to analyze the viability of solar plus battery storage.</a:t>
            </a:r>
            <a:endParaRPr sz="1200">
              <a:solidFill>
                <a:srgbClr val="222222"/>
              </a:solidFill>
              <a:highlight>
                <a:srgbClr val="FFFFFF"/>
              </a:highlight>
              <a:latin typeface="Cabin"/>
              <a:ea typeface="Cabin"/>
              <a:cs typeface="Cabin"/>
              <a:sym typeface="Cabin"/>
            </a:endParaRPr>
          </a:p>
          <a:p>
            <a:pPr marL="0" lvl="0" indent="0" algn="l" rtl="0">
              <a:lnSpc>
                <a:spcPct val="115000"/>
              </a:lnSpc>
              <a:spcBef>
                <a:spcPts val="0"/>
              </a:spcBef>
              <a:spcAft>
                <a:spcPts val="0"/>
              </a:spcAft>
              <a:buNone/>
            </a:pPr>
            <a:br>
              <a:rPr lang="en" sz="1200" b="1">
                <a:solidFill>
                  <a:srgbClr val="222222"/>
                </a:solidFill>
                <a:highlight>
                  <a:srgbClr val="FFFFFF"/>
                </a:highlight>
                <a:latin typeface="Cabin"/>
                <a:ea typeface="Cabin"/>
                <a:cs typeface="Cabin"/>
                <a:sym typeface="Cabin"/>
              </a:rPr>
            </a:br>
            <a:r>
              <a:rPr lang="en" sz="1200" b="1">
                <a:solidFill>
                  <a:srgbClr val="222222"/>
                </a:solidFill>
                <a:highlight>
                  <a:srgbClr val="FFFFFF"/>
                </a:highlight>
                <a:latin typeface="Cabin"/>
                <a:ea typeface="Cabin"/>
                <a:cs typeface="Cabin"/>
                <a:sym typeface="Cabin"/>
              </a:rPr>
              <a:t>Model Capabilities:</a:t>
            </a:r>
            <a:r>
              <a:rPr lang="en" sz="1200">
                <a:solidFill>
                  <a:srgbClr val="222222"/>
                </a:solidFill>
                <a:highlight>
                  <a:srgbClr val="FFFFFF"/>
                </a:highlight>
                <a:latin typeface="Cabin"/>
                <a:ea typeface="Cabin"/>
                <a:cs typeface="Cabin"/>
                <a:sym typeface="Cabin"/>
              </a:rPr>
              <a:t> </a:t>
            </a:r>
            <a:endParaRPr sz="1200">
              <a:solidFill>
                <a:srgbClr val="222222"/>
              </a:solidFill>
              <a:highlight>
                <a:srgbClr val="FFFFFF"/>
              </a:highlight>
              <a:latin typeface="Cabin"/>
              <a:ea typeface="Cabin"/>
              <a:cs typeface="Cabin"/>
              <a:sym typeface="Cabin"/>
            </a:endParaRPr>
          </a:p>
          <a:p>
            <a:pPr marL="457200" lvl="0" indent="-304800" algn="l" rtl="0">
              <a:lnSpc>
                <a:spcPct val="115000"/>
              </a:lnSpc>
              <a:spcBef>
                <a:spcPts val="0"/>
              </a:spcBef>
              <a:spcAft>
                <a:spcPts val="0"/>
              </a:spcAft>
              <a:buClr>
                <a:srgbClr val="222222"/>
              </a:buClr>
              <a:buSzPts val="1200"/>
              <a:buFont typeface="Cabin"/>
              <a:buChar char="●"/>
            </a:pPr>
            <a:r>
              <a:rPr lang="en" sz="1200">
                <a:solidFill>
                  <a:srgbClr val="222222"/>
                </a:solidFill>
                <a:highlight>
                  <a:srgbClr val="FFFFFF"/>
                </a:highlight>
                <a:latin typeface="Cabin"/>
                <a:ea typeface="Cabin"/>
                <a:cs typeface="Cabin"/>
                <a:sym typeface="Cabin"/>
              </a:rPr>
              <a:t>Simulates hourly PV generation and battery charge/discharge against load profiles and tariffs. </a:t>
            </a:r>
            <a:endParaRPr sz="1200">
              <a:solidFill>
                <a:srgbClr val="222222"/>
              </a:solidFill>
              <a:highlight>
                <a:srgbClr val="FFFFFF"/>
              </a:highlight>
              <a:latin typeface="Cabin"/>
              <a:ea typeface="Cabin"/>
              <a:cs typeface="Cabin"/>
              <a:sym typeface="Cabin"/>
            </a:endParaRPr>
          </a:p>
          <a:p>
            <a:pPr marL="457200" lvl="0" indent="-304800" algn="l" rtl="0">
              <a:lnSpc>
                <a:spcPct val="115000"/>
              </a:lnSpc>
              <a:spcBef>
                <a:spcPts val="0"/>
              </a:spcBef>
              <a:spcAft>
                <a:spcPts val="0"/>
              </a:spcAft>
              <a:buClr>
                <a:srgbClr val="222222"/>
              </a:buClr>
              <a:buSzPts val="1200"/>
              <a:buFont typeface="Cabin"/>
              <a:buChar char="●"/>
            </a:pPr>
            <a:r>
              <a:rPr lang="en" sz="1200">
                <a:solidFill>
                  <a:srgbClr val="222222"/>
                </a:solidFill>
                <a:highlight>
                  <a:srgbClr val="FFFFFF"/>
                </a:highlight>
                <a:latin typeface="Cabin"/>
                <a:ea typeface="Cabin"/>
                <a:cs typeface="Cabin"/>
                <a:sym typeface="Cabin"/>
              </a:rPr>
              <a:t>Conducts scenario analysis for various PPA structures.</a:t>
            </a:r>
            <a:endParaRPr sz="1200">
              <a:solidFill>
                <a:srgbClr val="222222"/>
              </a:solidFill>
              <a:highlight>
                <a:srgbClr val="FFFFFF"/>
              </a:highlight>
              <a:latin typeface="Cabin"/>
              <a:ea typeface="Cabin"/>
              <a:cs typeface="Cabin"/>
              <a:sym typeface="Cabin"/>
            </a:endParaRPr>
          </a:p>
          <a:p>
            <a:pPr marL="457200" lvl="0" indent="-304800" algn="l" rtl="0">
              <a:lnSpc>
                <a:spcPct val="115000"/>
              </a:lnSpc>
              <a:spcBef>
                <a:spcPts val="0"/>
              </a:spcBef>
              <a:spcAft>
                <a:spcPts val="0"/>
              </a:spcAft>
              <a:buClr>
                <a:srgbClr val="222222"/>
              </a:buClr>
              <a:buSzPts val="1200"/>
              <a:buFont typeface="Cabin"/>
              <a:buChar char="●"/>
            </a:pPr>
            <a:r>
              <a:rPr lang="en" sz="1200">
                <a:solidFill>
                  <a:srgbClr val="222222"/>
                </a:solidFill>
                <a:highlight>
                  <a:srgbClr val="FFFFFF"/>
                </a:highlight>
                <a:latin typeface="Cabin"/>
                <a:ea typeface="Cabin"/>
                <a:cs typeface="Cabin"/>
                <a:sym typeface="Cabin"/>
              </a:rPr>
              <a:t>Generates basic financial outputs and incorporates battery operation strategies.</a:t>
            </a:r>
            <a:endParaRPr sz="1200">
              <a:solidFill>
                <a:srgbClr val="222222"/>
              </a:solidFill>
              <a:highlight>
                <a:srgbClr val="FFFFFF"/>
              </a:highlight>
              <a:latin typeface="Cabin"/>
              <a:ea typeface="Cabin"/>
              <a:cs typeface="Cabin"/>
              <a:sym typeface="Cabin"/>
            </a:endParaRPr>
          </a:p>
          <a:p>
            <a:pPr marL="0" lvl="0" indent="0" algn="l" rtl="0">
              <a:lnSpc>
                <a:spcPct val="115000"/>
              </a:lnSpc>
              <a:spcBef>
                <a:spcPts val="1000"/>
              </a:spcBef>
              <a:spcAft>
                <a:spcPts val="0"/>
              </a:spcAft>
              <a:buNone/>
            </a:pPr>
            <a:r>
              <a:rPr lang="en" sz="1200">
                <a:solidFill>
                  <a:schemeClr val="dk1"/>
                </a:solidFill>
                <a:latin typeface="Cabin"/>
                <a:ea typeface="Cabin"/>
                <a:cs typeface="Cabin"/>
                <a:sym typeface="Cabin"/>
              </a:rPr>
              <a:t>Currently collecting </a:t>
            </a:r>
            <a:r>
              <a:rPr lang="en" sz="1200" b="1">
                <a:solidFill>
                  <a:schemeClr val="dk1"/>
                </a:solidFill>
                <a:latin typeface="Cabin"/>
                <a:ea typeface="Cabin"/>
                <a:cs typeface="Cabin"/>
                <a:sym typeface="Cabin"/>
              </a:rPr>
              <a:t>project-specific data</a:t>
            </a:r>
            <a:r>
              <a:rPr lang="en" sz="1200">
                <a:solidFill>
                  <a:schemeClr val="dk1"/>
                </a:solidFill>
                <a:latin typeface="Cabin"/>
                <a:ea typeface="Cabin"/>
                <a:cs typeface="Cabin"/>
                <a:sym typeface="Cabin"/>
              </a:rPr>
              <a:t> to run tailored simulations and produce a comprehensive project report.</a:t>
            </a:r>
            <a:endParaRPr sz="1200">
              <a:solidFill>
                <a:schemeClr val="dk1"/>
              </a:solidFill>
              <a:latin typeface="Cabin"/>
              <a:ea typeface="Cabin"/>
              <a:cs typeface="Cabin"/>
              <a:sym typeface="Cabin"/>
            </a:endParaRPr>
          </a:p>
          <a:p>
            <a:pPr marL="0" lvl="0" indent="0" algn="l" rtl="0">
              <a:lnSpc>
                <a:spcPct val="115000"/>
              </a:lnSpc>
              <a:spcBef>
                <a:spcPts val="1000"/>
              </a:spcBef>
              <a:spcAft>
                <a:spcPts val="0"/>
              </a:spcAft>
              <a:buNone/>
            </a:pPr>
            <a:r>
              <a:rPr lang="en" sz="1200" b="1">
                <a:solidFill>
                  <a:schemeClr val="dk1"/>
                </a:solidFill>
                <a:latin typeface="Cabin"/>
                <a:ea typeface="Cabin"/>
                <a:cs typeface="Cabin"/>
                <a:sym typeface="Cabin"/>
              </a:rPr>
              <a:t>Challenge</a:t>
            </a:r>
            <a:r>
              <a:rPr lang="en" sz="1200">
                <a:solidFill>
                  <a:schemeClr val="dk1"/>
                </a:solidFill>
                <a:latin typeface="Cabin"/>
                <a:ea typeface="Cabin"/>
                <a:cs typeface="Cabin"/>
                <a:sym typeface="Cabin"/>
              </a:rPr>
              <a:t>: A significant barrier is the lack of a clear </a:t>
            </a:r>
            <a:r>
              <a:rPr lang="en" sz="1200" b="1">
                <a:solidFill>
                  <a:schemeClr val="dk1"/>
                </a:solidFill>
                <a:latin typeface="Cabin"/>
                <a:ea typeface="Cabin"/>
                <a:cs typeface="Cabin"/>
                <a:sym typeface="Cabin"/>
              </a:rPr>
              <a:t>regulatory framework for a Direct Power Purchase Agreement (DPPA)</a:t>
            </a:r>
            <a:r>
              <a:rPr lang="en" sz="1200">
                <a:solidFill>
                  <a:schemeClr val="dk1"/>
                </a:solidFill>
                <a:latin typeface="Cabin"/>
                <a:ea typeface="Cabin"/>
                <a:cs typeface="Cabin"/>
                <a:sym typeface="Cabin"/>
              </a:rPr>
              <a:t>. This uncertainty prevents the team from making the financial assumptions needed to model project bankability, as it's unclear if industrial parks or private retailers can act as buyers.</a:t>
            </a:r>
            <a:endParaRPr sz="1200">
              <a:solidFill>
                <a:schemeClr val="dk1"/>
              </a:solidFill>
              <a:latin typeface="Cabin"/>
              <a:ea typeface="Cabin"/>
              <a:cs typeface="Cabin"/>
              <a:sym typeface="Cabin"/>
            </a:endParaRPr>
          </a:p>
          <a:p>
            <a:pPr marL="0" lvl="0" indent="0" algn="l" rtl="0">
              <a:lnSpc>
                <a:spcPct val="115000"/>
              </a:lnSpc>
              <a:spcBef>
                <a:spcPts val="1000"/>
              </a:spcBef>
              <a:spcAft>
                <a:spcPts val="0"/>
              </a:spcAft>
              <a:buNone/>
            </a:pPr>
            <a:endParaRPr sz="1200">
              <a:solidFill>
                <a:srgbClr val="222222"/>
              </a:solidFill>
              <a:highlight>
                <a:srgbClr val="FFFFFF"/>
              </a:highlight>
              <a:latin typeface="Cabin"/>
              <a:ea typeface="Cabin"/>
              <a:cs typeface="Cabin"/>
              <a:sym typeface="Cabin"/>
            </a:endParaRPr>
          </a:p>
          <a:p>
            <a:pPr marL="0" lvl="0" indent="0" algn="l" rtl="0">
              <a:lnSpc>
                <a:spcPct val="115000"/>
              </a:lnSpc>
              <a:spcBef>
                <a:spcPts val="1000"/>
              </a:spcBef>
              <a:spcAft>
                <a:spcPts val="0"/>
              </a:spcAft>
              <a:buNone/>
            </a:pPr>
            <a:endParaRPr sz="1200">
              <a:solidFill>
                <a:srgbClr val="222222"/>
              </a:solidFill>
              <a:highlight>
                <a:srgbClr val="FFFFFF"/>
              </a:highlight>
              <a:latin typeface="Cabin"/>
              <a:ea typeface="Cabin"/>
              <a:cs typeface="Cabin"/>
              <a:sym typeface="Cabin"/>
            </a:endParaRPr>
          </a:p>
          <a:p>
            <a:pPr marL="0" lvl="0" indent="0" algn="l" rtl="0">
              <a:lnSpc>
                <a:spcPct val="115000"/>
              </a:lnSpc>
              <a:spcBef>
                <a:spcPts val="1000"/>
              </a:spcBef>
              <a:spcAft>
                <a:spcPts val="0"/>
              </a:spcAft>
              <a:buNone/>
            </a:pPr>
            <a:endParaRPr sz="1200">
              <a:solidFill>
                <a:schemeClr val="dk1"/>
              </a:solidFill>
              <a:latin typeface="Cabin"/>
              <a:ea typeface="Cabin"/>
              <a:cs typeface="Cabin"/>
              <a:sym typeface="Cabin"/>
            </a:endParaRPr>
          </a:p>
        </p:txBody>
      </p:sp>
      <p:pic>
        <p:nvPicPr>
          <p:cNvPr id="693" name="Google Shape;693;p106"/>
          <p:cNvPicPr preferRelativeResize="0"/>
          <p:nvPr/>
        </p:nvPicPr>
        <p:blipFill>
          <a:blip r:embed="rId3">
            <a:alphaModFix/>
          </a:blip>
          <a:stretch>
            <a:fillRect/>
          </a:stretch>
        </p:blipFill>
        <p:spPr>
          <a:xfrm>
            <a:off x="4791650" y="964163"/>
            <a:ext cx="4128052" cy="2411380"/>
          </a:xfrm>
          <a:prstGeom prst="rect">
            <a:avLst/>
          </a:prstGeom>
          <a:noFill/>
          <a:ln>
            <a:noFill/>
          </a:ln>
        </p:spPr>
      </p:pic>
      <p:sp>
        <p:nvSpPr>
          <p:cNvPr id="694" name="Google Shape;694;p106"/>
          <p:cNvSpPr txBox="1">
            <a:spLocks noGrp="1"/>
          </p:cNvSpPr>
          <p:nvPr>
            <p:ph type="title"/>
          </p:nvPr>
        </p:nvSpPr>
        <p:spPr>
          <a:xfrm>
            <a:off x="235425" y="290225"/>
            <a:ext cx="7401600" cy="42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Site Analysis 2: </a:t>
            </a:r>
            <a:endParaRPr/>
          </a:p>
          <a:p>
            <a:pPr marL="0" lvl="0" indent="0" algn="l" rtl="0">
              <a:spcBef>
                <a:spcPts val="0"/>
              </a:spcBef>
              <a:spcAft>
                <a:spcPts val="0"/>
              </a:spcAft>
              <a:buNone/>
            </a:pPr>
            <a:r>
              <a:rPr lang="en"/>
              <a:t>Ninh Sim Solar Farm: Utility-Scale BESS</a:t>
            </a:r>
            <a:endParaRPr/>
          </a:p>
        </p:txBody>
      </p:sp>
      <p:sp>
        <p:nvSpPr>
          <p:cNvPr id="695" name="Google Shape;695;p106"/>
          <p:cNvSpPr txBox="1"/>
          <p:nvPr/>
        </p:nvSpPr>
        <p:spPr>
          <a:xfrm>
            <a:off x="4701725" y="3492985"/>
            <a:ext cx="4218000" cy="15138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300">
                <a:solidFill>
                  <a:schemeClr val="dk1"/>
                </a:solidFill>
                <a:latin typeface="Cabin"/>
                <a:ea typeface="Cabin"/>
                <a:cs typeface="Cabin"/>
                <a:sym typeface="Cabin"/>
              </a:rPr>
              <a:t>Progress update:</a:t>
            </a:r>
            <a:endParaRPr sz="1300">
              <a:solidFill>
                <a:schemeClr val="dk1"/>
              </a:solidFill>
              <a:latin typeface="Cabin"/>
              <a:ea typeface="Cabin"/>
              <a:cs typeface="Cabin"/>
              <a:sym typeface="Cabin"/>
            </a:endParaRPr>
          </a:p>
          <a:p>
            <a:pPr marL="457200" marR="0" lvl="0" indent="-273050" algn="l" rtl="0">
              <a:lnSpc>
                <a:spcPct val="115000"/>
              </a:lnSpc>
              <a:spcBef>
                <a:spcPts val="0"/>
              </a:spcBef>
              <a:spcAft>
                <a:spcPts val="0"/>
              </a:spcAft>
              <a:buClr>
                <a:schemeClr val="dk1"/>
              </a:buClr>
              <a:buSzPts val="700"/>
              <a:buFont typeface="Cabin"/>
              <a:buChar char="●"/>
            </a:pPr>
            <a:r>
              <a:rPr lang="en" sz="700">
                <a:solidFill>
                  <a:schemeClr val="dk1"/>
                </a:solidFill>
                <a:latin typeface="Cabin"/>
                <a:ea typeface="Cabin"/>
                <a:cs typeface="Cabin"/>
                <a:sym typeface="Cabin"/>
              </a:rPr>
              <a:t>EYA completed - Generation baseline validated (P50: 71.16 GWh) and now feeding into techno-economic modeling. </a:t>
            </a:r>
            <a:endParaRPr sz="700">
              <a:solidFill>
                <a:schemeClr val="dk1"/>
              </a:solidFill>
              <a:latin typeface="Cabin"/>
              <a:ea typeface="Cabin"/>
              <a:cs typeface="Cabin"/>
              <a:sym typeface="Cabin"/>
            </a:endParaRPr>
          </a:p>
          <a:p>
            <a:pPr marL="457200" marR="0" lvl="0" indent="-273050" algn="l" rtl="0">
              <a:lnSpc>
                <a:spcPct val="115000"/>
              </a:lnSpc>
              <a:spcBef>
                <a:spcPts val="0"/>
              </a:spcBef>
              <a:spcAft>
                <a:spcPts val="0"/>
              </a:spcAft>
              <a:buClr>
                <a:schemeClr val="dk1"/>
              </a:buClr>
              <a:buSzPts val="700"/>
              <a:buFont typeface="Cabin"/>
              <a:buChar char="●"/>
            </a:pPr>
            <a:r>
              <a:rPr lang="en" sz="700">
                <a:solidFill>
                  <a:schemeClr val="dk1"/>
                </a:solidFill>
                <a:latin typeface="Cabin"/>
                <a:ea typeface="Cabin"/>
                <a:cs typeface="Cabin"/>
                <a:sym typeface="Cabin"/>
              </a:rPr>
              <a:t>BESS model finalized - Dispatch logic, financial engine, and system inputs tested and integrated.</a:t>
            </a:r>
            <a:endParaRPr sz="700">
              <a:solidFill>
                <a:schemeClr val="dk1"/>
              </a:solidFill>
              <a:latin typeface="Cabin"/>
              <a:ea typeface="Cabin"/>
              <a:cs typeface="Cabin"/>
              <a:sym typeface="Cabin"/>
            </a:endParaRPr>
          </a:p>
          <a:p>
            <a:pPr marL="457200" marR="0" lvl="0" indent="-273050" algn="l" rtl="0">
              <a:lnSpc>
                <a:spcPct val="115000"/>
              </a:lnSpc>
              <a:spcBef>
                <a:spcPts val="0"/>
              </a:spcBef>
              <a:spcAft>
                <a:spcPts val="0"/>
              </a:spcAft>
              <a:buClr>
                <a:schemeClr val="dk1"/>
              </a:buClr>
              <a:buSzPts val="700"/>
              <a:buFont typeface="Cabin"/>
              <a:buChar char="●"/>
            </a:pPr>
            <a:r>
              <a:rPr lang="en" sz="700">
                <a:solidFill>
                  <a:schemeClr val="dk1"/>
                </a:solidFill>
                <a:latin typeface="Cabin"/>
                <a:ea typeface="Cabin"/>
                <a:cs typeface="Cabin"/>
                <a:sym typeface="Cabin"/>
              </a:rPr>
              <a:t>Scenario simulations ongoing - Evaluating Solar+BESS and alternative sizing for revenue, peak-shaving, and DPPA economics.</a:t>
            </a:r>
            <a:endParaRPr sz="700">
              <a:solidFill>
                <a:schemeClr val="dk1"/>
              </a:solidFill>
              <a:latin typeface="Cabin"/>
              <a:ea typeface="Cabin"/>
              <a:cs typeface="Cabin"/>
              <a:sym typeface="Cabin"/>
            </a:endParaRPr>
          </a:p>
          <a:p>
            <a:pPr marL="457200" marR="0" lvl="0" indent="-273050" algn="l" rtl="0">
              <a:lnSpc>
                <a:spcPct val="115000"/>
              </a:lnSpc>
              <a:spcBef>
                <a:spcPts val="0"/>
              </a:spcBef>
              <a:spcAft>
                <a:spcPts val="0"/>
              </a:spcAft>
              <a:buClr>
                <a:schemeClr val="dk1"/>
              </a:buClr>
              <a:buSzPts val="700"/>
              <a:buFont typeface="Cabin"/>
              <a:buChar char="●"/>
            </a:pPr>
            <a:r>
              <a:rPr lang="en" sz="700">
                <a:solidFill>
                  <a:schemeClr val="dk1"/>
                </a:solidFill>
                <a:latin typeface="Cabin"/>
                <a:ea typeface="Cabin"/>
                <a:cs typeface="Cabin"/>
                <a:sym typeface="Cabin"/>
              </a:rPr>
              <a:t>Report drafting in progress - Incorporating simulation outputs, sensitivities, and investment recommendations.</a:t>
            </a:r>
            <a:endParaRPr sz="700">
              <a:solidFill>
                <a:schemeClr val="dk1"/>
              </a:solidFill>
              <a:latin typeface="Cabin"/>
              <a:ea typeface="Cabin"/>
              <a:cs typeface="Cabin"/>
              <a:sym typeface="Cabin"/>
            </a:endParaRPr>
          </a:p>
          <a:p>
            <a:pPr marL="457200" marR="0" lvl="0" indent="-273050" algn="l" rtl="0">
              <a:lnSpc>
                <a:spcPct val="115000"/>
              </a:lnSpc>
              <a:spcBef>
                <a:spcPts val="0"/>
              </a:spcBef>
              <a:spcAft>
                <a:spcPts val="0"/>
              </a:spcAft>
              <a:buClr>
                <a:schemeClr val="dk1"/>
              </a:buClr>
              <a:buSzPts val="700"/>
              <a:buFont typeface="Cabin"/>
              <a:buChar char="●"/>
            </a:pPr>
            <a:r>
              <a:rPr lang="en" sz="700">
                <a:solidFill>
                  <a:schemeClr val="dk1"/>
                </a:solidFill>
                <a:latin typeface="Cabin"/>
                <a:ea typeface="Cabin"/>
                <a:cs typeface="Cabin"/>
                <a:sym typeface="Cabin"/>
              </a:rPr>
              <a:t>Next: finalize scenarios -&gt; consolidate financials -&gt; complete Assessment Report #2</a:t>
            </a:r>
            <a:endParaRPr sz="700">
              <a:solidFill>
                <a:schemeClr val="dk1"/>
              </a:solidFill>
              <a:latin typeface="Cabin"/>
              <a:ea typeface="Cabin"/>
              <a:cs typeface="Cabin"/>
              <a:sym typeface="Cabi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E6F4F1"/>
        </a:solidFill>
        <a:effectLst/>
      </p:bgPr>
    </p:bg>
    <p:spTree>
      <p:nvGrpSpPr>
        <p:cNvPr id="1" name="Shape 699"/>
        <p:cNvGrpSpPr/>
        <p:nvPr/>
      </p:nvGrpSpPr>
      <p:grpSpPr>
        <a:xfrm>
          <a:off x="0" y="0"/>
          <a:ext cx="0" cy="0"/>
          <a:chOff x="0" y="0"/>
          <a:chExt cx="0" cy="0"/>
        </a:xfrm>
      </p:grpSpPr>
      <p:sp>
        <p:nvSpPr>
          <p:cNvPr id="700" name="Google Shape;700;p107"/>
          <p:cNvSpPr/>
          <p:nvPr/>
        </p:nvSpPr>
        <p:spPr>
          <a:xfrm>
            <a:off x="65575" y="69625"/>
            <a:ext cx="8991000" cy="9201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17780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FBFBFB"/>
                </a:solidFill>
                <a:latin typeface="Cabin"/>
                <a:ea typeface="Cabin"/>
                <a:cs typeface="Cabin"/>
                <a:sym typeface="Cabin"/>
              </a:rPr>
              <a:t> </a:t>
            </a:r>
            <a:endParaRPr sz="1500" b="1" i="0" u="none" strike="noStrike" cap="none">
              <a:solidFill>
                <a:srgbClr val="FBFBFB"/>
              </a:solidFill>
              <a:latin typeface="Cabin"/>
              <a:ea typeface="Cabin"/>
              <a:cs typeface="Cabin"/>
              <a:sym typeface="Cabin"/>
            </a:endParaRPr>
          </a:p>
        </p:txBody>
      </p:sp>
      <p:sp>
        <p:nvSpPr>
          <p:cNvPr id="701" name="Google Shape;701;p107"/>
          <p:cNvSpPr txBox="1">
            <a:spLocks noGrp="1"/>
          </p:cNvSpPr>
          <p:nvPr>
            <p:ph type="title"/>
          </p:nvPr>
        </p:nvSpPr>
        <p:spPr>
          <a:xfrm>
            <a:off x="403650" y="262517"/>
            <a:ext cx="81885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000"/>
              <a:buNone/>
            </a:pPr>
            <a:r>
              <a:rPr lang="en" sz="2400" b="1">
                <a:solidFill>
                  <a:schemeClr val="lt1"/>
                </a:solidFill>
                <a:latin typeface="Cabin"/>
                <a:ea typeface="Cabin"/>
                <a:cs typeface="Cabin"/>
                <a:sym typeface="Cabin"/>
              </a:rPr>
              <a:t>BIDV progress updated</a:t>
            </a:r>
            <a:endParaRPr sz="2400" b="1">
              <a:solidFill>
                <a:schemeClr val="lt1"/>
              </a:solidFill>
              <a:latin typeface="Cabin"/>
              <a:ea typeface="Cabin"/>
              <a:cs typeface="Cabin"/>
              <a:sym typeface="Cabin"/>
            </a:endParaRPr>
          </a:p>
        </p:txBody>
      </p:sp>
      <p:pic>
        <p:nvPicPr>
          <p:cNvPr id="702" name="Google Shape;702;p107"/>
          <p:cNvPicPr preferRelativeResize="0"/>
          <p:nvPr/>
        </p:nvPicPr>
        <p:blipFill rotWithShape="1">
          <a:blip r:embed="rId3">
            <a:alphaModFix/>
          </a:blip>
          <a:srcRect/>
          <a:stretch/>
        </p:blipFill>
        <p:spPr>
          <a:xfrm>
            <a:off x="6390075" y="1142125"/>
            <a:ext cx="2409400" cy="2571224"/>
          </a:xfrm>
          <a:prstGeom prst="rect">
            <a:avLst/>
          </a:prstGeom>
          <a:noFill/>
          <a:ln>
            <a:noFill/>
          </a:ln>
        </p:spPr>
      </p:pic>
      <p:pic>
        <p:nvPicPr>
          <p:cNvPr id="703" name="Google Shape;703;p107"/>
          <p:cNvPicPr preferRelativeResize="0"/>
          <p:nvPr/>
        </p:nvPicPr>
        <p:blipFill rotWithShape="1">
          <a:blip r:embed="rId4">
            <a:alphaModFix/>
          </a:blip>
          <a:srcRect/>
          <a:stretch/>
        </p:blipFill>
        <p:spPr>
          <a:xfrm>
            <a:off x="152400" y="1142125"/>
            <a:ext cx="2894274" cy="1618550"/>
          </a:xfrm>
          <a:prstGeom prst="rect">
            <a:avLst/>
          </a:prstGeom>
          <a:noFill/>
          <a:ln>
            <a:noFill/>
          </a:ln>
        </p:spPr>
      </p:pic>
      <p:pic>
        <p:nvPicPr>
          <p:cNvPr id="704" name="Google Shape;704;p107"/>
          <p:cNvPicPr preferRelativeResize="0"/>
          <p:nvPr/>
        </p:nvPicPr>
        <p:blipFill rotWithShape="1">
          <a:blip r:embed="rId5">
            <a:alphaModFix/>
          </a:blip>
          <a:srcRect/>
          <a:stretch/>
        </p:blipFill>
        <p:spPr>
          <a:xfrm>
            <a:off x="152400" y="2962325"/>
            <a:ext cx="2894274" cy="1531450"/>
          </a:xfrm>
          <a:prstGeom prst="rect">
            <a:avLst/>
          </a:prstGeom>
          <a:noFill/>
          <a:ln>
            <a:noFill/>
          </a:ln>
        </p:spPr>
      </p:pic>
      <p:pic>
        <p:nvPicPr>
          <p:cNvPr id="705" name="Google Shape;705;p107"/>
          <p:cNvPicPr preferRelativeResize="0"/>
          <p:nvPr/>
        </p:nvPicPr>
        <p:blipFill rotWithShape="1">
          <a:blip r:embed="rId6">
            <a:alphaModFix/>
          </a:blip>
          <a:srcRect/>
          <a:stretch/>
        </p:blipFill>
        <p:spPr>
          <a:xfrm>
            <a:off x="3166475" y="1142113"/>
            <a:ext cx="2811059" cy="1574575"/>
          </a:xfrm>
          <a:prstGeom prst="rect">
            <a:avLst/>
          </a:prstGeom>
          <a:noFill/>
          <a:ln>
            <a:noFill/>
          </a:ln>
        </p:spPr>
      </p:pic>
      <p:pic>
        <p:nvPicPr>
          <p:cNvPr id="706" name="Google Shape;706;p107"/>
          <p:cNvPicPr preferRelativeResize="0"/>
          <p:nvPr/>
        </p:nvPicPr>
        <p:blipFill rotWithShape="1">
          <a:blip r:embed="rId7">
            <a:alphaModFix/>
          </a:blip>
          <a:srcRect/>
          <a:stretch/>
        </p:blipFill>
        <p:spPr>
          <a:xfrm>
            <a:off x="3166478" y="2790725"/>
            <a:ext cx="2811050" cy="1163648"/>
          </a:xfrm>
          <a:prstGeom prst="rect">
            <a:avLst/>
          </a:prstGeom>
          <a:noFill/>
          <a:ln>
            <a:noFill/>
          </a:ln>
        </p:spPr>
      </p:pic>
      <p:pic>
        <p:nvPicPr>
          <p:cNvPr id="707" name="Google Shape;707;p107"/>
          <p:cNvPicPr preferRelativeResize="0"/>
          <p:nvPr/>
        </p:nvPicPr>
        <p:blipFill rotWithShape="1">
          <a:blip r:embed="rId8">
            <a:alphaModFix/>
          </a:blip>
          <a:srcRect/>
          <a:stretch/>
        </p:blipFill>
        <p:spPr>
          <a:xfrm>
            <a:off x="3271850" y="3402224"/>
            <a:ext cx="2749550" cy="1091551"/>
          </a:xfrm>
          <a:prstGeom prst="rect">
            <a:avLst/>
          </a:prstGeom>
          <a:noFill/>
          <a:ln>
            <a:noFill/>
          </a:ln>
        </p:spPr>
      </p:pic>
      <p:sp>
        <p:nvSpPr>
          <p:cNvPr id="708" name="Google Shape;708;p107"/>
          <p:cNvSpPr txBox="1"/>
          <p:nvPr/>
        </p:nvSpPr>
        <p:spPr>
          <a:xfrm>
            <a:off x="152400" y="4566200"/>
            <a:ext cx="30000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1D7E75"/>
                </a:solidFill>
                <a:latin typeface="Cabin"/>
                <a:ea typeface="Cabin"/>
                <a:cs typeface="Cabin"/>
                <a:sym typeface="Cabin"/>
              </a:rPr>
              <a:t>Báo cáo Phạm vi 3 phi tài chính năm 2024:</a:t>
            </a:r>
            <a:endParaRPr sz="1100" b="1" i="0" u="none" strike="noStrike" cap="none">
              <a:solidFill>
                <a:srgbClr val="1D7E75"/>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1D7E75"/>
                </a:solidFill>
                <a:latin typeface="Cabin"/>
                <a:ea typeface="Cabin"/>
                <a:cs typeface="Cabin"/>
                <a:sym typeface="Cabin"/>
              </a:rPr>
              <a:t>Hoàn thiện đào tạo và </a:t>
            </a:r>
            <a:r>
              <a:rPr lang="en" sz="1100" b="1">
                <a:solidFill>
                  <a:srgbClr val="1D7E75"/>
                </a:solidFill>
                <a:latin typeface="Cabin"/>
                <a:ea typeface="Cabin"/>
                <a:cs typeface="Cabin"/>
                <a:sym typeface="Cabin"/>
              </a:rPr>
              <a:t>đang </a:t>
            </a:r>
            <a:r>
              <a:rPr lang="en" sz="1100" b="1" i="0" u="none" strike="noStrike" cap="none">
                <a:solidFill>
                  <a:srgbClr val="1D7E75"/>
                </a:solidFill>
                <a:latin typeface="Cabin"/>
                <a:ea typeface="Cabin"/>
                <a:cs typeface="Cabin"/>
                <a:sym typeface="Cabin"/>
              </a:rPr>
              <a:t>thu thập dữ liệu</a:t>
            </a:r>
            <a:endParaRPr sz="1100" b="1" i="0" u="none" strike="noStrike" cap="none">
              <a:solidFill>
                <a:srgbClr val="1D7E75"/>
              </a:solidFill>
              <a:latin typeface="Cabin"/>
              <a:ea typeface="Cabin"/>
              <a:cs typeface="Cabin"/>
              <a:sym typeface="Cabin"/>
            </a:endParaRPr>
          </a:p>
        </p:txBody>
      </p:sp>
      <p:sp>
        <p:nvSpPr>
          <p:cNvPr id="709" name="Google Shape;709;p107"/>
          <p:cNvSpPr txBox="1"/>
          <p:nvPr/>
        </p:nvSpPr>
        <p:spPr>
          <a:xfrm>
            <a:off x="6074375" y="4536325"/>
            <a:ext cx="32199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1D7E75"/>
                </a:solidFill>
                <a:latin typeface="Cabin"/>
                <a:ea typeface="Cabin"/>
                <a:cs typeface="Cabin"/>
                <a:sym typeface="Cabin"/>
              </a:rPr>
              <a:t>Lộ trình giảm phát thải Phạm vi 1 và 2 năm 2024:</a:t>
            </a:r>
            <a:endParaRPr sz="1100" b="1" i="0" u="none" strike="noStrike" cap="none">
              <a:solidFill>
                <a:srgbClr val="1D7E75"/>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1D7E75"/>
                </a:solidFill>
                <a:latin typeface="Cabin"/>
                <a:ea typeface="Cabin"/>
                <a:cs typeface="Cabin"/>
                <a:sym typeface="Cabin"/>
              </a:rPr>
              <a:t>Đ</a:t>
            </a:r>
            <a:r>
              <a:rPr lang="en" sz="1100" b="1">
                <a:solidFill>
                  <a:srgbClr val="1D7E75"/>
                </a:solidFill>
                <a:latin typeface="Cabin"/>
                <a:ea typeface="Cabin"/>
                <a:cs typeface="Cabin"/>
                <a:sym typeface="Cabin"/>
              </a:rPr>
              <a:t>ã</a:t>
            </a:r>
            <a:r>
              <a:rPr lang="en" sz="1100" b="1" i="0" u="none" strike="noStrike" cap="none">
                <a:solidFill>
                  <a:srgbClr val="1D7E75"/>
                </a:solidFill>
                <a:latin typeface="Cabin"/>
                <a:ea typeface="Cabin"/>
                <a:cs typeface="Cabin"/>
                <a:sym typeface="Cabin"/>
              </a:rPr>
              <a:t> hoàn thiện báo cáo</a:t>
            </a:r>
            <a:endParaRPr sz="1100" b="1" i="0" u="none" strike="noStrike" cap="none">
              <a:solidFill>
                <a:srgbClr val="1D7E75"/>
              </a:solidFill>
              <a:latin typeface="Cabin"/>
              <a:ea typeface="Cabin"/>
              <a:cs typeface="Cabin"/>
              <a:sym typeface="Cabin"/>
            </a:endParaRPr>
          </a:p>
        </p:txBody>
      </p:sp>
      <p:sp>
        <p:nvSpPr>
          <p:cNvPr id="710" name="Google Shape;710;p107"/>
          <p:cNvSpPr txBox="1"/>
          <p:nvPr/>
        </p:nvSpPr>
        <p:spPr>
          <a:xfrm>
            <a:off x="3146612" y="4536325"/>
            <a:ext cx="30000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1D7E75"/>
                </a:solidFill>
                <a:latin typeface="Cabin"/>
                <a:ea typeface="Cabin"/>
                <a:cs typeface="Cabin"/>
                <a:sym typeface="Cabin"/>
              </a:rPr>
              <a:t>Báo cáo Phạm vi 3 tài chính năm 2024:</a:t>
            </a:r>
            <a:endParaRPr sz="1100" b="1" i="0" u="none" strike="noStrike" cap="none">
              <a:solidFill>
                <a:srgbClr val="1D7E75"/>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1D7E75"/>
                </a:solidFill>
                <a:latin typeface="Cabin"/>
                <a:ea typeface="Cabin"/>
                <a:cs typeface="Cabin"/>
                <a:sym typeface="Cabin"/>
              </a:rPr>
              <a:t>Hoàn thiện đào tạo và đang thu thập dữ liệu</a:t>
            </a:r>
            <a:endParaRPr sz="1100" b="1" i="0" u="none" strike="noStrike" cap="none">
              <a:solidFill>
                <a:srgbClr val="1D7E75"/>
              </a:solidFill>
              <a:latin typeface="Cabin"/>
              <a:ea typeface="Cabin"/>
              <a:cs typeface="Cabin"/>
              <a:sym typeface="Cabi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E6F4F1"/>
        </a:solidFill>
        <a:effectLst/>
      </p:bgPr>
    </p:bg>
    <p:spTree>
      <p:nvGrpSpPr>
        <p:cNvPr id="1" name="Shape 714"/>
        <p:cNvGrpSpPr/>
        <p:nvPr/>
      </p:nvGrpSpPr>
      <p:grpSpPr>
        <a:xfrm>
          <a:off x="0" y="0"/>
          <a:ext cx="0" cy="0"/>
          <a:chOff x="0" y="0"/>
          <a:chExt cx="0" cy="0"/>
        </a:xfrm>
      </p:grpSpPr>
      <p:sp>
        <p:nvSpPr>
          <p:cNvPr id="715" name="Google Shape;715;p108"/>
          <p:cNvSpPr/>
          <p:nvPr/>
        </p:nvSpPr>
        <p:spPr>
          <a:xfrm>
            <a:off x="65575" y="69625"/>
            <a:ext cx="8991000" cy="9201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17780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FBFBFB"/>
                </a:solidFill>
                <a:latin typeface="Cabin"/>
                <a:ea typeface="Cabin"/>
                <a:cs typeface="Cabin"/>
                <a:sym typeface="Cabin"/>
              </a:rPr>
              <a:t> </a:t>
            </a:r>
            <a:endParaRPr sz="1500" b="1" i="0" u="none" strike="noStrike" cap="none">
              <a:solidFill>
                <a:srgbClr val="FBFBFB"/>
              </a:solidFill>
              <a:latin typeface="Cabin"/>
              <a:ea typeface="Cabin"/>
              <a:cs typeface="Cabin"/>
              <a:sym typeface="Cabin"/>
            </a:endParaRPr>
          </a:p>
        </p:txBody>
      </p:sp>
      <p:sp>
        <p:nvSpPr>
          <p:cNvPr id="716" name="Google Shape;716;p108"/>
          <p:cNvSpPr txBox="1">
            <a:spLocks noGrp="1"/>
          </p:cNvSpPr>
          <p:nvPr>
            <p:ph type="title"/>
          </p:nvPr>
        </p:nvSpPr>
        <p:spPr>
          <a:xfrm>
            <a:off x="230945" y="155167"/>
            <a:ext cx="81885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41667"/>
              <a:buNone/>
            </a:pPr>
            <a:r>
              <a:rPr lang="en" sz="2400" b="1">
                <a:solidFill>
                  <a:schemeClr val="lt1"/>
                </a:solidFill>
                <a:latin typeface="Cabin"/>
                <a:ea typeface="Cabin"/>
                <a:cs typeface="Cabin"/>
                <a:sym typeface="Cabin"/>
              </a:rPr>
              <a:t>State-Owned Champion Bank Collaboration: </a:t>
            </a:r>
            <a:endParaRPr sz="2400" b="1">
              <a:solidFill>
                <a:schemeClr val="lt1"/>
              </a:solidFill>
              <a:latin typeface="Cabin"/>
              <a:ea typeface="Cabin"/>
              <a:cs typeface="Cabin"/>
              <a:sym typeface="Cabin"/>
            </a:endParaRPr>
          </a:p>
          <a:p>
            <a:pPr marL="0" lvl="0" indent="0" algn="l" rtl="0">
              <a:lnSpc>
                <a:spcPct val="100000"/>
              </a:lnSpc>
              <a:spcBef>
                <a:spcPts val="0"/>
              </a:spcBef>
              <a:spcAft>
                <a:spcPts val="0"/>
              </a:spcAft>
              <a:buSzPct val="41667"/>
              <a:buNone/>
            </a:pPr>
            <a:r>
              <a:rPr lang="en" sz="2400" b="1">
                <a:solidFill>
                  <a:schemeClr val="lt1"/>
                </a:solidFill>
                <a:latin typeface="Cabin"/>
                <a:ea typeface="Cabin"/>
                <a:cs typeface="Cabin"/>
                <a:sym typeface="Cabin"/>
              </a:rPr>
              <a:t>BIDV Progress Assessment - Sustainability Linked Loans</a:t>
            </a:r>
            <a:endParaRPr sz="2400" b="1">
              <a:solidFill>
                <a:schemeClr val="lt1"/>
              </a:solidFill>
              <a:latin typeface="Cabin"/>
              <a:ea typeface="Cabin"/>
              <a:cs typeface="Cabin"/>
              <a:sym typeface="Cabin"/>
            </a:endParaRPr>
          </a:p>
        </p:txBody>
      </p:sp>
      <p:grpSp>
        <p:nvGrpSpPr>
          <p:cNvPr id="717" name="Google Shape;717;p108"/>
          <p:cNvGrpSpPr/>
          <p:nvPr/>
        </p:nvGrpSpPr>
        <p:grpSpPr>
          <a:xfrm>
            <a:off x="65584" y="1204561"/>
            <a:ext cx="2334516" cy="724612"/>
            <a:chOff x="1593000" y="2322568"/>
            <a:chExt cx="2939827" cy="643356"/>
          </a:xfrm>
        </p:grpSpPr>
        <p:sp>
          <p:nvSpPr>
            <p:cNvPr id="718" name="Google Shape;718;p108"/>
            <p:cNvSpPr/>
            <p:nvPr/>
          </p:nvSpPr>
          <p:spPr>
            <a:xfrm flipH="1">
              <a:off x="2283025" y="2322575"/>
              <a:ext cx="1844400" cy="642600"/>
            </a:xfrm>
            <a:prstGeom prst="rect">
              <a:avLst/>
            </a:prstGeom>
            <a:solidFill>
              <a:srgbClr val="1B7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bin"/>
                <a:ea typeface="Cabin"/>
                <a:cs typeface="Cabin"/>
                <a:sym typeface="Cabin"/>
              </a:endParaRPr>
            </a:p>
          </p:txBody>
        </p:sp>
        <p:sp>
          <p:nvSpPr>
            <p:cNvPr id="719" name="Google Shape;719;p108"/>
            <p:cNvSpPr/>
            <p:nvPr/>
          </p:nvSpPr>
          <p:spPr>
            <a:xfrm rot="-5400000">
              <a:off x="3501574" y="1934671"/>
              <a:ext cx="643356" cy="1419149"/>
            </a:xfrm>
            <a:prstGeom prst="flowChartOffpageConnector">
              <a:avLst/>
            </a:prstGeom>
            <a:solidFill>
              <a:srgbClr val="1B7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bin"/>
                <a:ea typeface="Cabin"/>
                <a:cs typeface="Cabin"/>
                <a:sym typeface="Cabin"/>
              </a:endParaRPr>
            </a:p>
          </p:txBody>
        </p:sp>
        <p:sp>
          <p:nvSpPr>
            <p:cNvPr id="720" name="Google Shape;720;p108"/>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
                  <a:solidFill>
                    <a:srgbClr val="FFFFFF"/>
                  </a:solidFill>
                  <a:latin typeface="Cabin Medium"/>
                  <a:ea typeface="Cabin Medium"/>
                  <a:cs typeface="Cabin Medium"/>
                  <a:sym typeface="Cabin Medium"/>
                </a:rPr>
                <a:t>SLL Support</a:t>
              </a:r>
              <a:endParaRPr sz="1400" b="0" i="0" u="none" strike="noStrike" cap="none">
                <a:solidFill>
                  <a:srgbClr val="FFFFFF"/>
                </a:solidFill>
                <a:latin typeface="Cabin"/>
                <a:ea typeface="Cabin"/>
                <a:cs typeface="Cabin"/>
                <a:sym typeface="Cabin"/>
              </a:endParaRPr>
            </a:p>
          </p:txBody>
        </p:sp>
        <p:sp>
          <p:nvSpPr>
            <p:cNvPr id="721" name="Google Shape;721;p108"/>
            <p:cNvSpPr/>
            <p:nvPr/>
          </p:nvSpPr>
          <p:spPr>
            <a:xfrm>
              <a:off x="1593000" y="2322568"/>
              <a:ext cx="690000" cy="642300"/>
            </a:xfrm>
            <a:prstGeom prst="rect">
              <a:avLst/>
            </a:prstGeom>
            <a:solidFill>
              <a:srgbClr val="1D7E75"/>
            </a:solidFill>
            <a:ln>
              <a:noFill/>
            </a:ln>
            <a:effectLst>
              <a:outerShdw blurRad="71438" dist="28575" dir="2700000" algn="bl" rotWithShape="0">
                <a:srgbClr val="000000">
                  <a:alpha val="168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bin"/>
                <a:ea typeface="Cabin"/>
                <a:cs typeface="Cabin"/>
                <a:sym typeface="Cabin"/>
              </a:endParaRPr>
            </a:p>
          </p:txBody>
        </p:sp>
        <p:sp>
          <p:nvSpPr>
            <p:cNvPr id="722" name="Google Shape;722;p108"/>
            <p:cNvSpPr/>
            <p:nvPr/>
          </p:nvSpPr>
          <p:spPr>
            <a:xfrm>
              <a:off x="1593000" y="2322575"/>
              <a:ext cx="690000" cy="642600"/>
            </a:xfrm>
            <a:prstGeom prst="rect">
              <a:avLst/>
            </a:prstGeom>
            <a:solidFill>
              <a:srgbClr val="1F88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 sz="2600" b="0" i="0" u="none" strike="noStrike" cap="none">
                  <a:solidFill>
                    <a:srgbClr val="FFFFFF"/>
                  </a:solidFill>
                  <a:latin typeface="Cabin"/>
                  <a:ea typeface="Cabin"/>
                  <a:cs typeface="Cabin"/>
                  <a:sym typeface="Cabin"/>
                </a:rPr>
                <a:t>3</a:t>
              </a:r>
              <a:endParaRPr sz="2600" b="0" i="0" u="none" strike="noStrike" cap="none">
                <a:solidFill>
                  <a:srgbClr val="FFFFFF"/>
                </a:solidFill>
                <a:latin typeface="Cabin"/>
                <a:ea typeface="Cabin"/>
                <a:cs typeface="Cabin"/>
                <a:sym typeface="Cabin"/>
              </a:endParaRPr>
            </a:p>
          </p:txBody>
        </p:sp>
      </p:grpSp>
      <p:sp>
        <p:nvSpPr>
          <p:cNvPr id="723" name="Google Shape;723;p108"/>
          <p:cNvSpPr/>
          <p:nvPr/>
        </p:nvSpPr>
        <p:spPr>
          <a:xfrm>
            <a:off x="2463850" y="1219350"/>
            <a:ext cx="3090300" cy="3314400"/>
          </a:xfrm>
          <a:prstGeom prst="roundRect">
            <a:avLst>
              <a:gd name="adj" fmla="val 16667"/>
            </a:avLst>
          </a:prstGeom>
          <a:solidFill>
            <a:srgbClr val="D7ECE8"/>
          </a:solidFill>
          <a:ln w="19050" cap="flat" cmpd="sng">
            <a:solidFill>
              <a:srgbClr val="155B55"/>
            </a:solidFill>
            <a:prstDash val="solid"/>
            <a:round/>
            <a:headEnd type="none" w="sm" len="sm"/>
            <a:tailEnd type="none" w="sm" len="sm"/>
          </a:ln>
        </p:spPr>
        <p:txBody>
          <a:bodyPr spcFirstLastPara="1" wrap="square" lIns="0" tIns="91425" rIns="0" bIns="91425" anchor="t" anchorCtr="0">
            <a:noAutofit/>
          </a:bodyPr>
          <a:lstStyle/>
          <a:p>
            <a:pPr marL="0" lvl="0" indent="0" algn="l" rtl="0">
              <a:spcBef>
                <a:spcPts val="0"/>
              </a:spcBef>
              <a:spcAft>
                <a:spcPts val="0"/>
              </a:spcAft>
              <a:buNone/>
            </a:pPr>
            <a:endParaRPr sz="1100" b="1">
              <a:solidFill>
                <a:schemeClr val="dk1"/>
              </a:solidFill>
              <a:latin typeface="Cabin"/>
              <a:ea typeface="Cabin"/>
              <a:cs typeface="Cabin"/>
              <a:sym typeface="Cabin"/>
            </a:endParaRPr>
          </a:p>
          <a:p>
            <a:pPr marL="171450" lvl="0" indent="-184150" algn="l" rtl="0">
              <a:spcBef>
                <a:spcPts val="0"/>
              </a:spcBef>
              <a:spcAft>
                <a:spcPts val="0"/>
              </a:spcAft>
              <a:buClr>
                <a:schemeClr val="dk1"/>
              </a:buClr>
              <a:buSzPts val="1100"/>
              <a:buFont typeface="Cabin"/>
              <a:buChar char="●"/>
            </a:pPr>
            <a:r>
              <a:rPr lang="en" sz="1100" b="1">
                <a:solidFill>
                  <a:schemeClr val="dk1"/>
                </a:solidFill>
                <a:latin typeface="Cabin"/>
                <a:ea typeface="Cabin"/>
                <a:cs typeface="Cabin"/>
                <a:sym typeface="Cabin"/>
              </a:rPr>
              <a:t>Economic context: </a:t>
            </a:r>
            <a:r>
              <a:rPr lang="en" sz="1100">
                <a:solidFill>
                  <a:schemeClr val="dk1"/>
                </a:solidFill>
                <a:latin typeface="Cabin"/>
                <a:ea typeface="Cabin"/>
                <a:cs typeface="Cabin"/>
                <a:sym typeface="Cabin"/>
              </a:rPr>
              <a:t>Enterprises prioritize resources for business, green transformation is not urgent. Exporting enterprises only do enough to meet the conditions.</a:t>
            </a:r>
            <a:endParaRPr sz="1100">
              <a:solidFill>
                <a:schemeClr val="dk1"/>
              </a:solidFill>
              <a:latin typeface="Cabin"/>
              <a:ea typeface="Cabin"/>
              <a:cs typeface="Cabin"/>
              <a:sym typeface="Cabin"/>
            </a:endParaRPr>
          </a:p>
          <a:p>
            <a:pPr marL="171450" lvl="0" indent="-184150" algn="l" rtl="0">
              <a:spcBef>
                <a:spcPts val="0"/>
              </a:spcBef>
              <a:spcAft>
                <a:spcPts val="0"/>
              </a:spcAft>
              <a:buClr>
                <a:schemeClr val="dk1"/>
              </a:buClr>
              <a:buSzPts val="1100"/>
              <a:buFont typeface="Cabin"/>
              <a:buChar char="●"/>
            </a:pPr>
            <a:r>
              <a:rPr lang="en" sz="1100" b="1">
                <a:solidFill>
                  <a:schemeClr val="dk1"/>
                </a:solidFill>
                <a:latin typeface="Cabin"/>
                <a:ea typeface="Cabin"/>
                <a:cs typeface="Cabin"/>
                <a:sym typeface="Cabin"/>
              </a:rPr>
              <a:t>Technical: </a:t>
            </a:r>
            <a:r>
              <a:rPr lang="en" sz="1100">
                <a:solidFill>
                  <a:schemeClr val="dk1"/>
                </a:solidFill>
                <a:latin typeface="Cabin"/>
                <a:ea typeface="Cabin"/>
                <a:cs typeface="Cabin"/>
                <a:sym typeface="Cabin"/>
              </a:rPr>
              <a:t>SLL has complex technical factors, affecting customers' decisions.</a:t>
            </a:r>
            <a:endParaRPr sz="1100">
              <a:solidFill>
                <a:schemeClr val="dk1"/>
              </a:solidFill>
              <a:latin typeface="Cabin"/>
              <a:ea typeface="Cabin"/>
              <a:cs typeface="Cabin"/>
              <a:sym typeface="Cabin"/>
            </a:endParaRPr>
          </a:p>
          <a:p>
            <a:pPr marL="171450" lvl="0" indent="-184150" algn="l" rtl="0">
              <a:spcBef>
                <a:spcPts val="0"/>
              </a:spcBef>
              <a:spcAft>
                <a:spcPts val="0"/>
              </a:spcAft>
              <a:buClr>
                <a:schemeClr val="dk1"/>
              </a:buClr>
              <a:buSzPts val="1100"/>
              <a:buFont typeface="Cabin"/>
              <a:buChar char="●"/>
            </a:pPr>
            <a:r>
              <a:rPr lang="en" sz="1100" b="1">
                <a:solidFill>
                  <a:schemeClr val="dk1"/>
                </a:solidFill>
                <a:latin typeface="Cabin"/>
                <a:ea typeface="Cabin"/>
                <a:cs typeface="Cabin"/>
                <a:sym typeface="Cabin"/>
              </a:rPr>
              <a:t>Financial:</a:t>
            </a:r>
            <a:r>
              <a:rPr lang="en" sz="1100">
                <a:solidFill>
                  <a:schemeClr val="dk1"/>
                </a:solidFill>
                <a:latin typeface="Cabin"/>
                <a:ea typeface="Cabin"/>
                <a:cs typeface="Cabin"/>
                <a:sym typeface="Cabin"/>
              </a:rPr>
              <a:t> The current SLL lending interest rate does not create enough motivation; the current credit growth rate is quite low.</a:t>
            </a:r>
            <a:endParaRPr sz="1100">
              <a:solidFill>
                <a:schemeClr val="dk1"/>
              </a:solidFill>
              <a:latin typeface="Cabin"/>
              <a:ea typeface="Cabin"/>
              <a:cs typeface="Cabin"/>
              <a:sym typeface="Cabin"/>
            </a:endParaRPr>
          </a:p>
          <a:p>
            <a:pPr marL="171450" lvl="0" indent="-184150" algn="l" rtl="0">
              <a:spcBef>
                <a:spcPts val="0"/>
              </a:spcBef>
              <a:spcAft>
                <a:spcPts val="0"/>
              </a:spcAft>
              <a:buClr>
                <a:schemeClr val="dk1"/>
              </a:buClr>
              <a:buSzPts val="1100"/>
              <a:buFont typeface="Cabin"/>
              <a:buChar char="●"/>
            </a:pPr>
            <a:r>
              <a:rPr lang="en" sz="1100" b="1">
                <a:solidFill>
                  <a:schemeClr val="dk1"/>
                </a:solidFill>
                <a:latin typeface="Cabin"/>
                <a:ea typeface="Cabin"/>
                <a:cs typeface="Cabin"/>
                <a:sym typeface="Cabin"/>
              </a:rPr>
              <a:t>Business psychology: </a:t>
            </a:r>
            <a:r>
              <a:rPr lang="en" sz="1100">
                <a:solidFill>
                  <a:schemeClr val="dk1"/>
                </a:solidFill>
                <a:latin typeface="Cabin"/>
                <a:ea typeface="Cabin"/>
                <a:cs typeface="Cabin"/>
                <a:sym typeface="Cabin"/>
              </a:rPr>
              <a:t>Fear of losing competitive advantage if ESG information is made public and concern about "greenwashing" suspicions due to unclear regulations in Vietnam.</a:t>
            </a:r>
            <a:endParaRPr sz="1100">
              <a:solidFill>
                <a:schemeClr val="dk1"/>
              </a:solidFill>
              <a:latin typeface="Cabin"/>
              <a:ea typeface="Cabin"/>
              <a:cs typeface="Cabin"/>
              <a:sym typeface="Cabin"/>
            </a:endParaRPr>
          </a:p>
        </p:txBody>
      </p:sp>
      <p:sp>
        <p:nvSpPr>
          <p:cNvPr id="724" name="Google Shape;724;p108"/>
          <p:cNvSpPr/>
          <p:nvPr/>
        </p:nvSpPr>
        <p:spPr>
          <a:xfrm>
            <a:off x="5748450" y="1219350"/>
            <a:ext cx="3090300" cy="3314400"/>
          </a:xfrm>
          <a:prstGeom prst="roundRect">
            <a:avLst>
              <a:gd name="adj" fmla="val 16667"/>
            </a:avLst>
          </a:prstGeom>
          <a:solidFill>
            <a:srgbClr val="D7ECE8"/>
          </a:solidFill>
          <a:ln w="19050" cap="flat" cmpd="sng">
            <a:solidFill>
              <a:srgbClr val="155B55"/>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br>
              <a:rPr lang="en" sz="1100" b="1">
                <a:solidFill>
                  <a:schemeClr val="dk1"/>
                </a:solidFill>
                <a:latin typeface="Cabin"/>
                <a:ea typeface="Cabin"/>
                <a:cs typeface="Cabin"/>
                <a:sym typeface="Cabin"/>
              </a:rPr>
            </a:br>
            <a:endParaRPr sz="1100" b="1">
              <a:solidFill>
                <a:schemeClr val="dk1"/>
              </a:solidFill>
              <a:latin typeface="Cabin"/>
              <a:ea typeface="Cabin"/>
              <a:cs typeface="Cabin"/>
              <a:sym typeface="Cabin"/>
            </a:endParaRPr>
          </a:p>
          <a:p>
            <a:pPr marL="114300" lvl="0" indent="-184150" algn="l" rtl="0">
              <a:spcBef>
                <a:spcPts val="0"/>
              </a:spcBef>
              <a:spcAft>
                <a:spcPts val="0"/>
              </a:spcAft>
              <a:buClr>
                <a:schemeClr val="dk1"/>
              </a:buClr>
              <a:buSzPts val="1100"/>
              <a:buFont typeface="Cabin"/>
              <a:buChar char="●"/>
            </a:pPr>
            <a:r>
              <a:rPr lang="en" sz="1100" b="1">
                <a:solidFill>
                  <a:schemeClr val="dk1"/>
                </a:solidFill>
                <a:latin typeface="Cabin"/>
                <a:ea typeface="Cabin"/>
                <a:cs typeface="Cabin"/>
                <a:sym typeface="Cabin"/>
              </a:rPr>
              <a:t>New Strategy: </a:t>
            </a:r>
            <a:r>
              <a:rPr lang="en" sz="1100">
                <a:solidFill>
                  <a:schemeClr val="dk1"/>
                </a:solidFill>
                <a:latin typeface="Cabin"/>
                <a:ea typeface="Cabin"/>
                <a:cs typeface="Cabin"/>
                <a:sym typeface="Cabin"/>
              </a:rPr>
              <a:t>Focus on some potential customers and expand the scope to support Transition Plans instead of focusing only on SLL loans, anticipating the application of emission quotas from 2026.</a:t>
            </a:r>
            <a:endParaRPr sz="1100">
              <a:solidFill>
                <a:schemeClr val="dk1"/>
              </a:solidFill>
              <a:latin typeface="Cabin"/>
              <a:ea typeface="Cabin"/>
              <a:cs typeface="Cabin"/>
              <a:sym typeface="Cabin"/>
            </a:endParaRPr>
          </a:p>
          <a:p>
            <a:pPr marL="114300" lvl="0" indent="-184150" algn="l" rtl="0">
              <a:spcBef>
                <a:spcPts val="0"/>
              </a:spcBef>
              <a:spcAft>
                <a:spcPts val="0"/>
              </a:spcAft>
              <a:buClr>
                <a:schemeClr val="dk1"/>
              </a:buClr>
              <a:buSzPts val="1100"/>
              <a:buFont typeface="Cabin"/>
              <a:buChar char="●"/>
            </a:pPr>
            <a:r>
              <a:rPr lang="en" sz="1100" b="1">
                <a:solidFill>
                  <a:schemeClr val="dk1"/>
                </a:solidFill>
                <a:latin typeface="Cabin"/>
                <a:ea typeface="Cabin"/>
                <a:cs typeface="Cabin"/>
                <a:sym typeface="Cabin"/>
              </a:rPr>
              <a:t>From now-Early 2025: </a:t>
            </a:r>
            <a:r>
              <a:rPr lang="en" sz="1100">
                <a:solidFill>
                  <a:schemeClr val="dk1"/>
                </a:solidFill>
                <a:latin typeface="Cabin"/>
                <a:ea typeface="Cabin"/>
                <a:cs typeface="Cabin"/>
                <a:sym typeface="Cabin"/>
              </a:rPr>
              <a:t>BIDV will contact 20 old customers to promote SLL, arrange a meeting with 1 potential customer and Allotrope to consult in-depth on SLL.</a:t>
            </a:r>
            <a:br>
              <a:rPr lang="en" sz="1100">
                <a:solidFill>
                  <a:schemeClr val="dk1"/>
                </a:solidFill>
                <a:latin typeface="Cabin"/>
                <a:ea typeface="Cabin"/>
                <a:cs typeface="Cabin"/>
                <a:sym typeface="Cabin"/>
              </a:rPr>
            </a:br>
            <a:endParaRPr sz="1100">
              <a:solidFill>
                <a:schemeClr val="dk1"/>
              </a:solidFill>
              <a:latin typeface="Cabin"/>
              <a:ea typeface="Cabin"/>
              <a:cs typeface="Cabin"/>
              <a:sym typeface="Cabin"/>
            </a:endParaRPr>
          </a:p>
          <a:p>
            <a:pPr marL="114300" lvl="0" indent="-184150" algn="l" rtl="0">
              <a:spcBef>
                <a:spcPts val="0"/>
              </a:spcBef>
              <a:spcAft>
                <a:spcPts val="0"/>
              </a:spcAft>
              <a:buClr>
                <a:schemeClr val="dk1"/>
              </a:buClr>
              <a:buSzPts val="1100"/>
              <a:buFont typeface="Cabin"/>
              <a:buChar char="●"/>
            </a:pPr>
            <a:r>
              <a:rPr lang="en" sz="1100" b="1">
                <a:solidFill>
                  <a:schemeClr val="dk1"/>
                </a:solidFill>
                <a:latin typeface="Cabin"/>
                <a:ea typeface="Cabin"/>
                <a:cs typeface="Cabin"/>
                <a:sym typeface="Cabin"/>
              </a:rPr>
              <a:t>Future Approach: </a:t>
            </a:r>
            <a:r>
              <a:rPr lang="en" sz="1100">
                <a:solidFill>
                  <a:schemeClr val="dk1"/>
                </a:solidFill>
                <a:latin typeface="Cabin"/>
                <a:ea typeface="Cabin"/>
                <a:cs typeface="Cabin"/>
                <a:sym typeface="Cabin"/>
              </a:rPr>
              <a:t>Transition Plans</a:t>
            </a:r>
            <a:endParaRPr sz="1100">
              <a:solidFill>
                <a:schemeClr val="dk1"/>
              </a:solidFill>
              <a:latin typeface="Cabin"/>
              <a:ea typeface="Cabin"/>
              <a:cs typeface="Cabin"/>
              <a:sym typeface="Cabin"/>
            </a:endParaRPr>
          </a:p>
        </p:txBody>
      </p:sp>
      <p:sp>
        <p:nvSpPr>
          <p:cNvPr id="725" name="Google Shape;725;p108"/>
          <p:cNvSpPr/>
          <p:nvPr/>
        </p:nvSpPr>
        <p:spPr>
          <a:xfrm>
            <a:off x="2957375" y="1083175"/>
            <a:ext cx="2233800" cy="460800"/>
          </a:xfrm>
          <a:prstGeom prst="roundRect">
            <a:avLst>
              <a:gd name="adj" fmla="val 16667"/>
            </a:avLst>
          </a:prstGeom>
          <a:solidFill>
            <a:srgbClr val="006666"/>
          </a:solidFill>
          <a:ln w="9525" cap="flat" cmpd="sng">
            <a:solidFill>
              <a:srgbClr val="155B5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Cabin"/>
                <a:ea typeface="Cabin"/>
                <a:cs typeface="Cabin"/>
                <a:sym typeface="Cabin"/>
              </a:rPr>
              <a:t>CHALLENGES</a:t>
            </a:r>
            <a:endParaRPr b="1">
              <a:solidFill>
                <a:schemeClr val="lt1"/>
              </a:solidFill>
              <a:latin typeface="Cabin"/>
              <a:ea typeface="Cabin"/>
              <a:cs typeface="Cabin"/>
              <a:sym typeface="Cabin"/>
            </a:endParaRPr>
          </a:p>
        </p:txBody>
      </p:sp>
      <p:sp>
        <p:nvSpPr>
          <p:cNvPr id="726" name="Google Shape;726;p108"/>
          <p:cNvSpPr/>
          <p:nvPr/>
        </p:nvSpPr>
        <p:spPr>
          <a:xfrm>
            <a:off x="6176700" y="1083175"/>
            <a:ext cx="2233800" cy="460800"/>
          </a:xfrm>
          <a:prstGeom prst="roundRect">
            <a:avLst>
              <a:gd name="adj" fmla="val 16667"/>
            </a:avLst>
          </a:prstGeom>
          <a:solidFill>
            <a:srgbClr val="006666"/>
          </a:solidFill>
          <a:ln w="9525" cap="flat" cmpd="sng">
            <a:solidFill>
              <a:srgbClr val="155B5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lt1"/>
                </a:solidFill>
                <a:latin typeface="Cabin"/>
                <a:ea typeface="Cabin"/>
                <a:cs typeface="Cabin"/>
                <a:sym typeface="Cabin"/>
              </a:rPr>
              <a:t>PROPOSED SOLUTIONS &amp; </a:t>
            </a:r>
            <a:endParaRPr sz="1100" b="1">
              <a:solidFill>
                <a:schemeClr val="lt1"/>
              </a:solidFill>
              <a:latin typeface="Cabin"/>
              <a:ea typeface="Cabin"/>
              <a:cs typeface="Cabin"/>
              <a:sym typeface="Cabin"/>
            </a:endParaRPr>
          </a:p>
          <a:p>
            <a:pPr marL="0" lvl="0" indent="0" algn="ctr" rtl="0">
              <a:spcBef>
                <a:spcPts val="0"/>
              </a:spcBef>
              <a:spcAft>
                <a:spcPts val="0"/>
              </a:spcAft>
              <a:buClr>
                <a:schemeClr val="dk1"/>
              </a:buClr>
              <a:buSzPts val="1100"/>
              <a:buFont typeface="Arial"/>
              <a:buNone/>
            </a:pPr>
            <a:r>
              <a:rPr lang="en" sz="1100" b="1">
                <a:solidFill>
                  <a:schemeClr val="lt1"/>
                </a:solidFill>
                <a:latin typeface="Cabin"/>
                <a:ea typeface="Cabin"/>
                <a:cs typeface="Cabin"/>
                <a:sym typeface="Cabin"/>
              </a:rPr>
              <a:t>NEW DIRECTION</a:t>
            </a:r>
            <a:endParaRPr b="1">
              <a:solidFill>
                <a:schemeClr val="lt1"/>
              </a:solidFill>
              <a:latin typeface="Cabin"/>
              <a:ea typeface="Cabin"/>
              <a:cs typeface="Cabin"/>
              <a:sym typeface="Cabin"/>
            </a:endParaRPr>
          </a:p>
        </p:txBody>
      </p:sp>
      <p:pic>
        <p:nvPicPr>
          <p:cNvPr id="727" name="Google Shape;727;p108"/>
          <p:cNvPicPr preferRelativeResize="0"/>
          <p:nvPr/>
        </p:nvPicPr>
        <p:blipFill rotWithShape="1">
          <a:blip r:embed="rId3">
            <a:alphaModFix/>
          </a:blip>
          <a:srcRect/>
          <a:stretch/>
        </p:blipFill>
        <p:spPr>
          <a:xfrm>
            <a:off x="7748099" y="52326"/>
            <a:ext cx="1243600" cy="4311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E6F4F1"/>
        </a:solidFill>
        <a:effectLst/>
      </p:bgPr>
    </p:bg>
    <p:spTree>
      <p:nvGrpSpPr>
        <p:cNvPr id="1" name="Shape 731"/>
        <p:cNvGrpSpPr/>
        <p:nvPr/>
      </p:nvGrpSpPr>
      <p:grpSpPr>
        <a:xfrm>
          <a:off x="0" y="0"/>
          <a:ext cx="0" cy="0"/>
          <a:chOff x="0" y="0"/>
          <a:chExt cx="0" cy="0"/>
        </a:xfrm>
      </p:grpSpPr>
      <p:sp>
        <p:nvSpPr>
          <p:cNvPr id="732" name="Google Shape;732;p109"/>
          <p:cNvSpPr/>
          <p:nvPr/>
        </p:nvSpPr>
        <p:spPr>
          <a:xfrm>
            <a:off x="65575" y="69625"/>
            <a:ext cx="8991000" cy="920100"/>
          </a:xfrm>
          <a:prstGeom prst="round2DiagRect">
            <a:avLst>
              <a:gd name="adj1" fmla="val 16667"/>
              <a:gd name="adj2" fmla="val 0"/>
            </a:avLst>
          </a:prstGeom>
          <a:solidFill>
            <a:srgbClr val="1D7E74"/>
          </a:solidFill>
          <a:ln>
            <a:noFill/>
          </a:ln>
          <a:effectLst>
            <a:outerShdw blurRad="28575" dist="38100" dir="2580000" algn="bl" rotWithShape="0">
              <a:srgbClr val="B5D8D0"/>
            </a:outerShdw>
          </a:effectLst>
        </p:spPr>
        <p:txBody>
          <a:bodyPr spcFirstLastPara="1" wrap="square" lIns="91425" tIns="91425" rIns="91425" bIns="91425" anchor="ctr" anchorCtr="0">
            <a:noAutofit/>
          </a:bodyPr>
          <a:lstStyle/>
          <a:p>
            <a:pPr marL="17780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FBFBFB"/>
                </a:solidFill>
                <a:latin typeface="Cabin"/>
                <a:ea typeface="Cabin"/>
                <a:cs typeface="Cabin"/>
                <a:sym typeface="Cabin"/>
              </a:rPr>
              <a:t> </a:t>
            </a:r>
            <a:endParaRPr sz="1500" b="1" i="0" u="none" strike="noStrike" cap="none">
              <a:solidFill>
                <a:srgbClr val="FBFBFB"/>
              </a:solidFill>
              <a:latin typeface="Cabin"/>
              <a:ea typeface="Cabin"/>
              <a:cs typeface="Cabin"/>
              <a:sym typeface="Cabin"/>
            </a:endParaRPr>
          </a:p>
        </p:txBody>
      </p:sp>
      <p:sp>
        <p:nvSpPr>
          <p:cNvPr id="733" name="Google Shape;733;p109"/>
          <p:cNvSpPr txBox="1">
            <a:spLocks noGrp="1"/>
          </p:cNvSpPr>
          <p:nvPr>
            <p:ph type="title"/>
          </p:nvPr>
        </p:nvSpPr>
        <p:spPr>
          <a:xfrm>
            <a:off x="403650" y="262517"/>
            <a:ext cx="81885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000"/>
              <a:buNone/>
            </a:pPr>
            <a:r>
              <a:rPr lang="en" sz="2400" b="1">
                <a:solidFill>
                  <a:schemeClr val="lt1"/>
                </a:solidFill>
                <a:latin typeface="Cabin"/>
                <a:ea typeface="Cabin"/>
                <a:cs typeface="Cabin"/>
                <a:sym typeface="Cabin"/>
              </a:rPr>
              <a:t>BIDV Progress Assessment - Financed Emission</a:t>
            </a:r>
            <a:endParaRPr sz="2400" b="1">
              <a:solidFill>
                <a:schemeClr val="lt1"/>
              </a:solidFill>
              <a:latin typeface="Cabin"/>
              <a:ea typeface="Cabin"/>
              <a:cs typeface="Cabin"/>
              <a:sym typeface="Cabin"/>
            </a:endParaRPr>
          </a:p>
        </p:txBody>
      </p:sp>
      <p:grpSp>
        <p:nvGrpSpPr>
          <p:cNvPr id="734" name="Google Shape;734;p109"/>
          <p:cNvGrpSpPr/>
          <p:nvPr/>
        </p:nvGrpSpPr>
        <p:grpSpPr>
          <a:xfrm>
            <a:off x="65570" y="2418562"/>
            <a:ext cx="2334516" cy="1807895"/>
            <a:chOff x="1593000" y="2322568"/>
            <a:chExt cx="2939827" cy="643356"/>
          </a:xfrm>
        </p:grpSpPr>
        <p:sp>
          <p:nvSpPr>
            <p:cNvPr id="735" name="Google Shape;735;p109"/>
            <p:cNvSpPr/>
            <p:nvPr/>
          </p:nvSpPr>
          <p:spPr>
            <a:xfrm flipH="1">
              <a:off x="2283025" y="2322575"/>
              <a:ext cx="1844400" cy="642600"/>
            </a:xfrm>
            <a:prstGeom prst="rect">
              <a:avLst/>
            </a:prstGeom>
            <a:solidFill>
              <a:srgbClr val="1B7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bin"/>
                <a:ea typeface="Cabin"/>
                <a:cs typeface="Cabin"/>
                <a:sym typeface="Cabin"/>
              </a:endParaRPr>
            </a:p>
          </p:txBody>
        </p:sp>
        <p:sp>
          <p:nvSpPr>
            <p:cNvPr id="736" name="Google Shape;736;p109"/>
            <p:cNvSpPr/>
            <p:nvPr/>
          </p:nvSpPr>
          <p:spPr>
            <a:xfrm rot="-5400000">
              <a:off x="3501574" y="1934671"/>
              <a:ext cx="643356" cy="1419149"/>
            </a:xfrm>
            <a:prstGeom prst="flowChartOffpageConnector">
              <a:avLst/>
            </a:prstGeom>
            <a:solidFill>
              <a:srgbClr val="1B7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bin"/>
                <a:ea typeface="Cabin"/>
                <a:cs typeface="Cabin"/>
                <a:sym typeface="Cabin"/>
              </a:endParaRPr>
            </a:p>
          </p:txBody>
        </p:sp>
        <p:sp>
          <p:nvSpPr>
            <p:cNvPr id="737" name="Google Shape;737;p109"/>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300"/>
                <a:buFont typeface="Arial"/>
                <a:buNone/>
              </a:pPr>
              <a:r>
                <a:rPr lang="en" sz="1300" b="0" i="0" u="none" strike="noStrike" cap="none">
                  <a:solidFill>
                    <a:srgbClr val="FFFFFF"/>
                  </a:solidFill>
                  <a:latin typeface="Cabin Medium"/>
                  <a:ea typeface="Cabin Medium"/>
                  <a:cs typeface="Cabin Medium"/>
                  <a:sym typeface="Cabin Medium"/>
                </a:rPr>
                <a:t>Lộ trình Net Zero cho 3 phạm vi 1,2,3 và Công cụ tính toán</a:t>
              </a:r>
              <a:endParaRPr sz="1300" b="0" i="0" u="none" strike="noStrike" cap="none">
                <a:solidFill>
                  <a:srgbClr val="FFFFFF"/>
                </a:solidFill>
                <a:latin typeface="Cabin"/>
                <a:ea typeface="Cabin"/>
                <a:cs typeface="Cabin"/>
                <a:sym typeface="Cabin"/>
              </a:endParaRPr>
            </a:p>
          </p:txBody>
        </p:sp>
        <p:sp>
          <p:nvSpPr>
            <p:cNvPr id="738" name="Google Shape;738;p109"/>
            <p:cNvSpPr/>
            <p:nvPr/>
          </p:nvSpPr>
          <p:spPr>
            <a:xfrm>
              <a:off x="1593000" y="2322568"/>
              <a:ext cx="690000" cy="642300"/>
            </a:xfrm>
            <a:prstGeom prst="rect">
              <a:avLst/>
            </a:prstGeom>
            <a:solidFill>
              <a:srgbClr val="1D7E75"/>
            </a:solidFill>
            <a:ln>
              <a:noFill/>
            </a:ln>
            <a:effectLst>
              <a:outerShdw blurRad="71438" dist="28575" dir="2700000" algn="bl" rotWithShape="0">
                <a:srgbClr val="000000">
                  <a:alpha val="168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bin"/>
                <a:ea typeface="Cabin"/>
                <a:cs typeface="Cabin"/>
                <a:sym typeface="Cabin"/>
              </a:endParaRPr>
            </a:p>
          </p:txBody>
        </p:sp>
        <p:sp>
          <p:nvSpPr>
            <p:cNvPr id="739" name="Google Shape;739;p109"/>
            <p:cNvSpPr/>
            <p:nvPr/>
          </p:nvSpPr>
          <p:spPr>
            <a:xfrm>
              <a:off x="1593000" y="2322575"/>
              <a:ext cx="690000" cy="642600"/>
            </a:xfrm>
            <a:prstGeom prst="rect">
              <a:avLst/>
            </a:prstGeom>
            <a:solidFill>
              <a:srgbClr val="1F88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 sz="2600" b="0" i="0" u="none" strike="noStrike" cap="none">
                  <a:solidFill>
                    <a:srgbClr val="FFFFFF"/>
                  </a:solidFill>
                  <a:latin typeface="Cabin"/>
                  <a:ea typeface="Cabin"/>
                  <a:cs typeface="Cabin"/>
                  <a:sym typeface="Cabin"/>
                </a:rPr>
                <a:t>2</a:t>
              </a:r>
              <a:endParaRPr sz="2600" b="0" i="0" u="none" strike="noStrike" cap="none">
                <a:solidFill>
                  <a:srgbClr val="FFFFFF"/>
                </a:solidFill>
                <a:latin typeface="Cabin"/>
                <a:ea typeface="Cabin"/>
                <a:cs typeface="Cabin"/>
                <a:sym typeface="Cabin"/>
              </a:endParaRPr>
            </a:p>
          </p:txBody>
        </p:sp>
      </p:grpSp>
      <p:grpSp>
        <p:nvGrpSpPr>
          <p:cNvPr id="740" name="Google Shape;740;p109"/>
          <p:cNvGrpSpPr/>
          <p:nvPr/>
        </p:nvGrpSpPr>
        <p:grpSpPr>
          <a:xfrm>
            <a:off x="65505" y="1187507"/>
            <a:ext cx="2334516" cy="1209059"/>
            <a:chOff x="1593000" y="2322568"/>
            <a:chExt cx="2939827" cy="643356"/>
          </a:xfrm>
        </p:grpSpPr>
        <p:sp>
          <p:nvSpPr>
            <p:cNvPr id="741" name="Google Shape;741;p109"/>
            <p:cNvSpPr/>
            <p:nvPr/>
          </p:nvSpPr>
          <p:spPr>
            <a:xfrm flipH="1">
              <a:off x="2283025" y="2322575"/>
              <a:ext cx="1844400" cy="642600"/>
            </a:xfrm>
            <a:prstGeom prst="rect">
              <a:avLst/>
            </a:prstGeom>
            <a:solidFill>
              <a:srgbClr val="1B7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bin"/>
                <a:ea typeface="Cabin"/>
                <a:cs typeface="Cabin"/>
                <a:sym typeface="Cabin"/>
              </a:endParaRPr>
            </a:p>
          </p:txBody>
        </p:sp>
        <p:sp>
          <p:nvSpPr>
            <p:cNvPr id="742" name="Google Shape;742;p109"/>
            <p:cNvSpPr/>
            <p:nvPr/>
          </p:nvSpPr>
          <p:spPr>
            <a:xfrm rot="-5400000">
              <a:off x="3501574" y="1934671"/>
              <a:ext cx="643356" cy="1419149"/>
            </a:xfrm>
            <a:prstGeom prst="flowChartOffpageConnector">
              <a:avLst/>
            </a:prstGeom>
            <a:solidFill>
              <a:srgbClr val="1B7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bin"/>
                <a:ea typeface="Cabin"/>
                <a:cs typeface="Cabin"/>
                <a:sym typeface="Cabin"/>
              </a:endParaRPr>
            </a:p>
          </p:txBody>
        </p:sp>
        <p:sp>
          <p:nvSpPr>
            <p:cNvPr id="743" name="Google Shape;743;p109"/>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FFFFFF"/>
                  </a:solidFill>
                  <a:latin typeface="Cabin Medium"/>
                  <a:ea typeface="Cabin Medium"/>
                  <a:cs typeface="Cabin Medium"/>
                  <a:sym typeface="Cabin Medium"/>
                </a:rPr>
                <a:t>Báo cáo kiểm kê KNK cho 3 phạm vi 1,2,3</a:t>
              </a:r>
              <a:endParaRPr sz="1500" b="0" i="0" u="none" strike="noStrike" cap="none">
                <a:solidFill>
                  <a:srgbClr val="FFFFFF"/>
                </a:solidFill>
                <a:latin typeface="Cabin"/>
                <a:ea typeface="Cabin"/>
                <a:cs typeface="Cabin"/>
                <a:sym typeface="Cabin"/>
              </a:endParaRPr>
            </a:p>
          </p:txBody>
        </p:sp>
        <p:sp>
          <p:nvSpPr>
            <p:cNvPr id="744" name="Google Shape;744;p109"/>
            <p:cNvSpPr/>
            <p:nvPr/>
          </p:nvSpPr>
          <p:spPr>
            <a:xfrm>
              <a:off x="1593000" y="2322568"/>
              <a:ext cx="690000" cy="642300"/>
            </a:xfrm>
            <a:prstGeom prst="rect">
              <a:avLst/>
            </a:prstGeom>
            <a:solidFill>
              <a:srgbClr val="1D7E75"/>
            </a:solidFill>
            <a:ln>
              <a:noFill/>
            </a:ln>
            <a:effectLst>
              <a:outerShdw blurRad="71438" dist="28575" dir="2700000" algn="bl" rotWithShape="0">
                <a:srgbClr val="000000">
                  <a:alpha val="168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bin"/>
                <a:ea typeface="Cabin"/>
                <a:cs typeface="Cabin"/>
                <a:sym typeface="Cabin"/>
              </a:endParaRPr>
            </a:p>
          </p:txBody>
        </p:sp>
        <p:sp>
          <p:nvSpPr>
            <p:cNvPr id="745" name="Google Shape;745;p109"/>
            <p:cNvSpPr/>
            <p:nvPr/>
          </p:nvSpPr>
          <p:spPr>
            <a:xfrm>
              <a:off x="1593000" y="2322575"/>
              <a:ext cx="690000" cy="642600"/>
            </a:xfrm>
            <a:prstGeom prst="rect">
              <a:avLst/>
            </a:prstGeom>
            <a:solidFill>
              <a:srgbClr val="1F88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n" sz="2600" b="0" i="0" u="none" strike="noStrike" cap="none">
                  <a:solidFill>
                    <a:srgbClr val="FFFFFF"/>
                  </a:solidFill>
                  <a:latin typeface="Cabin"/>
                  <a:ea typeface="Cabin"/>
                  <a:cs typeface="Cabin"/>
                  <a:sym typeface="Cabin"/>
                </a:rPr>
                <a:t>1</a:t>
              </a:r>
              <a:endParaRPr sz="2600" b="0" i="0" u="none" strike="noStrike" cap="none">
                <a:solidFill>
                  <a:srgbClr val="FFFFFF"/>
                </a:solidFill>
                <a:latin typeface="Cabin"/>
                <a:ea typeface="Cabin"/>
                <a:cs typeface="Cabin"/>
                <a:sym typeface="Cabin"/>
              </a:endParaRPr>
            </a:p>
          </p:txBody>
        </p:sp>
      </p:grpSp>
      <p:sp>
        <p:nvSpPr>
          <p:cNvPr id="746" name="Google Shape;746;p109"/>
          <p:cNvSpPr/>
          <p:nvPr/>
        </p:nvSpPr>
        <p:spPr>
          <a:xfrm>
            <a:off x="2483175" y="1187488"/>
            <a:ext cx="3276900" cy="5727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Phạm vi 3 phi tài chính: </a:t>
            </a:r>
            <a:endParaRPr sz="1100" b="0" i="0" u="none" strike="noStrike" cap="none">
              <a:solidFill>
                <a:srgbClr val="000000"/>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Đã hoàn thành đào tạo và gửi phiếu khảo sát</a:t>
            </a:r>
            <a:endParaRPr sz="1100" b="0" i="0" u="none" strike="noStrike" cap="none">
              <a:solidFill>
                <a:srgbClr val="000000"/>
              </a:solidFill>
              <a:latin typeface="Cabin"/>
              <a:ea typeface="Cabin"/>
              <a:cs typeface="Cabin"/>
              <a:sym typeface="Cabin"/>
            </a:endParaRPr>
          </a:p>
        </p:txBody>
      </p:sp>
      <p:sp>
        <p:nvSpPr>
          <p:cNvPr id="747" name="Google Shape;747;p109"/>
          <p:cNvSpPr/>
          <p:nvPr/>
        </p:nvSpPr>
        <p:spPr>
          <a:xfrm>
            <a:off x="2483175" y="1869725"/>
            <a:ext cx="3276900" cy="5139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Phạm vi 3 tài chính: </a:t>
            </a:r>
            <a:endParaRPr sz="1100" b="0" i="0" u="none" strike="noStrike" cap="none">
              <a:solidFill>
                <a:srgbClr val="000000"/>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Đã hoàn thành đào tạo cho Phòng Ban/ Chi nhánh và tổ chức lấy dữ liệu trực tuyến</a:t>
            </a:r>
            <a:endParaRPr sz="1100" b="0" i="0" u="none" strike="noStrike" cap="none">
              <a:solidFill>
                <a:srgbClr val="000000"/>
              </a:solidFill>
              <a:latin typeface="Cabin"/>
              <a:ea typeface="Cabin"/>
              <a:cs typeface="Cabin"/>
              <a:sym typeface="Cabin"/>
            </a:endParaRPr>
          </a:p>
        </p:txBody>
      </p:sp>
      <p:sp>
        <p:nvSpPr>
          <p:cNvPr id="748" name="Google Shape;748;p109"/>
          <p:cNvSpPr/>
          <p:nvPr/>
        </p:nvSpPr>
        <p:spPr>
          <a:xfrm>
            <a:off x="2511500" y="2493150"/>
            <a:ext cx="3276900" cy="513900"/>
          </a:xfrm>
          <a:prstGeom prst="flowChartAlternateProcess">
            <a:avLst/>
          </a:prstGeom>
          <a:solidFill>
            <a:srgbClr val="D6EC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Phạm vi 1,2: </a:t>
            </a:r>
            <a:endParaRPr sz="1100" b="0" i="0" u="none" strike="noStrike" cap="none">
              <a:solidFill>
                <a:srgbClr val="000000"/>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Đã hoàn thiện kế hoạch giảm phát thải và bộ công cụ tính toán phát thải khí nhà kính</a:t>
            </a:r>
            <a:endParaRPr sz="1100" b="0" i="0" u="none" strike="noStrike" cap="none">
              <a:solidFill>
                <a:srgbClr val="000000"/>
              </a:solidFill>
              <a:latin typeface="Cabin"/>
              <a:ea typeface="Cabin"/>
              <a:cs typeface="Cabin"/>
              <a:sym typeface="Cabin"/>
            </a:endParaRPr>
          </a:p>
        </p:txBody>
      </p:sp>
      <p:sp>
        <p:nvSpPr>
          <p:cNvPr id="749" name="Google Shape;749;p109"/>
          <p:cNvSpPr/>
          <p:nvPr/>
        </p:nvSpPr>
        <p:spPr>
          <a:xfrm>
            <a:off x="2483175" y="3116575"/>
            <a:ext cx="3276900" cy="513900"/>
          </a:xfrm>
          <a:prstGeom prst="flowChartAlternateProcess">
            <a:avLst/>
          </a:prstGeom>
          <a:solidFill>
            <a:srgbClr val="D6EC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Phạm vi 3 phi tài chính:</a:t>
            </a:r>
            <a:endParaRPr sz="1100" b="0" i="0" u="none" strike="noStrike" cap="none">
              <a:solidFill>
                <a:srgbClr val="000000"/>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Chưa thực hiện kiểm kê nên chưa đề xuất lộ trình</a:t>
            </a:r>
            <a:endParaRPr sz="1100" b="0" i="0" u="none" strike="noStrike" cap="none">
              <a:solidFill>
                <a:srgbClr val="000000"/>
              </a:solidFill>
              <a:latin typeface="Cabin"/>
              <a:ea typeface="Cabin"/>
              <a:cs typeface="Cabin"/>
              <a:sym typeface="Cabin"/>
            </a:endParaRPr>
          </a:p>
        </p:txBody>
      </p:sp>
      <p:sp>
        <p:nvSpPr>
          <p:cNvPr id="750" name="Google Shape;750;p109"/>
          <p:cNvSpPr/>
          <p:nvPr/>
        </p:nvSpPr>
        <p:spPr>
          <a:xfrm>
            <a:off x="2511500" y="3740000"/>
            <a:ext cx="3276900" cy="513900"/>
          </a:xfrm>
          <a:prstGeom prst="flowChartAlternateProcess">
            <a:avLst/>
          </a:prstGeom>
          <a:solidFill>
            <a:srgbClr val="D6EC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Phạm vi 3 tài chính:</a:t>
            </a:r>
            <a:endParaRPr sz="1100" b="0" i="0" u="none" strike="noStrike" cap="none">
              <a:solidFill>
                <a:srgbClr val="000000"/>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Chưa thực hiện kiểm kê nên chưa đề xuất lộ trình</a:t>
            </a:r>
            <a:endParaRPr sz="1100" b="0" i="0" u="none" strike="noStrike" cap="none">
              <a:solidFill>
                <a:srgbClr val="000000"/>
              </a:solidFill>
              <a:latin typeface="Cabin"/>
              <a:ea typeface="Cabin"/>
              <a:cs typeface="Cabin"/>
              <a:sym typeface="Cabin"/>
            </a:endParaRPr>
          </a:p>
        </p:txBody>
      </p:sp>
      <p:sp>
        <p:nvSpPr>
          <p:cNvPr id="751" name="Google Shape;751;p109"/>
          <p:cNvSpPr/>
          <p:nvPr/>
        </p:nvSpPr>
        <p:spPr>
          <a:xfrm>
            <a:off x="5867100" y="1187488"/>
            <a:ext cx="3276900" cy="5727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Phạm vi 3 phi tài chính: </a:t>
            </a:r>
            <a:endParaRPr sz="1100" b="0" i="0" u="none" strike="noStrike" cap="none">
              <a:solidFill>
                <a:srgbClr val="000000"/>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Chưa nhận được kết quả khảo sát. Đã đề xuất lùi thời gian hoàn thiện báo cáo</a:t>
            </a:r>
            <a:endParaRPr sz="1100" b="0" i="0" u="none" strike="noStrike" cap="none">
              <a:solidFill>
                <a:srgbClr val="000000"/>
              </a:solidFill>
              <a:latin typeface="Cabin"/>
              <a:ea typeface="Cabin"/>
              <a:cs typeface="Cabin"/>
              <a:sym typeface="Cabin"/>
            </a:endParaRPr>
          </a:p>
        </p:txBody>
      </p:sp>
      <p:sp>
        <p:nvSpPr>
          <p:cNvPr id="752" name="Google Shape;752;p109"/>
          <p:cNvSpPr/>
          <p:nvPr/>
        </p:nvSpPr>
        <p:spPr>
          <a:xfrm>
            <a:off x="5843225" y="1869725"/>
            <a:ext cx="3276900" cy="5139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Phạm vi 3 tài chính: </a:t>
            </a:r>
            <a:endParaRPr sz="1100" b="0" i="0" u="none" strike="noStrike" cap="none">
              <a:solidFill>
                <a:srgbClr val="000000"/>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Đã gửi lại bộ công cụ kiểm kê về phát thải tài chính cho 3 loại hình tài sản + 3 mã cho vay trọng yếu</a:t>
            </a:r>
            <a:endParaRPr sz="1100" b="0" i="0" u="none" strike="noStrike" cap="none">
              <a:solidFill>
                <a:srgbClr val="000000"/>
              </a:solidFill>
              <a:latin typeface="Cabin"/>
              <a:ea typeface="Cabin"/>
              <a:cs typeface="Cabin"/>
              <a:sym typeface="Cabin"/>
            </a:endParaRPr>
          </a:p>
        </p:txBody>
      </p:sp>
      <p:sp>
        <p:nvSpPr>
          <p:cNvPr id="753" name="Google Shape;753;p109"/>
          <p:cNvSpPr/>
          <p:nvPr/>
        </p:nvSpPr>
        <p:spPr>
          <a:xfrm>
            <a:off x="5871550" y="2493150"/>
            <a:ext cx="3276900" cy="513900"/>
          </a:xfrm>
          <a:prstGeom prst="flowChartAlternateProcess">
            <a:avLst/>
          </a:prstGeom>
          <a:solidFill>
            <a:srgbClr val="D6EC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Phạm vi 1,2: </a:t>
            </a:r>
            <a:endParaRPr sz="1100" b="0" i="0" u="none" strike="noStrike" cap="none">
              <a:solidFill>
                <a:srgbClr val="000000"/>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a:solidFill>
                  <a:schemeClr val="dk1"/>
                </a:solidFill>
                <a:latin typeface="Cabin"/>
                <a:ea typeface="Cabin"/>
                <a:cs typeface="Cabin"/>
                <a:sym typeface="Cabin"/>
              </a:rPr>
              <a:t>Cần đề xuất họp với Ngân hàng để đánh giá </a:t>
            </a:r>
            <a:r>
              <a:rPr lang="en" sz="1100">
                <a:latin typeface="Cabin"/>
                <a:ea typeface="Cabin"/>
                <a:cs typeface="Cabin"/>
                <a:sym typeface="Cabin"/>
              </a:rPr>
              <a:t>tính khả thi của báo cáo</a:t>
            </a:r>
            <a:endParaRPr sz="1100" b="0" i="0" u="none" strike="noStrike" cap="none">
              <a:solidFill>
                <a:srgbClr val="000000"/>
              </a:solidFill>
              <a:latin typeface="Cabin"/>
              <a:ea typeface="Cabin"/>
              <a:cs typeface="Cabin"/>
              <a:sym typeface="Cabin"/>
            </a:endParaRPr>
          </a:p>
        </p:txBody>
      </p:sp>
      <p:sp>
        <p:nvSpPr>
          <p:cNvPr id="754" name="Google Shape;754;p109"/>
          <p:cNvSpPr/>
          <p:nvPr/>
        </p:nvSpPr>
        <p:spPr>
          <a:xfrm>
            <a:off x="5843225" y="3116575"/>
            <a:ext cx="3276900" cy="513900"/>
          </a:xfrm>
          <a:prstGeom prst="flowChartAlternateProcess">
            <a:avLst/>
          </a:prstGeom>
          <a:solidFill>
            <a:srgbClr val="D6EC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Phạm vi 3 phi tài chính:</a:t>
            </a:r>
            <a:endParaRPr sz="1100" b="0" i="0" u="none" strike="noStrike" cap="none">
              <a:solidFill>
                <a:srgbClr val="000000"/>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n" sz="1100">
                <a:latin typeface="Cabin"/>
                <a:ea typeface="Cabin"/>
                <a:cs typeface="Cabin"/>
                <a:sym typeface="Cabin"/>
              </a:rPr>
              <a:t>Cần làm việc với Ngân hàng để sớm hoàn thiện Báo cáo phát thải của phạm vi này</a:t>
            </a:r>
            <a:endParaRPr sz="1100" b="0" i="0" u="none" strike="noStrike" cap="none">
              <a:solidFill>
                <a:srgbClr val="000000"/>
              </a:solidFill>
              <a:latin typeface="Cabin"/>
              <a:ea typeface="Cabin"/>
              <a:cs typeface="Cabin"/>
              <a:sym typeface="Cabin"/>
            </a:endParaRPr>
          </a:p>
        </p:txBody>
      </p:sp>
      <p:sp>
        <p:nvSpPr>
          <p:cNvPr id="755" name="Google Shape;755;p109"/>
          <p:cNvSpPr/>
          <p:nvPr/>
        </p:nvSpPr>
        <p:spPr>
          <a:xfrm>
            <a:off x="5871550" y="3740000"/>
            <a:ext cx="3276900" cy="513900"/>
          </a:xfrm>
          <a:prstGeom prst="flowChartAlternateProcess">
            <a:avLst/>
          </a:prstGeom>
          <a:solidFill>
            <a:srgbClr val="D6EC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Cabin"/>
                <a:ea typeface="Cabin"/>
                <a:cs typeface="Cabin"/>
                <a:sym typeface="Cabin"/>
              </a:rPr>
              <a:t>Phạm vi 3 tài chính:</a:t>
            </a:r>
            <a:endParaRPr sz="1100" b="0" i="0" u="none" strike="noStrike" cap="none">
              <a:solidFill>
                <a:srgbClr val="000000"/>
              </a:solidFill>
              <a:latin typeface="Cabin"/>
              <a:ea typeface="Cabin"/>
              <a:cs typeface="Cabin"/>
              <a:sym typeface="Cabin"/>
            </a:endParaRPr>
          </a:p>
          <a:p>
            <a:pPr marL="0" lvl="0" indent="0" algn="l" rtl="0">
              <a:spcBef>
                <a:spcPts val="0"/>
              </a:spcBef>
              <a:spcAft>
                <a:spcPts val="0"/>
              </a:spcAft>
              <a:buClr>
                <a:schemeClr val="dk1"/>
              </a:buClr>
              <a:buSzPts val="1100"/>
              <a:buFont typeface="Arial"/>
              <a:buNone/>
            </a:pPr>
            <a:r>
              <a:rPr lang="en" sz="1100">
                <a:solidFill>
                  <a:schemeClr val="dk1"/>
                </a:solidFill>
                <a:latin typeface="Cabin"/>
                <a:ea typeface="Cabin"/>
                <a:cs typeface="Cabin"/>
                <a:sym typeface="Cabin"/>
              </a:rPr>
              <a:t>Cần làm việc với Ngân hàng để sớm hoàn thiện Báo cáo phát thải của phạm vi này</a:t>
            </a:r>
            <a:endParaRPr sz="1100" b="0" i="0" u="none" strike="noStrike" cap="none">
              <a:solidFill>
                <a:srgbClr val="000000"/>
              </a:solidFill>
              <a:latin typeface="Cabin"/>
              <a:ea typeface="Cabin"/>
              <a:cs typeface="Cabin"/>
              <a:sym typeface="Cabi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759"/>
        <p:cNvGrpSpPr/>
        <p:nvPr/>
      </p:nvGrpSpPr>
      <p:grpSpPr>
        <a:xfrm>
          <a:off x="0" y="0"/>
          <a:ext cx="0" cy="0"/>
          <a:chOff x="0" y="0"/>
          <a:chExt cx="0" cy="0"/>
        </a:xfrm>
      </p:grpSpPr>
      <p:sp>
        <p:nvSpPr>
          <p:cNvPr id="760" name="Google Shape;760;p110"/>
          <p:cNvSpPr txBox="1">
            <a:spLocks noGrp="1"/>
          </p:cNvSpPr>
          <p:nvPr>
            <p:ph type="title"/>
          </p:nvPr>
        </p:nvSpPr>
        <p:spPr>
          <a:xfrm>
            <a:off x="101292" y="202261"/>
            <a:ext cx="6172200" cy="5067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2700"/>
              <a:buNone/>
            </a:pPr>
            <a:r>
              <a:rPr lang="en" sz="2400">
                <a:solidFill>
                  <a:schemeClr val="lt1"/>
                </a:solidFill>
              </a:rPr>
              <a:t>TCB progress updated</a:t>
            </a:r>
            <a:endParaRPr/>
          </a:p>
        </p:txBody>
      </p:sp>
      <p:pic>
        <p:nvPicPr>
          <p:cNvPr id="761" name="Google Shape;761;p110"/>
          <p:cNvPicPr preferRelativeResize="0"/>
          <p:nvPr/>
        </p:nvPicPr>
        <p:blipFill rotWithShape="1">
          <a:blip r:embed="rId3">
            <a:alphaModFix/>
          </a:blip>
          <a:srcRect/>
          <a:stretch/>
        </p:blipFill>
        <p:spPr>
          <a:xfrm>
            <a:off x="77344" y="1059656"/>
            <a:ext cx="2901319" cy="1634772"/>
          </a:xfrm>
          <a:prstGeom prst="rect">
            <a:avLst/>
          </a:prstGeom>
          <a:noFill/>
          <a:ln>
            <a:noFill/>
          </a:ln>
        </p:spPr>
      </p:pic>
      <p:pic>
        <p:nvPicPr>
          <p:cNvPr id="762" name="Google Shape;762;p110"/>
          <p:cNvPicPr preferRelativeResize="0"/>
          <p:nvPr/>
        </p:nvPicPr>
        <p:blipFill rotWithShape="1">
          <a:blip r:embed="rId4">
            <a:alphaModFix/>
          </a:blip>
          <a:srcRect/>
          <a:stretch/>
        </p:blipFill>
        <p:spPr>
          <a:xfrm>
            <a:off x="3113719" y="1059656"/>
            <a:ext cx="2570400" cy="3304800"/>
          </a:xfrm>
          <a:prstGeom prst="rect">
            <a:avLst/>
          </a:prstGeom>
          <a:noFill/>
          <a:ln>
            <a:noFill/>
          </a:ln>
        </p:spPr>
      </p:pic>
      <p:pic>
        <p:nvPicPr>
          <p:cNvPr id="763" name="Google Shape;763;p110"/>
          <p:cNvPicPr preferRelativeResize="0"/>
          <p:nvPr/>
        </p:nvPicPr>
        <p:blipFill rotWithShape="1">
          <a:blip r:embed="rId5">
            <a:alphaModFix/>
          </a:blip>
          <a:srcRect/>
          <a:stretch/>
        </p:blipFill>
        <p:spPr>
          <a:xfrm>
            <a:off x="98100" y="2732269"/>
            <a:ext cx="2901319" cy="1632193"/>
          </a:xfrm>
          <a:prstGeom prst="rect">
            <a:avLst/>
          </a:prstGeom>
          <a:noFill/>
          <a:ln>
            <a:noFill/>
          </a:ln>
        </p:spPr>
      </p:pic>
      <p:pic>
        <p:nvPicPr>
          <p:cNvPr id="764" name="Google Shape;764;p110"/>
          <p:cNvPicPr preferRelativeResize="0"/>
          <p:nvPr/>
        </p:nvPicPr>
        <p:blipFill rotWithShape="1">
          <a:blip r:embed="rId6">
            <a:alphaModFix/>
          </a:blip>
          <a:srcRect/>
          <a:stretch/>
        </p:blipFill>
        <p:spPr>
          <a:xfrm>
            <a:off x="5761463" y="2762945"/>
            <a:ext cx="3231282" cy="1361339"/>
          </a:xfrm>
          <a:prstGeom prst="rect">
            <a:avLst/>
          </a:prstGeom>
          <a:noFill/>
          <a:ln>
            <a:noFill/>
          </a:ln>
        </p:spPr>
      </p:pic>
      <p:pic>
        <p:nvPicPr>
          <p:cNvPr id="765" name="Google Shape;765;p110"/>
          <p:cNvPicPr preferRelativeResize="0"/>
          <p:nvPr/>
        </p:nvPicPr>
        <p:blipFill rotWithShape="1">
          <a:blip r:embed="rId7">
            <a:alphaModFix/>
          </a:blip>
          <a:srcRect/>
          <a:stretch/>
        </p:blipFill>
        <p:spPr>
          <a:xfrm>
            <a:off x="5798419" y="1059657"/>
            <a:ext cx="2605611" cy="1588987"/>
          </a:xfrm>
          <a:prstGeom prst="rect">
            <a:avLst/>
          </a:prstGeom>
          <a:noFill/>
          <a:ln>
            <a:noFill/>
          </a:ln>
        </p:spPr>
      </p:pic>
      <p:sp>
        <p:nvSpPr>
          <p:cNvPr id="766" name="Google Shape;766;p110"/>
          <p:cNvSpPr txBox="1"/>
          <p:nvPr/>
        </p:nvSpPr>
        <p:spPr>
          <a:xfrm>
            <a:off x="98100" y="4532544"/>
            <a:ext cx="30000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1D7E75"/>
                </a:solidFill>
                <a:latin typeface="Cabin"/>
                <a:ea typeface="Cabin"/>
                <a:cs typeface="Cabin"/>
                <a:sym typeface="Cabin"/>
              </a:rPr>
              <a:t>Báo cáo Kế hoạch giảm phát thải cho Phạm vi 1 và 2: </a:t>
            </a:r>
            <a:r>
              <a:rPr lang="en" sz="1100" b="1">
                <a:solidFill>
                  <a:srgbClr val="1D7E75"/>
                </a:solidFill>
                <a:latin typeface="Cabin"/>
                <a:ea typeface="Cabin"/>
                <a:cs typeface="Cabin"/>
                <a:sym typeface="Cabin"/>
              </a:rPr>
              <a:t>Đã h</a:t>
            </a:r>
            <a:r>
              <a:rPr lang="en" sz="1100" b="1" i="0" u="none" strike="noStrike" cap="none">
                <a:solidFill>
                  <a:srgbClr val="1D7E75"/>
                </a:solidFill>
                <a:latin typeface="Cabin"/>
                <a:ea typeface="Cabin"/>
                <a:cs typeface="Cabin"/>
                <a:sym typeface="Cabin"/>
              </a:rPr>
              <a:t>oàn thiện </a:t>
            </a:r>
            <a:endParaRPr sz="1100" b="1" i="0" u="none" strike="noStrike" cap="none">
              <a:solidFill>
                <a:srgbClr val="1D7E75"/>
              </a:solidFill>
              <a:latin typeface="Cabin"/>
              <a:ea typeface="Cabin"/>
              <a:cs typeface="Cabin"/>
              <a:sym typeface="Cabin"/>
            </a:endParaRPr>
          </a:p>
        </p:txBody>
      </p:sp>
      <p:sp>
        <p:nvSpPr>
          <p:cNvPr id="767" name="Google Shape;767;p110"/>
          <p:cNvSpPr txBox="1"/>
          <p:nvPr/>
        </p:nvSpPr>
        <p:spPr>
          <a:xfrm>
            <a:off x="4426838" y="4532544"/>
            <a:ext cx="30000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1D7E75"/>
                </a:solidFill>
                <a:latin typeface="Cabin"/>
                <a:ea typeface="Cabin"/>
                <a:cs typeface="Cabin"/>
                <a:sym typeface="Cabin"/>
              </a:rPr>
              <a:t>Công cụ thu thập và tổng hợp dữ liệu về kiểm kê KNK cho Phạm vi 1 và 2: </a:t>
            </a:r>
            <a:r>
              <a:rPr lang="en" sz="1100" b="1">
                <a:solidFill>
                  <a:srgbClr val="1D7E75"/>
                </a:solidFill>
                <a:latin typeface="Cabin"/>
                <a:ea typeface="Cabin"/>
                <a:cs typeface="Cabin"/>
                <a:sym typeface="Cabin"/>
              </a:rPr>
              <a:t>Đã h</a:t>
            </a:r>
            <a:r>
              <a:rPr lang="en" sz="1100" b="1" i="0" u="none" strike="noStrike" cap="none">
                <a:solidFill>
                  <a:srgbClr val="1D7E75"/>
                </a:solidFill>
                <a:latin typeface="Cabin"/>
                <a:ea typeface="Cabin"/>
                <a:cs typeface="Cabin"/>
                <a:sym typeface="Cabin"/>
              </a:rPr>
              <a:t>oàn thiện </a:t>
            </a:r>
            <a:endParaRPr sz="1100" b="1" i="0" u="none" strike="noStrike" cap="none">
              <a:solidFill>
                <a:srgbClr val="1D7E75"/>
              </a:solidFill>
              <a:latin typeface="Cabin"/>
              <a:ea typeface="Cabin"/>
              <a:cs typeface="Cabin"/>
              <a:sym typeface="Cabi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Allotrope Partners Simpl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Light">
  <a:themeElements>
    <a:clrScheme name="Simple Light">
      <a:dk1>
        <a:srgbClr val="2F645B"/>
      </a:dk1>
      <a:lt1>
        <a:srgbClr val="FFFFFF"/>
      </a:lt1>
      <a:dk2>
        <a:srgbClr val="595959"/>
      </a:dk2>
      <a:lt2>
        <a:srgbClr val="EEEEEE"/>
      </a:lt2>
      <a:accent1>
        <a:srgbClr val="B5D8D0"/>
      </a:accent1>
      <a:accent2>
        <a:srgbClr val="33716C"/>
      </a:accent2>
      <a:accent3>
        <a:srgbClr val="64B4A3"/>
      </a:accent3>
      <a:accent4>
        <a:srgbClr val="FFAB40"/>
      </a:accent4>
      <a:accent5>
        <a:srgbClr val="33716C"/>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3165</Words>
  <Application>Microsoft Office PowerPoint</Application>
  <PresentationFormat>On-screen Show (16:9)</PresentationFormat>
  <Paragraphs>379</Paragraphs>
  <Slides>25</Slides>
  <Notes>25</Notes>
  <HiddenSlides>10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25</vt:i4>
      </vt:variant>
    </vt:vector>
  </HeadingPairs>
  <TitlesOfParts>
    <vt:vector size="38" baseType="lpstr">
      <vt:lpstr>Verdana</vt:lpstr>
      <vt:lpstr>Calibri</vt:lpstr>
      <vt:lpstr>Cabin</vt:lpstr>
      <vt:lpstr>Arial</vt:lpstr>
      <vt:lpstr>Roboto Thin</vt:lpstr>
      <vt:lpstr>Roboto</vt:lpstr>
      <vt:lpstr>Montserrat</vt:lpstr>
      <vt:lpstr>Cabin Medium</vt:lpstr>
      <vt:lpstr>Simple Light</vt:lpstr>
      <vt:lpstr>Simple Light</vt:lpstr>
      <vt:lpstr>Allotrope Partners Simple</vt:lpstr>
      <vt:lpstr>Simple Light</vt:lpstr>
      <vt:lpstr>Office Theme</vt:lpstr>
      <vt:lpstr>Allotrope Vietnam Progress Update For Tara Greening the Banks &amp; Energy Storage in Vietnam December 2025</vt:lpstr>
      <vt:lpstr>PowerPoint Presentation</vt:lpstr>
      <vt:lpstr>Greening the Banks Vietnam:  Status Update on Outputs </vt:lpstr>
      <vt:lpstr>State-Owned Champion Bank Collaboration:  BIDV Progress Update - Summary  </vt:lpstr>
      <vt:lpstr>State-Owned Champion Bank Collaboration:  BIDV Progress Update - Sustainability Linked Loans</vt:lpstr>
      <vt:lpstr>Commercial Champion Bank Collaboration:  TCB Progress Update - Summary  </vt:lpstr>
      <vt:lpstr>Looking Ahead:  Proposed 2026 GTB Vietnam Activities</vt:lpstr>
      <vt:lpstr>PowerPoint Presentation</vt:lpstr>
      <vt:lpstr>Site Analysis 1:  Emivest: Behind-the-Meter BESS</vt:lpstr>
      <vt:lpstr>Site Analysis 1:  Emivest: Behind-the-Meter BESS</vt:lpstr>
      <vt:lpstr>PowerPoint Presentation</vt:lpstr>
      <vt:lpstr>State-Owned Champion Bank Collaboration:  BIDV Progress Update - Scope 1,2, 3 Non Financed Report and Tool Completed</vt:lpstr>
      <vt:lpstr>State-Owned Champion Bank Collaboration:  BIDV Progress Update - Scope 3 Financed Report and Tool in Progress</vt:lpstr>
      <vt:lpstr>Commercial Champion Bank Collaboration:  TCB Progress Update - Scope 1 and 2 Report and Tool Completed</vt:lpstr>
      <vt:lpstr>Commercial Champion Bank Collaboration:  TCB Progress Update - Scope 3 Financed Report and Tool in Progress </vt:lpstr>
      <vt:lpstr>Looking Ahead:  Proposed 2026 GTB Vietnam Activities</vt:lpstr>
      <vt:lpstr>Questions and Discussion </vt:lpstr>
      <vt:lpstr>State-Owned Champion Bank Collaboration:  BIDV Progress Update - Summary  </vt:lpstr>
      <vt:lpstr>Commercial Champion Bank Collaboration:  TCB Progress Update - Summary   </vt:lpstr>
      <vt:lpstr>Case Study</vt:lpstr>
      <vt:lpstr>Site Analysis 2:  Ninh Sim Solar Farm: Utility-Scale BESS</vt:lpstr>
      <vt:lpstr>BIDV progress updated</vt:lpstr>
      <vt:lpstr>State-Owned Champion Bank Collaboration:  BIDV Progress Assessment - Sustainability Linked Loans</vt:lpstr>
      <vt:lpstr>BIDV Progress Assessment - Financed Emission</vt:lpstr>
      <vt:lpstr>TCB progress updated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Tung Ho</cp:lastModifiedBy>
  <cp:revision>1</cp:revision>
  <dcterms:modified xsi:type="dcterms:W3CDTF">2026-06-08T21:37:31Z</dcterms:modified>
</cp:coreProperties>
</file>