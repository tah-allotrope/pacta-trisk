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0" r:id="rId2"/>
    <p:sldMasterId id="2147483721" r:id="rId3"/>
    <p:sldMasterId id="2147483722" r:id="rId4"/>
    <p:sldMasterId id="2147483723" r:id="rId5"/>
  </p:sldMasterIdLst>
  <p:notesMasterIdLst>
    <p:notesMasterId r:id="rId31"/>
  </p:notesMasterIdLst>
  <p:sldIdLst>
    <p:sldId id="25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0" r:id="rId21"/>
    <p:sldId id="281" r:id="rId22"/>
  </p:sldIdLst>
  <p:sldSz cx="9144000" cy="5143500" type="screen16x9"/>
  <p:notesSz cx="6858000" cy="9144000"/>
  <p:embeddedFontLst>
    <p:embeddedFont>
      <p:font typeface="Cabin" panose="020B0604020202020204" charset="0"/>
      <p:regular r:id="rId32"/>
      <p:bold r:id="rId33"/>
      <p:italic r:id="rId34"/>
      <p:boldItalic r:id="rId35"/>
    </p:embeddedFont>
    <p:embeddedFont>
      <p:font typeface="Cabin Medium" panose="020B060402020202020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Thin" panose="020F0502020204030204" pitchFamily="2" charset="0"/>
      <p:regular r:id="rId48"/>
      <p:bold r:id="rId49"/>
      <p:italic r:id="rId50"/>
      <p:boldItalic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elle Murphy Rogers" initials="" lastIdx="5" clrIdx="0"/>
  <p:cmAuthor id="1" name="Hang Tran" initials="" lastIdx="4" clrIdx="1"/>
  <p:cmAuthor id="2" name="Tung Ho" initials="" lastIdx="5" clrIdx="2"/>
  <p:cmAuthor id="3" name="Hong Anh Le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5FF242-65BD-4BEC-9965-0DD7952A758F}">
  <a:tblStyle styleId="{875FF242-65BD-4BEC-9965-0DD7952A75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0B0612-A9F4-49DA-BEA1-DD1CF77D77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Relationship Id="rId47" Type="http://schemas.openxmlformats.org/officeDocument/2006/relationships/font" Target="fonts/font16.fntdata"/><Relationship Id="rId48" Type="http://schemas.openxmlformats.org/officeDocument/2006/relationships/font" Target="fonts/font17.fntdata"/><Relationship Id="rId49" Type="http://schemas.openxmlformats.org/officeDocument/2006/relationships/font" Target="fonts/font18.fntdata"/><Relationship Id="rId50" Type="http://schemas.openxmlformats.org/officeDocument/2006/relationships/font" Target="fonts/font19.fntdata"/><Relationship Id="rId51" Type="http://schemas.openxmlformats.org/officeDocument/2006/relationships/font" Target="fonts/font20.fntdata"/><Relationship Id="rId52" Type="http://schemas.openxmlformats.org/officeDocument/2006/relationships/font" Target="fonts/font21.fntdata"/><Relationship Id="rId53" Type="http://schemas.openxmlformats.org/officeDocument/2006/relationships/font" Target="fonts/font22.fntdata"/><Relationship Id="rId54" Type="http://schemas.openxmlformats.org/officeDocument/2006/relationships/font" Target="fonts/font23.fntdata"/><Relationship Id="rId55" Type="http://schemas.openxmlformats.org/officeDocument/2006/relationships/font" Target="fonts/font24.fntdata"/><Relationship Id="rId56" Type="http://schemas.openxmlformats.org/officeDocument/2006/relationships/commentAuthors" Target="commentAuthors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5T17:10:50.712" idx="1">
    <p:pos x="6000" y="0"/>
    <p:text>Old version for reference.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7e9bc3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7e9bc3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Cover. Pitch a continuation of the GTB Vietnam engagement: an integrated PACTA + TRISK analytics stack for transition-risk management and Decision 263 compliance. All figures shown are illustrative / synthetic.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f7e9bc34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Walk the arc: problem -&gt; approach -&gt; methods -&gt; case study -&gt; offer.</a:t>
            </a:r>
          </a:p>
        </p:txBody>
      </p:sp>
      <p:sp>
        <p:nvSpPr>
          <p:cNvPr id="416" name="Google Shape;416;g3af7e9bc34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fa97814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fa97814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Four capabilities, one pipeline: measure, align, stress, disclose. Each layer feeds the next; all open-source.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081b3d2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b081b3d2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PACTA answers 'is the portfolio on a Paris-aligned path?' The power tech-mix chart shows coal above and renewables below the PDP8/NDC path. Illustrative / synthetic data.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00ecbda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3b00ecbda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Why now: Decision 263 turns transition risk into a compliance obligation with quotas. Banks need quantification, not just narrative.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081b3d21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b081b3d21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TRISK converts alignment gaps into credit impact: NPV change and PD shift per borrower. Coal names fall hardest; renewables benefit. Illustrative / synthetic data.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7e9bc34a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ask: a phased 6–9 month engagement starting from a loanbook intake. Open-source means no licence lock-in.</a:t>
            </a:r>
          </a:p>
        </p:txBody>
      </p:sp>
      <p:sp>
        <p:nvSpPr>
          <p:cNvPr id="503" name="Google Shape;503;g3af7e9bc34a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f7e9bc34a_0_1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Contact slide. Offer to scope a workshop with the risk and ESG teams.</a:t>
            </a:r>
          </a:p>
        </p:txBody>
      </p:sp>
      <p:sp>
        <p:nvSpPr>
          <p:cNvPr id="511" name="Google Shape;511;g3af7e9bc34a_0_1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f7e9bc34a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f7e9bc34a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Worked example on the synthetic MCB loanbook. The alignment-gap chart ranks technologies by distance from target. Illustrative / synthetic data.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f7e9bc34a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f7e9bc34a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Two views of the same borrowers: priority score and PD change. The point: one-size engagement fails — you need borrower-level data.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00ecbda08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Five takeaways. Land the headline: transition risk is concentrated, measurable and borrower-specific — and this stack makes it auditable.</a:t>
            </a:r>
          </a:p>
        </p:txBody>
      </p:sp>
      <p:sp>
        <p:nvSpPr>
          <p:cNvPr id="538" name="Google Shape;538;g3b00ecbda0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f91d4e0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af91d4e0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Compliance is the strongest 'why now'. The same engine outputs map directly to Decision 263, TCFD and IFRS S2 / ISSB. Synthetic data.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f91d4e09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g3af91d4e09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The dashboard is the leave-behind: bankers explore coverage, alignment and borrower stress interactively. Synthetic demo data.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0af48c93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Concrete next actions, all low-commitment, to keep momentum after the meeting.</a:t>
            </a:r>
          </a:p>
        </p:txBody>
      </p:sp>
      <p:sp>
        <p:nvSpPr>
          <p:cNvPr id="617" name="Google Shape;617;g3b0af48c93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6d8b9fc6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Open the floor. Common questions: data needs, accuracy of synthetic vs. real, timeline, and how outputs map to Decision 263.</a:t>
            </a:r>
          </a:p>
        </p:txBody>
      </p:sp>
      <p:sp>
        <p:nvSpPr>
          <p:cNvPr id="625" name="Google Shape;625;g3a6d8b9fc6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hyperlink" Target="http://www.allotropepartners.com" TargetMode="Externa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>
            <a:spLocks noGrp="1"/>
          </p:cNvSpPr>
          <p:nvPr>
            <p:ph type="pic" idx="2"/>
          </p:nvPr>
        </p:nvSpPr>
        <p:spPr>
          <a:xfrm>
            <a:off x="1007472" y="998492"/>
            <a:ext cx="3146700" cy="314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1"/>
          </p:nvPr>
        </p:nvSpPr>
        <p:spPr>
          <a:xfrm>
            <a:off x="417487" y="981202"/>
            <a:ext cx="8516700" cy="3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649223" y="1347216"/>
            <a:ext cx="2334900" cy="29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2"/>
          </p:nvPr>
        </p:nvSpPr>
        <p:spPr>
          <a:xfrm>
            <a:off x="5518403" y="1243583"/>
            <a:ext cx="2976600" cy="3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bg>
      <p:bgPr>
        <a:solidFill>
          <a:srgbClr val="D6ECE8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/>
        </p:nvSpPr>
        <p:spPr>
          <a:xfrm>
            <a:off x="-94" y="-23756"/>
            <a:ext cx="9144000" cy="975000"/>
          </a:xfrm>
          <a:prstGeom prst="rect">
            <a:avLst/>
          </a:prstGeom>
          <a:solidFill>
            <a:srgbClr val="1D7E7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1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">
    <p:bg>
      <p:bgPr>
        <a:solidFill>
          <a:srgbClr val="D6EC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33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5546" y="333375"/>
            <a:ext cx="9169542" cy="4810125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30" name="Google Shape;130;p33"/>
          <p:cNvSpPr txBox="1"/>
          <p:nvPr/>
        </p:nvSpPr>
        <p:spPr>
          <a:xfrm>
            <a:off x="-25546" y="-5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4490350" cy="1563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267875" y="1563800"/>
            <a:ext cx="7091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Intro Slide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 rotWithShape="1">
          <a:blip r:embed="rId2">
            <a:alphaModFix/>
          </a:blip>
          <a:srcRect l="57610" t="38748" r="15264" b="361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</p:pic>
      <p:sp>
        <p:nvSpPr>
          <p:cNvPr id="136" name="Google Shape;136;p34"/>
          <p:cNvSpPr/>
          <p:nvPr/>
        </p:nvSpPr>
        <p:spPr>
          <a:xfrm>
            <a:off x="856200" y="1239275"/>
            <a:ext cx="7479900" cy="284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9E3"/>
          </a:solidFill>
          <a:ln w="9525" cap="flat" cmpd="sng">
            <a:solidFill>
              <a:srgbClr val="1D7E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18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005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F645B"/>
              </a:solidFill>
            </a:endParaRPr>
          </a:p>
        </p:txBody>
      </p:sp>
      <p:pic>
        <p:nvPicPr>
          <p:cNvPr id="137" name="Google Shape;1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774" y="193175"/>
            <a:ext cx="2094225" cy="72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1347900" y="1555250"/>
            <a:ext cx="64965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3300"/>
              <a:buFont typeface="Cabin"/>
              <a:buNone/>
              <a:defRPr sz="3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1347900" y="2448200"/>
            <a:ext cx="6459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2300"/>
              <a:buFont typeface="Cabin"/>
              <a:buNone/>
              <a:defRPr sz="2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2" name="Google Shape;142;p35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3" name="Google Shape;143;p3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0100" y="78975"/>
            <a:ext cx="1251600" cy="4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49" name="Google Shape;14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6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white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3" name="Google Shape;15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green">
  <p:cSld name="TITLE_ONLY_1">
    <p:bg>
      <p:bgPr>
        <a:solidFill>
          <a:srgbClr val="80CBB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7" name="Google Shape;15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8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light green">
  <p:cSld name="TITLE_ONLY_1_1">
    <p:bg>
      <p:bgPr>
        <a:solidFill>
          <a:srgbClr val="E6F4F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1" name="Google Shape;16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5" name="Google Shape;165;p40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6" name="Google Shape;16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0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1" name="Google Shape;1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2" name="Google Shape;1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12000"/>
              <a:buFont typeface="Cabin"/>
              <a:buNone/>
              <a:defRPr sz="120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">
  <p:cSld name="BLANK_1">
    <p:bg>
      <p:bgPr>
        <a:solidFill>
          <a:srgbClr val="D6ECE8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44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7196" y="332508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80" name="Google Shape;180;p44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842" y="28575"/>
            <a:ext cx="3790703" cy="13291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4"/>
          <p:cNvSpPr/>
          <p:nvPr/>
        </p:nvSpPr>
        <p:spPr>
          <a:xfrm>
            <a:off x="250625" y="1357750"/>
            <a:ext cx="71574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 b="1" u="sng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www.allotropepartners.com</a:t>
            </a:r>
            <a:endParaRPr sz="1900" b="1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3" name="Google Shape;183;p44"/>
          <p:cNvSpPr txBox="1">
            <a:spLocks noGrp="1"/>
          </p:cNvSpPr>
          <p:nvPr>
            <p:ph type="subTitle" idx="1"/>
          </p:nvPr>
        </p:nvSpPr>
        <p:spPr>
          <a:xfrm>
            <a:off x="250625" y="18729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46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92" name="Google Shape;19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 1">
  <p:cSld name="1_Custom Layout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9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49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3">
  <p:cSld name="1_Custom Layout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0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50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1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1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1" name="Google Shape;21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2">
  <p:cSld name="1_Custom Layout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5" name="Google Shape;215;p52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6" name="Google Shape;216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7" name="Google Shape;227;p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4" name="Google Shape;234;p5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5" name="Google Shape;23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8" name="Google Shape;23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2" name="Google Shape;242;p5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5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7" name="Google Shape;24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6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6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6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6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66"/>
          <p:cNvSpPr txBox="1"/>
          <p:nvPr/>
        </p:nvSpPr>
        <p:spPr>
          <a:xfrm>
            <a:off x="0" y="-35175"/>
            <a:ext cx="9180300" cy="709200"/>
          </a:xfrm>
          <a:prstGeom prst="rect">
            <a:avLst/>
          </a:prstGeom>
          <a:solidFill>
            <a:srgbClr val="33716C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3300" y="36394"/>
            <a:ext cx="1530756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6"/>
          <p:cNvSpPr txBox="1">
            <a:spLocks noGrp="1"/>
          </p:cNvSpPr>
          <p:nvPr>
            <p:ph type="title"/>
          </p:nvPr>
        </p:nvSpPr>
        <p:spPr>
          <a:xfrm>
            <a:off x="33469" y="90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0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7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8" name="Google Shape;27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6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6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7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7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7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8" name="Google Shape;308;p7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7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0" name="Google Shape;310;p7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7" name="Google Shape;317;p7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8" name="Google Shape;318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7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7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25" name="Google Shape;325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75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7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7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7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7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 sz="18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3" name="Google Shape;263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4" name="Google Shape;264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5" name="Google Shape;265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tah@allotropepartners.com" TargetMode="External"/><Relationship Id="rId6" Type="http://schemas.openxmlformats.org/officeDocument/2006/relationships/hyperlink" Target="mailto:httt@allotropevc.com" TargetMode="External"/><Relationship Id="rId7" Type="http://schemas.openxmlformats.org/officeDocument/2006/relationships/hyperlink" Target="mailto:chn@allotropevc.com" TargetMode="External"/><Relationship Id="rId8" Type="http://schemas.openxmlformats.org/officeDocument/2006/relationships/hyperlink" Target="mailto:hal@allotropepartner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.png"/><Relationship Id="rId8" Type="http://schemas.openxmlformats.org/officeDocument/2006/relationships/image" Target="../media/image36.png"/><Relationship Id="rId9" Type="http://schemas.openxmlformats.org/officeDocument/2006/relationships/image" Target="../media/image30.png"/><Relationship Id="rId10" Type="http://schemas.openxmlformats.org/officeDocument/2006/relationships/image" Target="../media/image29.png"/><Relationship Id="rId11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77" title="new banana.jpg"/>
          <p:cNvPicPr preferRelativeResize="0"/>
          <p:nvPr/>
        </p:nvPicPr>
        <p:blipFill rotWithShape="1">
          <a:blip r:embed="rId3">
            <a:alphaModFix/>
          </a:blip>
          <a:srcRect l="1038" r="1038"/>
          <a:stretch/>
        </p:blipFill>
        <p:spPr>
          <a:xfrm>
            <a:off x="0" y="2461155"/>
            <a:ext cx="9144003" cy="27464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45" name="Google Shape;345;p77"/>
          <p:cNvSpPr/>
          <p:nvPr/>
        </p:nvSpPr>
        <p:spPr>
          <a:xfrm>
            <a:off x="13" y="0"/>
            <a:ext cx="9143982" cy="3030102"/>
          </a:xfrm>
          <a:prstGeom prst="flowChartDocumen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7"/>
          <p:cNvSpPr txBox="1">
            <a:spLocks noGrp="1"/>
          </p:cNvSpPr>
          <p:nvPr>
            <p:ph type="ctrTitle"/>
          </p:nvPr>
        </p:nvSpPr>
        <p:spPr>
          <a:xfrm>
            <a:off x="0" y="1065375"/>
            <a:ext cx="9144000" cy="133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0F6664"/>
                </a:solidFill>
                <a:latin typeface="Calibri"/>
              </a:rPr>
              <a:t>PACTA + TRISK</a:t>
            </a:r>
            <a:endParaRPr sz="3033" b="1">
              <a:solidFill>
                <a:srgbClr val="11665A"/>
              </a:solidFill>
              <a:latin typeface="Cabin"/>
              <a:ea typeface="Cabin"/>
              <a:cs typeface="Cabin"/>
              <a:sym typeface="Cabin"/>
            </a:endParaRPr>
          </a:p>
          <a:p>
            <a:pPr algn="ctr">
              <a:buNone/>
            </a:pPr>
            <a:r>
              <a:rPr sz="3000" b="1">
                <a:solidFill>
                  <a:srgbClr val="0F6664"/>
                </a:solidFill>
                <a:latin typeface="Calibri"/>
              </a:rPr>
              <a:t>Transition-Risk Analytics for Vietnamese Banks</a:t>
            </a:r>
          </a:p>
        </p:txBody>
      </p:sp>
      <p:pic>
        <p:nvPicPr>
          <p:cNvPr id="347" name="Google Shape;347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87"/>
          <p:cNvPicPr preferRelativeResize="0"/>
          <p:nvPr/>
        </p:nvPicPr>
        <p:blipFill rotWithShape="1">
          <a:blip r:embed="rId3">
            <a:alphaModFix amt="50000"/>
          </a:blip>
          <a:srcRect t="22486" b="19290"/>
          <a:stretch/>
        </p:blipFill>
        <p:spPr>
          <a:xfrm>
            <a:off x="0" y="2148725"/>
            <a:ext cx="9144000" cy="29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7"/>
          <p:cNvSpPr txBox="1"/>
          <p:nvPr/>
        </p:nvSpPr>
        <p:spPr>
          <a:xfrm>
            <a:off x="523150" y="549050"/>
            <a:ext cx="6849600" cy="111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8DC7C1">
                <a:alpha val="5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282828"/>
                </a:solidFill>
                <a:latin typeface="Calibri"/>
              </a:rPr>
              <a:t>Agenda</a:t>
            </a:r>
            <a:endParaRPr sz="2600" b="1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0" name="Google Shape;420;p87"/>
          <p:cNvSpPr txBox="1"/>
          <p:nvPr/>
        </p:nvSpPr>
        <p:spPr>
          <a:xfrm>
            <a:off x="548640" y="1554480"/>
            <a:ext cx="6858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1  The challenge: Decision 263 &amp; transition risk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2  Our solution: a three-layer compliance stack</a:t>
            </a:r>
          </a:p>
          <a:p>
            <a:pPr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3  PACTA portfolio alignment</a:t>
            </a:r>
          </a:p>
          <a:p>
            <a:pPr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4  TRISK borrower stress testing</a:t>
            </a:r>
          </a:p>
          <a:p>
            <a:pPr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5  Vietnam-bank case study &amp; live dashboard</a:t>
            </a:r>
          </a:p>
          <a:p>
            <a:pPr>
              <a:buNone/>
            </a:pPr>
            <a:r>
              <a:rPr sz="1300">
                <a:solidFill>
                  <a:srgbClr val="282828"/>
                </a:solidFill>
                <a:latin typeface="Calibri"/>
              </a:rPr>
              <a:t>6  Engagement offer, roadmap &amp; next steps</a:t>
            </a:r>
          </a:p>
        </p:txBody>
      </p:sp>
      <p:pic>
        <p:nvPicPr>
          <p:cNvPr id="421" name="Google Shape;421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" y="4814100"/>
            <a:ext cx="1109740" cy="3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8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8" name="Google Shape;428;p88"/>
          <p:cNvSpPr txBox="1">
            <a:spLocks noGrp="1"/>
          </p:cNvSpPr>
          <p:nvPr>
            <p:ph type="title"/>
          </p:nvPr>
        </p:nvSpPr>
        <p:spPr>
          <a:xfrm>
            <a:off x="265725" y="11907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Our Solution: A Three-Layer Compliance &amp; Risk Stack</a:t>
            </a:r>
            <a:endParaRPr sz="242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29" name="Google Shape;429;p88"/>
          <p:cNvGraphicFramePr/>
          <p:nvPr/>
        </p:nvGraphicFramePr>
        <p:xfrm>
          <a:off x="422650" y="118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{110B0612-A9F4-49DA-BEA1-DD1CF77D77B9}</a:tableStyleId>
              </a:tblPr>
              <a:tblGrid>
                <a:gridCol w="27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4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00">
                <a:tc rowSpan="2"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Measure</a:t>
                      </a:r>
                    </a:p>
                    <a:p>
                      <a:r>
                        <a:t>&amp; Align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PCAF financed emissions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Scope 1/2/3 inventory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00">
                <a:tc vMerge="1"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PACTA vs PDP8 / NDC / NZE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Technology-share alignment gaps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25">
                <a:tc rowSpan="3"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Stress</a:t>
                      </a:r>
                    </a:p>
                    <a:p>
                      <a:r>
                        <a:t>&amp; Disclose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TRISK borrower stress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NPV &amp; PD impact per borrower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375">
                <a:tc vMerge="1"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IFRS S2 / TCFD reporting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Board-ready disclosure pack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125">
                <a:tc vMerge="1"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Open-source R stack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No licensing fees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30" name="Google Shape;430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9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6" name="Google Shape;436;p89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PACTA: Portfolio Alignment Assessment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7" name="Google Shape;437;p89"/>
          <p:cNvSpPr/>
          <p:nvPr/>
        </p:nvSpPr>
        <p:spPr>
          <a:xfrm>
            <a:off x="65564" y="128486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38" name="Google Shape;438;p89"/>
          <p:cNvSpPr/>
          <p:nvPr/>
        </p:nvSpPr>
        <p:spPr>
          <a:xfrm>
            <a:off x="65564" y="2645178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39" name="Google Shape;439;p89"/>
          <p:cNvSpPr/>
          <p:nvPr/>
        </p:nvSpPr>
        <p:spPr>
          <a:xfrm>
            <a:off x="843533" y="1073764"/>
            <a:ext cx="1662900" cy="12177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Match the loanbook to asset-level company data and compare technology mix against Vietnam's targets.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0" name="Google Shape;440;p89"/>
          <p:cNvSpPr/>
          <p:nvPr/>
        </p:nvSpPr>
        <p:spPr>
          <a:xfrm>
            <a:off x="843525" y="2401050"/>
            <a:ext cx="1662900" cy="2632500"/>
          </a:xfrm>
          <a:prstGeom prst="roundRect">
            <a:avLst>
              <a:gd name="adj" fmla="val 16667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Synthetic MCB portfolio: 43 loans, 25 trillion VND across power, automotive, cement, steel and coal mining.</a:t>
            </a:r>
            <a:endParaRPr b="1">
              <a:solidFill>
                <a:srgbClr val="1D6E6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1" name="Google Shape;441;p89"/>
          <p:cNvSpPr/>
          <p:nvPr/>
        </p:nvSpPr>
        <p:spPr>
          <a:xfrm>
            <a:off x="2778309" y="10953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Market-share method for power &amp; automotive</a:t>
            </a:r>
            <a:endParaRPr sz="1100" b="1"/>
          </a:p>
        </p:txBody>
      </p:sp>
      <p:sp>
        <p:nvSpPr>
          <p:cNvPr id="442" name="Google Shape;442;p89"/>
          <p:cNvSpPr/>
          <p:nvPr/>
        </p:nvSpPr>
        <p:spPr>
          <a:xfrm>
            <a:off x="2778309" y="17776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SDA method for cement &amp; steel intensity</a:t>
            </a:r>
            <a:endParaRPr sz="1100" b="1"/>
          </a:p>
        </p:txBody>
      </p:sp>
      <p:sp>
        <p:nvSpPr>
          <p:cNvPr id="443" name="Google Shape;443;p89"/>
          <p:cNvSpPr/>
          <p:nvPr/>
        </p:nvSpPr>
        <p:spPr>
          <a:xfrm>
            <a:off x="2778309" y="24010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Custom PDP8 scenario from Vietnam's PDP8</a:t>
            </a:r>
            <a:endParaRPr sz="1100" b="1"/>
          </a:p>
        </p:txBody>
      </p:sp>
      <p:sp>
        <p:nvSpPr>
          <p:cNvPr id="444" name="Google Shape;444;p89"/>
          <p:cNvSpPr/>
          <p:nvPr/>
        </p:nvSpPr>
        <p:spPr>
          <a:xfrm>
            <a:off x="2778300" y="30244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Company-level results enable borrower-specific engagement</a:t>
            </a:r>
            <a:endParaRPr sz="1100" b="1"/>
          </a:p>
        </p:txBody>
      </p:sp>
      <p:sp>
        <p:nvSpPr>
          <p:cNvPr id="445" name="Google Shape;445;p89"/>
          <p:cNvSpPr/>
          <p:nvPr/>
        </p:nvSpPr>
        <p:spPr>
          <a:xfrm>
            <a:off x="2778350" y="3902300"/>
            <a:ext cx="27366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Scenario comparison: PDP8 vs IEA NZE vs Vietnam NDC</a:t>
            </a:r>
            <a:endParaRPr sz="1100" b="1"/>
          </a:p>
        </p:txBody>
      </p:sp>
      <p:sp>
        <p:nvSpPr>
          <p:cNvPr id="446" name="Google Shape;446;p89"/>
          <p:cNvSpPr/>
          <p:nvPr/>
        </p:nvSpPr>
        <p:spPr>
          <a:xfrm>
            <a:off x="6032062" y="23902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Open-source R packages — no licensing fees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47" name="Google Shape;447;p89"/>
          <p:cNvSpPr/>
          <p:nvPr/>
        </p:nvSpPr>
        <p:spPr>
          <a:xfrm>
            <a:off x="6032050" y="30137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8" name="Google Shape;448;p89"/>
          <p:cNvSpPr/>
          <p:nvPr/>
        </p:nvSpPr>
        <p:spPr>
          <a:xfrm>
            <a:off x="6032050" y="3891525"/>
            <a:ext cx="28833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9" name="Google Shape;449;p89"/>
          <p:cNvSpPr/>
          <p:nvPr/>
        </p:nvSpPr>
        <p:spPr>
          <a:xfrm>
            <a:off x="2778300" y="4715925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5A5A5A"/>
                </a:solidFill>
                <a:latin typeface="Calibri"/>
              </a:rPr>
              <a:t>Methodology used by 1,500+ institutions globally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50" name="Google Shape;45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9"/>
          <p:cNvSpPr/>
          <p:nvPr/>
        </p:nvSpPr>
        <p:spPr>
          <a:xfrm>
            <a:off x="6031950" y="10737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 b="1">
                <a:solidFill>
                  <a:srgbClr val="B2342C"/>
                </a:solidFill>
                <a:latin typeface="Calibri"/>
              </a:rPr>
              <a:t>Coal 28% above PDP8 target</a:t>
            </a:r>
            <a:endParaRPr sz="1100" b="1"/>
          </a:p>
        </p:txBody>
      </p:sp>
      <p:sp>
        <p:nvSpPr>
          <p:cNvPr id="452" name="Google Shape;452;p89"/>
          <p:cNvSpPr/>
          <p:nvPr/>
        </p:nvSpPr>
        <p:spPr>
          <a:xfrm>
            <a:off x="6031950" y="17560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 b="1">
                <a:solidFill>
                  <a:srgbClr val="B2342C"/>
                </a:solidFill>
                <a:latin typeface="Calibri"/>
              </a:rPr>
              <a:t>Renewables 15% below 2030 trajectory</a:t>
            </a:r>
            <a:endParaRPr sz="1100" b="1"/>
          </a:p>
        </p:txBody>
      </p:sp>
      <p:sp>
        <p:nvSpPr>
          <p:cNvPr id="453" name="Google Shape;453;p89"/>
          <p:cNvSpPr/>
          <p:nvPr/>
        </p:nvSpPr>
        <p:spPr>
          <a:xfrm>
            <a:off x="5607515" y="11862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89"/>
          <p:cNvSpPr/>
          <p:nvPr/>
        </p:nvSpPr>
        <p:spPr>
          <a:xfrm>
            <a:off x="5607515" y="18607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89"/>
          <p:cNvSpPr/>
          <p:nvPr/>
        </p:nvSpPr>
        <p:spPr>
          <a:xfrm>
            <a:off x="5607565" y="24841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89"/>
          <p:cNvSpPr/>
          <p:nvPr/>
        </p:nvSpPr>
        <p:spPr>
          <a:xfrm>
            <a:off x="5607565" y="32373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89"/>
          <p:cNvSpPr/>
          <p:nvPr/>
        </p:nvSpPr>
        <p:spPr>
          <a:xfrm>
            <a:off x="5651290" y="40830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89"/>
          <p:cNvSpPr/>
          <p:nvPr/>
        </p:nvSpPr>
        <p:spPr>
          <a:xfrm>
            <a:off x="5651290" y="47009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89"/>
          <p:cNvSpPr/>
          <p:nvPr/>
        </p:nvSpPr>
        <p:spPr>
          <a:xfrm>
            <a:off x="6032200" y="4715925"/>
            <a:ext cx="28833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5A5A5A"/>
                </a:solidFill>
                <a:latin typeface="Calibri"/>
              </a:rPr>
              <a:t>Time to first results: 1–3 months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60" name="Picture 459" descr="05_vn_power_techm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188720"/>
            <a:ext cx="292608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0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65" name="Google Shape;465;p90"/>
          <p:cNvSpPr txBox="1">
            <a:spLocks noGrp="1"/>
          </p:cNvSpPr>
          <p:nvPr>
            <p:ph type="title"/>
          </p:nvPr>
        </p:nvSpPr>
        <p:spPr>
          <a:xfrm>
            <a:off x="221989" y="155177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The Challenge: Decision 263 &amp; Transition Risk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2" name="Google Shape;472;p90"/>
          <p:cNvSpPr/>
          <p:nvPr/>
        </p:nvSpPr>
        <p:spPr>
          <a:xfrm>
            <a:off x="2387491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Decision 263/QD-TTg mandates GHG quotas for thermal power, steel and cement from 2025. Banks must assess borrower transition risk — but lack tools to quantify portfolio alignment or borrower-level financial stress under Paris-aligned scenarios.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3" name="Google Shape;473;p90"/>
          <p:cNvSpPr/>
          <p:nvPr/>
        </p:nvSpPr>
        <p:spPr>
          <a:xfrm>
            <a:off x="5748450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An integrated analytics stack that measures portfolio alignment with PDP8/NDC targets, quantifies borrower NPV and PD impact under transition scenarios, and produces disclosure-ready outputs for IFRS S2 and TCFD.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4" name="Google Shape;474;p90"/>
          <p:cNvSpPr/>
          <p:nvPr/>
        </p:nvSpPr>
        <p:spPr>
          <a:xfrm>
            <a:off x="2881016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THE CHALLENGE</a:t>
            </a:r>
            <a:endParaRPr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5" name="Google Shape;475;p90"/>
          <p:cNvSpPr/>
          <p:nvPr/>
        </p:nvSpPr>
        <p:spPr>
          <a:xfrm>
            <a:off x="6176700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WHAT BANKS NEED</a:t>
            </a:r>
            <a:endParaRPr sz="11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76" name="Google Shape;476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1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2" name="Google Shape;482;p91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TRISK: Borrower-Level Transition Stress Testing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3" name="Google Shape;483;p91"/>
          <p:cNvSpPr/>
          <p:nvPr/>
        </p:nvSpPr>
        <p:spPr>
          <a:xfrm>
            <a:off x="65564" y="263741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84" name="Google Shape;484;p91"/>
          <p:cNvSpPr/>
          <p:nvPr/>
        </p:nvSpPr>
        <p:spPr>
          <a:xfrm>
            <a:off x="829025" y="1483275"/>
            <a:ext cx="1662900" cy="31662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Quantify each borrower's NPV and PD impact under transition scenarios using DCF and Merton-based credit models.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5" name="Google Shape;485;p91"/>
          <p:cNvSpPr/>
          <p:nvPr/>
        </p:nvSpPr>
        <p:spPr>
          <a:xfrm>
            <a:off x="2748684" y="15048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Power: coal-heavy borrowers −12% to −18% NPV</a:t>
            </a:r>
            <a:endParaRPr sz="1100" b="1"/>
          </a:p>
        </p:txBody>
      </p:sp>
      <p:sp>
        <p:nvSpPr>
          <p:cNvPr id="486" name="Google Shape;486;p91"/>
          <p:cNvSpPr/>
          <p:nvPr/>
        </p:nvSpPr>
        <p:spPr>
          <a:xfrm>
            <a:off x="2748684" y="21871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Cement: BF/BOF mills −8% to −14% NPV</a:t>
            </a:r>
            <a:endParaRPr sz="1100" b="1"/>
          </a:p>
        </p:txBody>
      </p:sp>
      <p:sp>
        <p:nvSpPr>
          <p:cNvPr id="487" name="Google Shape;487;p91"/>
          <p:cNvSpPr/>
          <p:nvPr/>
        </p:nvSpPr>
        <p:spPr>
          <a:xfrm>
            <a:off x="2748684" y="28105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Steel: EAF routes outperform BF/BOF by 6–10pp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88" name="Google Shape;488;p91"/>
          <p:cNvSpPr/>
          <p:nvPr/>
        </p:nvSpPr>
        <p:spPr>
          <a:xfrm>
            <a:off x="2748675" y="34339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Priority ranking: alignment gap + NPV + exposure</a:t>
            </a:r>
            <a:endParaRPr sz="1100" b="1"/>
          </a:p>
        </p:txBody>
      </p:sp>
      <p:sp>
        <p:nvSpPr>
          <p:cNvPr id="489" name="Google Shape;489;p91"/>
          <p:cNvSpPr/>
          <p:nvPr/>
        </p:nvSpPr>
        <p:spPr>
          <a:xfrm>
            <a:off x="6002437" y="27997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Sensitivity: shock year, discount rate, passthrough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0" name="Google Shape;490;p91"/>
          <p:cNvSpPr/>
          <p:nvPr/>
        </p:nvSpPr>
        <p:spPr>
          <a:xfrm>
            <a:off x="6002425" y="34232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Scenario Builder drives five TRISK levers live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1" name="Google Shape;491;p91"/>
          <p:cNvSpPr/>
          <p:nvPr/>
        </p:nvSpPr>
        <p:spPr>
          <a:xfrm>
            <a:off x="2718125" y="4331900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Covers all three Decision 263 sectors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92" name="Google Shape;49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91"/>
          <p:cNvSpPr/>
          <p:nvPr/>
        </p:nvSpPr>
        <p:spPr>
          <a:xfrm>
            <a:off x="6002325" y="14832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Exportable: CSV, HTML reports, dashboard</a:t>
            </a:r>
            <a:endParaRPr sz="1100" b="1"/>
          </a:p>
        </p:txBody>
      </p:sp>
      <p:sp>
        <p:nvSpPr>
          <p:cNvPr id="494" name="Google Shape;494;p91"/>
          <p:cNvSpPr/>
          <p:nvPr/>
        </p:nvSpPr>
        <p:spPr>
          <a:xfrm>
            <a:off x="6002325" y="21655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Results update instantly — no recomputation</a:t>
            </a:r>
            <a:endParaRPr sz="1100" b="1"/>
          </a:p>
        </p:txBody>
      </p:sp>
      <p:sp>
        <p:nvSpPr>
          <p:cNvPr id="495" name="Google Shape;495;p91"/>
          <p:cNvSpPr/>
          <p:nvPr/>
        </p:nvSpPr>
        <p:spPr>
          <a:xfrm>
            <a:off x="5577890" y="15957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1"/>
          <p:cNvSpPr/>
          <p:nvPr/>
        </p:nvSpPr>
        <p:spPr>
          <a:xfrm>
            <a:off x="5577890" y="22702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91"/>
          <p:cNvSpPr/>
          <p:nvPr/>
        </p:nvSpPr>
        <p:spPr>
          <a:xfrm>
            <a:off x="5577940" y="28936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91"/>
          <p:cNvSpPr/>
          <p:nvPr/>
        </p:nvSpPr>
        <p:spPr>
          <a:xfrm>
            <a:off x="5577940" y="36468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91"/>
          <p:cNvSpPr/>
          <p:nvPr/>
        </p:nvSpPr>
        <p:spPr>
          <a:xfrm>
            <a:off x="5577890" y="431690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91"/>
          <p:cNvSpPr/>
          <p:nvPr/>
        </p:nvSpPr>
        <p:spPr>
          <a:xfrm>
            <a:off x="6002325" y="4306125"/>
            <a:ext cx="28551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800">
                <a:solidFill>
                  <a:srgbClr val="5A5A5A"/>
                </a:solidFill>
                <a:latin typeface="Calibri"/>
              </a:rPr>
              <a:t>Open-source R package (trisk.model)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01" name="Picture 500" descr="trisk_power_npv_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417320"/>
            <a:ext cx="297180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2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Engagement Offer &amp; 2026 Roadmap</a:t>
            </a:r>
            <a:endParaRPr sz="2600"/>
          </a:p>
        </p:txBody>
      </p:sp>
      <p:sp>
        <p:nvSpPr>
          <p:cNvPr id="506" name="Google Shape;506;p92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7" name="Google Shape;507;p92"/>
          <p:cNvSpPr txBox="1">
            <a:spLocks noGrp="1"/>
          </p:cNvSpPr>
          <p:nvPr>
            <p:ph type="body" idx="1"/>
          </p:nvPr>
        </p:nvSpPr>
        <p:spPr>
          <a:xfrm>
            <a:off x="319450" y="3076875"/>
            <a:ext cx="83673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Timeline: 6–9 months from data receipt to final deliverables. All analytics are open-source with no licensing fees. We welcome the opportunity to discuss how this stack supports your transition-risk management and Decision 263 compliance.</a:t>
            </a:r>
            <a:endParaRPr sz="1500" b="1"/>
          </a:p>
        </p:txBody>
      </p:sp>
      <p:sp>
        <p:nvSpPr>
          <p:cNvPr id="508" name="Google Shape;508;p92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Phase 1  Data intake &amp; loanbook normalisation (BYOL)</a:t>
            </a:r>
            <a:endParaRPr sz="1500" b="1"/>
          </a:p>
          <a:p>
            <a:pPr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Phase 2  PACTA portfolio alignment on real borrower data</a:t>
            </a:r>
          </a:p>
          <a:p>
            <a:pPr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Phase 3  TRISK stress testing &amp; borrower ranking</a:t>
            </a:r>
          </a:p>
          <a:p>
            <a:pPr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Phase 4  IFRS S2 disclosure pack &amp; board-ready report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CE8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93"/>
          <p:cNvPicPr preferRelativeResize="0"/>
          <p:nvPr/>
        </p:nvPicPr>
        <p:blipFill rotWithShape="1">
          <a:blip r:embed="rId3">
            <a:alphaModFix/>
          </a:blip>
          <a:srcRect t="10929"/>
          <a:stretch/>
        </p:blipFill>
        <p:spPr>
          <a:xfrm>
            <a:off x="-13597" y="389659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514" name="Google Shape;514;p93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00" y="51075"/>
            <a:ext cx="3442424" cy="12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/>
          </a:p>
        </p:txBody>
      </p:sp>
      <p:sp>
        <p:nvSpPr>
          <p:cNvPr id="517" name="Google Shape;517;p93"/>
          <p:cNvSpPr/>
          <p:nvPr/>
        </p:nvSpPr>
        <p:spPr>
          <a:xfrm>
            <a:off x="710600" y="1367926"/>
            <a:ext cx="4989600" cy="2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sz="1500" b="1">
                <a:solidFill>
                  <a:srgbClr val="0F6664"/>
                </a:solidFill>
                <a:latin typeface="Calibri"/>
              </a:rPr>
              <a:t>Tung Ho — tah@allotropepartners.com</a:t>
            </a:r>
            <a:endParaRPr sz="1600" b="1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buNone/>
            </a:pPr>
            <a:r>
              <a:rPr sz="1500" b="1">
                <a:solidFill>
                  <a:srgbClr val="0F6664"/>
                </a:solidFill>
                <a:latin typeface="Calibri"/>
              </a:rPr>
              <a:t>Hang Tran — httt@allotropepartners.com</a:t>
            </a:r>
          </a:p>
          <a:p>
            <a:pPr>
              <a:buNone/>
            </a:pPr>
            <a:r>
              <a:rPr sz="1500" b="1">
                <a:solidFill>
                  <a:srgbClr val="0F6664"/>
                </a:solidFill>
                <a:latin typeface="Calibri"/>
              </a:rPr>
              <a:t>Allotrope VC  |  Greening the Banks Vietnam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4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Case Study: Vietnam-Bank Demo — Power Sector Alignment</a:t>
            </a:r>
            <a:endParaRPr/>
          </a:p>
        </p:txBody>
      </p:sp>
      <p:graphicFrame>
        <p:nvGraphicFramePr>
          <p:cNvPr id="524" name="Google Shape;524;p94"/>
          <p:cNvGraphicFramePr/>
          <p:nvPr/>
        </p:nvGraphicFramePr>
        <p:xfrm>
          <a:off x="93225" y="101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{875FF242-65BD-4BEC-9965-0DD7952A758F}</a:tableStyleId>
              </a:tblPr>
              <a:tblGrid>
                <a:gridCol w="15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43 loans · 25 tn VND (synthetic)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Sectors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Power, cement, steel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Power mix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Coal 28% · Gas 12% · Hydro 10%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Solar 8% · Wind 5%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PDP8 target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Coal phase-down; renewables 3× by 2030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Alignment gap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Coal +28% above; renewables −15% below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PACTA market-share (power)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Scenarios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PDP8 · Vietnam NDC · IEA NZE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Company-level alignment results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82828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Calibri"/>
                        </a:rPr>
                        <a:t>Illustrative / synthetic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25" name="Picture 524" descr="12_vn_alignment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97280"/>
            <a:ext cx="38404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Case Study: TRISK Borrower Stress Rankings</a:t>
            </a:r>
            <a:endParaRPr/>
          </a:p>
        </p:txBody>
      </p:sp>
      <p:sp>
        <p:nvSpPr>
          <p:cNvPr id="533" name="Google Shape;533;p95"/>
          <p:cNvSpPr txBox="1"/>
          <p:nvPr/>
        </p:nvSpPr>
        <p:spPr>
          <a:xfrm>
            <a:off x="2971800" y="4160520"/>
            <a:ext cx="292608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Priority score — top 10 borrowers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4" name="Google Shape;534;p95"/>
          <p:cNvSpPr txBox="1"/>
          <p:nvPr/>
        </p:nvSpPr>
        <p:spPr>
          <a:xfrm>
            <a:off x="5989320" y="4160520"/>
            <a:ext cx="292608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PD change by borrower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5" name="Google Shape;535;p95"/>
          <p:cNvSpPr txBox="1"/>
          <p:nvPr/>
        </p:nvSpPr>
        <p:spPr>
          <a:xfrm>
            <a:off x="58700" y="1098550"/>
            <a:ext cx="27273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65760" lvl="0" indent="-20701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bin"/>
              <a:buChar char="●"/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TRISK ranks borrowers by financial stress under transition scenarios. Coal-heavy names (Vinh Tan, Duyen Hai, Mong Duong) show the steepest NPV decline and PD increase; renewable-focused borrowers (Trung Nam, BIM) gain transition tailwinds.</a:t>
            </a:r>
            <a:endParaRPr sz="11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/>
            </a:r>
          </a:p>
          <a:p>
            <a:pPr>
              <a:buNone/>
            </a:pPr>
            <a:r>
              <a:rPr sz="1000">
                <a:solidFill>
                  <a:srgbClr val="282828"/>
                </a:solidFill>
                <a:latin typeface="Calibri"/>
              </a:rPr>
              <a:t>Illustrative / synthetic data — not actual portfolio results.</a:t>
            </a:r>
          </a:p>
        </p:txBody>
      </p:sp>
      <p:pic>
        <p:nvPicPr>
          <p:cNvPr id="536" name="Picture 535" descr="trisk_power_priority_top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1325880"/>
            <a:ext cx="2926080" cy="1755648"/>
          </a:xfrm>
          <a:prstGeom prst="rect">
            <a:avLst/>
          </a:prstGeom>
        </p:spPr>
      </p:pic>
      <p:pic>
        <p:nvPicPr>
          <p:cNvPr id="537" name="Picture 536" descr="trisk_power_pd_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1325880"/>
            <a:ext cx="292608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6"/>
          <p:cNvSpPr txBox="1"/>
          <p:nvPr/>
        </p:nvSpPr>
        <p:spPr>
          <a:xfrm>
            <a:off x="252328" y="278797"/>
            <a:ext cx="61485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600" b="1">
                <a:solidFill>
                  <a:srgbClr val="FFFFFF"/>
                </a:solidFill>
                <a:latin typeface="Calibri"/>
              </a:rPr>
              <a:t>Case Study: Key Findings &amp; Takeaways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41" name="Google Shape;541;p96"/>
          <p:cNvSpPr/>
          <p:nvPr/>
        </p:nvSpPr>
        <p:spPr>
          <a:xfrm>
            <a:off x="2193925" y="15462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6"/>
          <p:cNvSpPr/>
          <p:nvPr/>
        </p:nvSpPr>
        <p:spPr>
          <a:xfrm>
            <a:off x="252325" y="1546225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6"/>
          <p:cNvSpPr/>
          <p:nvPr/>
        </p:nvSpPr>
        <p:spPr>
          <a:xfrm>
            <a:off x="2014201" y="1556438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6"/>
          <p:cNvSpPr/>
          <p:nvPr/>
        </p:nvSpPr>
        <p:spPr>
          <a:xfrm>
            <a:off x="3776076" y="1554761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6"/>
          <p:cNvSpPr/>
          <p:nvPr/>
        </p:nvSpPr>
        <p:spPr>
          <a:xfrm>
            <a:off x="5537952" y="1564973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6"/>
          <p:cNvSpPr/>
          <p:nvPr/>
        </p:nvSpPr>
        <p:spPr>
          <a:xfrm>
            <a:off x="7299825" y="1551406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6"/>
          <p:cNvSpPr/>
          <p:nvPr/>
        </p:nvSpPr>
        <p:spPr>
          <a:xfrm>
            <a:off x="3779070" y="2282931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16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6"/>
          <p:cNvSpPr/>
          <p:nvPr/>
        </p:nvSpPr>
        <p:spPr>
          <a:xfrm>
            <a:off x="5538260" y="2282931"/>
            <a:ext cx="1650900" cy="2497800"/>
          </a:xfrm>
          <a:prstGeom prst="roundRect">
            <a:avLst>
              <a:gd name="adj" fmla="val 16667"/>
            </a:avLst>
          </a:prstGeom>
          <a:solidFill>
            <a:srgbClr val="1476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96"/>
          <p:cNvSpPr/>
          <p:nvPr/>
        </p:nvSpPr>
        <p:spPr>
          <a:xfrm>
            <a:off x="7299825" y="2275650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198F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96"/>
          <p:cNvSpPr/>
          <p:nvPr/>
        </p:nvSpPr>
        <p:spPr>
          <a:xfrm>
            <a:off x="2017198" y="2282932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05C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6"/>
          <p:cNvSpPr/>
          <p:nvPr/>
        </p:nvSpPr>
        <p:spPr>
          <a:xfrm>
            <a:off x="249350" y="2275651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0C48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6"/>
          <p:cNvSpPr txBox="1"/>
          <p:nvPr/>
        </p:nvSpPr>
        <p:spPr>
          <a:xfrm>
            <a:off x="349245" y="1684316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Coal Stranded Risk</a:t>
            </a:r>
            <a:endParaRPr sz="1400" b="1" i="0" u="none" strike="noStrike" cap="none">
              <a:solidFill>
                <a:srgbClr val="0C483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3" name="Google Shape;553;p96"/>
          <p:cNvSpPr txBox="1"/>
          <p:nvPr/>
        </p:nvSpPr>
        <p:spPr>
          <a:xfrm>
            <a:off x="2131483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Renewables Gap</a:t>
            </a:r>
            <a:endParaRPr sz="1400" b="0" i="0" u="none" strike="noStrike" cap="none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4" name="Google Shape;554;p96"/>
          <p:cNvSpPr txBox="1"/>
          <p:nvPr/>
        </p:nvSpPr>
        <p:spPr>
          <a:xfrm>
            <a:off x="3852751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Borrower Heterogeneity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5" name="Google Shape;555;p96"/>
          <p:cNvSpPr txBox="1"/>
          <p:nvPr/>
        </p:nvSpPr>
        <p:spPr>
          <a:xfrm>
            <a:off x="5577050" y="1708375"/>
            <a:ext cx="155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Decision 263 Readiness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6" name="Google Shape;556;p96"/>
          <p:cNvSpPr txBox="1"/>
          <p:nvPr/>
        </p:nvSpPr>
        <p:spPr>
          <a:xfrm>
            <a:off x="7399896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Calibri"/>
              </a:rPr>
              <a:t>Interactive Exploration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7" name="Google Shape;557;p96"/>
          <p:cNvSpPr txBox="1"/>
          <p:nvPr/>
        </p:nvSpPr>
        <p:spPr>
          <a:xfrm>
            <a:off x="285403" y="2417569"/>
            <a:ext cx="153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FFFFF"/>
                </a:solidFill>
                <a:latin typeface="Calibri"/>
              </a:rPr>
              <a:t>28% of portfolio coal capacity exceeds the PDP8 phase-down trajectory; BOT plants face a cliff after PPA expiry (~2035).</a:t>
            </a:r>
            <a:endParaRPr/>
          </a:p>
        </p:txBody>
      </p:sp>
      <p:sp>
        <p:nvSpPr>
          <p:cNvPr id="558" name="Google Shape;558;p96"/>
          <p:cNvSpPr txBox="1"/>
          <p:nvPr/>
        </p:nvSpPr>
        <p:spPr>
          <a:xfrm>
            <a:off x="2008228" y="2417569"/>
            <a:ext cx="1664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FFFFF"/>
                </a:solidFill>
                <a:latin typeface="Calibri"/>
              </a:rPr>
              <a:t>Renewables buildout is 15% below the 2030 target — solar and wind must roughly triple to align with PDP8.</a:t>
            </a:r>
            <a:endParaRPr/>
          </a:p>
        </p:txBody>
      </p:sp>
      <p:sp>
        <p:nvSpPr>
          <p:cNvPr id="559" name="Google Shape;559;p96"/>
          <p:cNvSpPr txBox="1"/>
          <p:nvPr/>
        </p:nvSpPr>
        <p:spPr>
          <a:xfrm>
            <a:off x="3769064" y="2417569"/>
            <a:ext cx="1655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FFFFF"/>
                </a:solidFill>
                <a:latin typeface="Calibri"/>
              </a:rPr>
              <a:t>NPV impact spans −18% (coal-heavy) to +8% (renewable-focused). Borrower-level data is essential.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0" name="Google Shape;560;p96"/>
          <p:cNvSpPr txBox="1"/>
          <p:nvPr/>
        </p:nvSpPr>
        <p:spPr>
          <a:xfrm>
            <a:off x="5520935" y="2417569"/>
            <a:ext cx="1668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FFFFF"/>
                </a:solidFill>
                <a:latin typeface="Calibri"/>
              </a:rPr>
              <a:t>The PCAF → PACTA → TRISK stack covers all Decision 263 requirements: inventory, quotas and reduction plans.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1" name="Google Shape;561;p96"/>
          <p:cNvSpPr txBox="1"/>
          <p:nvPr/>
        </p:nvSpPr>
        <p:spPr>
          <a:xfrm>
            <a:off x="7270231" y="2417569"/>
            <a:ext cx="1683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FFFFF"/>
                </a:solidFill>
                <a:latin typeface="Calibri"/>
              </a:rPr>
              <a:t>A live dashboard with Scenario Builder lets bank teams explore levers in real time, with HTML and CSV exports.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62" name="Google Shape;56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8345" y="948849"/>
            <a:ext cx="528119" cy="52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4269" y="1038490"/>
            <a:ext cx="449263" cy="44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9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15692" y="1037880"/>
            <a:ext cx="449873" cy="44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9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374" y="1049995"/>
            <a:ext cx="443546" cy="44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9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878" y="1032036"/>
            <a:ext cx="414301" cy="41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2" name="Google Shape;572;p97"/>
          <p:cNvSpPr txBox="1">
            <a:spLocks noGrp="1"/>
          </p:cNvSpPr>
          <p:nvPr>
            <p:ph type="title"/>
          </p:nvPr>
        </p:nvSpPr>
        <p:spPr>
          <a:xfrm>
            <a:off x="323125" y="137300"/>
            <a:ext cx="864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Compliance Value: Decision 263 / TCFD / ISSB</a:t>
            </a:r>
            <a:endParaRPr sz="19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6" name="Google Shape;576;p97"/>
          <p:cNvSpPr txBox="1"/>
          <p:nvPr/>
        </p:nvSpPr>
        <p:spPr>
          <a:xfrm>
            <a:off x="3227750" y="4785375"/>
            <a:ext cx="586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Cement &amp; Steel SDA: emission intensity vs. 2030 NDC targets · synthetic data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7" name="Google Shape;577;p97"/>
          <p:cNvSpPr txBox="1"/>
          <p:nvPr/>
        </p:nvSpPr>
        <p:spPr>
          <a:xfrm>
            <a:off x="61050" y="4785375"/>
            <a:ext cx="30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Coal trajectory vs. PDP8 phase-down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78" name="Google Shape;578;p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Picture 578" descr="06_vn_coal_trajec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1234440"/>
            <a:ext cx="3017520" cy="1810511"/>
          </a:xfrm>
          <a:prstGeom prst="rect">
            <a:avLst/>
          </a:prstGeom>
        </p:spPr>
      </p:pic>
      <p:pic>
        <p:nvPicPr>
          <p:cNvPr id="580" name="Picture 579" descr="10_vn_cement_s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1234440"/>
            <a:ext cx="3063240" cy="1837943"/>
          </a:xfrm>
          <a:prstGeom prst="rect">
            <a:avLst/>
          </a:prstGeom>
        </p:spPr>
      </p:pic>
      <p:pic>
        <p:nvPicPr>
          <p:cNvPr id="581" name="Picture 580" descr="11_vn_steel_sd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1234440"/>
            <a:ext cx="2606040" cy="1563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4" name="Google Shape;584;p98"/>
          <p:cNvSpPr txBox="1">
            <a:spLocks noGrp="1"/>
          </p:cNvSpPr>
          <p:nvPr>
            <p:ph type="title"/>
          </p:nvPr>
        </p:nvSpPr>
        <p:spPr>
          <a:xfrm>
            <a:off x="323150" y="137292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Live Dashboard: Portfolio Analytics at a Glance</a:t>
            </a:r>
            <a:endParaRPr sz="20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9" name="Google Shape;589;p98"/>
          <p:cNvSpPr txBox="1"/>
          <p:nvPr/>
        </p:nvSpPr>
        <p:spPr>
          <a:xfrm>
            <a:off x="61050" y="4785375"/>
            <a:ext cx="30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Coverage &amp; alignment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90" name="Google Shape;590;p98"/>
          <p:cNvSpPr txBox="1"/>
          <p:nvPr/>
        </p:nvSpPr>
        <p:spPr>
          <a:xfrm>
            <a:off x="3261125" y="4785375"/>
            <a:ext cx="321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Borrower NPV impact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91" name="Google Shape;591;p98"/>
          <p:cNvSpPr txBox="1"/>
          <p:nvPr/>
        </p:nvSpPr>
        <p:spPr>
          <a:xfrm>
            <a:off x="6781575" y="4386675"/>
            <a:ext cx="22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A5A5A"/>
                </a:solidFill>
                <a:latin typeface="Calibri"/>
              </a:rPr>
              <a:t>Synthetic data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92" name="Google Shape;592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Picture 592" descr="03_vn_coverage_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" y="1161288"/>
            <a:ext cx="3008376" cy="2578608"/>
          </a:xfrm>
          <a:prstGeom prst="rect">
            <a:avLst/>
          </a:prstGeom>
        </p:spPr>
      </p:pic>
      <p:pic>
        <p:nvPicPr>
          <p:cNvPr id="594" name="Picture 593" descr="12_vn_alignment_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4408" y="1161288"/>
            <a:ext cx="3099816" cy="1808226"/>
          </a:xfrm>
          <a:prstGeom prst="rect">
            <a:avLst/>
          </a:prstGeom>
        </p:spPr>
      </p:pic>
      <p:pic>
        <p:nvPicPr>
          <p:cNvPr id="595" name="Picture 594" descr="trisk_power_npv_chan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1143000"/>
            <a:ext cx="2578608" cy="1547164"/>
          </a:xfrm>
          <a:prstGeom prst="rect">
            <a:avLst/>
          </a:prstGeom>
        </p:spPr>
      </p:pic>
      <p:pic>
        <p:nvPicPr>
          <p:cNvPr id="596" name="Picture 595" descr="trisk_power_pd_chan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2788920"/>
            <a:ext cx="2578608" cy="1547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Calibri"/>
              </a:rPr>
              <a:t>Proposed Next Steps</a:t>
            </a:r>
            <a:endParaRPr sz="2600"/>
          </a:p>
        </p:txBody>
      </p:sp>
      <p:sp>
        <p:nvSpPr>
          <p:cNvPr id="620" name="Google Shape;620;p101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21" name="Google Shape;621;p101"/>
          <p:cNvSpPr txBox="1">
            <a:spLocks noGrp="1"/>
          </p:cNvSpPr>
          <p:nvPr>
            <p:ph type="body" idx="1"/>
          </p:nvPr>
        </p:nvSpPr>
        <p:spPr>
          <a:xfrm>
            <a:off x="319450" y="3076874"/>
            <a:ext cx="86115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100">
                <a:solidFill>
                  <a:srgbClr val="282828"/>
                </a:solidFill>
                <a:latin typeface="Calibri"/>
              </a:rPr>
              <a:t>Ready to begin Phase 1 on receipt of loanbook data. A synthetic demo is available now for internal training.</a:t>
            </a:r>
            <a:endParaRPr sz="1500" b="1"/>
          </a:p>
        </p:txBody>
      </p:sp>
      <p:sp>
        <p:nvSpPr>
          <p:cNvPr id="622" name="Google Shape;622;p101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200">
                <a:solidFill>
                  <a:srgbClr val="282828"/>
                </a:solidFill>
                <a:latin typeface="Calibri"/>
              </a:rPr>
              <a:t>1.  Share the loanbook template for BYOL intake validation</a:t>
            </a:r>
            <a:endParaRPr sz="1500" b="1"/>
          </a:p>
          <a:p>
            <a:pPr>
              <a:buNone/>
            </a:pPr>
            <a:r>
              <a:rPr sz="1200">
                <a:solidFill>
                  <a:srgbClr val="282828"/>
                </a:solidFill>
                <a:latin typeface="Calibri"/>
              </a:rPr>
              <a:t>2.  Identify the Decision 263 borrower subset for priority analysis</a:t>
            </a:r>
          </a:p>
          <a:p>
            <a:pPr>
              <a:buNone/>
            </a:pPr>
            <a:r>
              <a:rPr sz="1200">
                <a:solidFill>
                  <a:srgbClr val="282828"/>
                </a:solidFill>
                <a:latin typeface="Calibri"/>
              </a:rPr>
              <a:t>3.  Schedule a technical workshop with risk &amp; ESG teams</a:t>
            </a:r>
          </a:p>
          <a:p>
            <a:pPr>
              <a:buNone/>
            </a:pPr>
            <a:r>
              <a:rPr sz="1200">
                <a:solidFill>
                  <a:srgbClr val="282828"/>
                </a:solidFill>
                <a:latin typeface="Calibri"/>
              </a:rPr>
              <a:t>4.  Agree scenario preferences (PDP8, NDC, IEA NZE)</a:t>
            </a:r>
          </a:p>
          <a:p>
            <a:pPr>
              <a:buNone/>
            </a:pPr>
            <a:r>
              <a:rPr sz="1200">
                <a:solidFill>
                  <a:srgbClr val="282828"/>
                </a:solidFill>
                <a:latin typeface="Calibri"/>
              </a:rPr>
              <a:t>5.  Align on reporting language &amp; disclosure timeline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>
            <a:spLocks noGrp="1"/>
          </p:cNvSpPr>
          <p:nvPr>
            <p:ph type="title"/>
          </p:nvPr>
        </p:nvSpPr>
        <p:spPr>
          <a:xfrm>
            <a:off x="254800" y="270875"/>
            <a:ext cx="79788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0F6664"/>
                </a:solidFill>
                <a:latin typeface="Calibri"/>
              </a:rPr>
              <a:t>Questions &amp; Discussion</a:t>
            </a:r>
            <a:endParaRPr sz="2600"/>
          </a:p>
        </p:txBody>
      </p:sp>
      <p:sp>
        <p:nvSpPr>
          <p:cNvPr id="628" name="Google Shape;628;p102"/>
          <p:cNvSpPr txBox="1">
            <a:spLocks noGrp="1"/>
          </p:cNvSpPr>
          <p:nvPr>
            <p:ph type="body" idx="1"/>
          </p:nvPr>
        </p:nvSpPr>
        <p:spPr>
          <a:xfrm>
            <a:off x="337325" y="1192326"/>
            <a:ext cx="86115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 sz="1300">
                <a:solidFill>
                  <a:srgbClr val="5A5A5A"/>
                </a:solidFill>
                <a:latin typeface="Calibri"/>
              </a:rPr>
              <a:t>We welcome questions on methodology, data requirements, implementation timeline, or any aspect of the PACTA + TRISK analytics stack.</a:t>
            </a:r>
            <a:endParaRPr sz="15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llotrope Partners Simpl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2F645B"/>
      </a:dk1>
      <a:lt1>
        <a:srgbClr val="FFFFFF"/>
      </a:lt1>
      <a:dk2>
        <a:srgbClr val="595959"/>
      </a:dk2>
      <a:lt2>
        <a:srgbClr val="EEEEEE"/>
      </a:lt2>
      <a:accent1>
        <a:srgbClr val="B5D8D0"/>
      </a:accent1>
      <a:accent2>
        <a:srgbClr val="33716C"/>
      </a:accent2>
      <a:accent3>
        <a:srgbClr val="64B4A3"/>
      </a:accent3>
      <a:accent4>
        <a:srgbClr val="FFAB40"/>
      </a:accent4>
      <a:accent5>
        <a:srgbClr val="33716C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Microsoft Office PowerPoint</Application>
  <PresentationFormat>On-screen Show (16:9)</PresentationFormat>
  <Paragraphs>379</Paragraphs>
  <Slides>25</Slides>
  <Notes>25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Verdana</vt:lpstr>
      <vt:lpstr>Calibri</vt:lpstr>
      <vt:lpstr>Cabin</vt:lpstr>
      <vt:lpstr>Arial</vt:lpstr>
      <vt:lpstr>Roboto Thin</vt:lpstr>
      <vt:lpstr>Roboto</vt:lpstr>
      <vt:lpstr>Montserrat</vt:lpstr>
      <vt:lpstr>Cabin Medium</vt:lpstr>
      <vt:lpstr>Simple Light</vt:lpstr>
      <vt:lpstr>Simple Light</vt:lpstr>
      <vt:lpstr>Allotrope Partners Simple</vt:lpstr>
      <vt:lpstr>Simple Light</vt:lpstr>
      <vt:lpstr>Office Theme</vt:lpstr>
      <vt:lpstr>Allotrope Vietnam Progress Update For Tara Greening the Banks &amp; Energy Storage in Vietnam December 2025</vt:lpstr>
      <vt:lpstr>PowerPoint Presentation</vt:lpstr>
      <vt:lpstr>Greening the Banks Vietnam:  Status Update on Outputs </vt:lpstr>
      <vt:lpstr>State-Owned Champion Bank Collaboration:  BIDV Progress Update - Summary  </vt:lpstr>
      <vt:lpstr>State-Owned Champion Bank Collaboration:  BIDV Progress Update - Sustainability Linked Loans</vt:lpstr>
      <vt:lpstr>Commercial Champion Bank Collaboration:  TCB Progress Update - Summary  </vt:lpstr>
      <vt:lpstr>Looking Ahead:  Proposed 2026 GTB Vietnam Activities</vt:lpstr>
      <vt:lpstr>PowerPoint Presentation</vt:lpstr>
      <vt:lpstr>Site Analysis 1:  Emivest: Behind-the-Meter BESS</vt:lpstr>
      <vt:lpstr>Site Analysis 1:  Emivest: Behind-the-Meter BESS</vt:lpstr>
      <vt:lpstr>PowerPoint Presentation</vt:lpstr>
      <vt:lpstr>State-Owned Champion Bank Collaboration:  BIDV Progress Update - Scope 1,2, 3 Non Financed Report and Tool Completed</vt:lpstr>
      <vt:lpstr>State-Owned Champion Bank Collaboration:  BIDV Progress Update - Scope 3 Financed Report and Tool in Progress</vt:lpstr>
      <vt:lpstr>Commercial Champion Bank Collaboration:  TCB Progress Update - Scope 1 and 2 Report and Tool Completed</vt:lpstr>
      <vt:lpstr>Commercial Champion Bank Collaboration:  TCB Progress Update - Scope 3 Financed Report and Tool in Progress </vt:lpstr>
      <vt:lpstr>Looking Ahead:  Proposed 2026 GTB Vietnam Activities</vt:lpstr>
      <vt:lpstr>Questions and Discussion </vt:lpstr>
      <vt:lpstr>State-Owned Champion Bank Collaboration:  BIDV Progress Update - Summary  </vt:lpstr>
      <vt:lpstr>Commercial Champion Bank Collaboration:  TCB Progress Update - Summary   </vt:lpstr>
      <vt:lpstr>Case Study</vt:lpstr>
      <vt:lpstr>Site Analysis 2:  Ninh Sim Solar Farm: Utility-Scale BESS</vt:lpstr>
      <vt:lpstr>BIDV progress updated</vt:lpstr>
      <vt:lpstr>State-Owned Champion Bank Collaboration:  BIDV Progress Assessment - Sustainability Linked Loans</vt:lpstr>
      <vt:lpstr>BIDV Progress Assessment - Financed Emission</vt:lpstr>
      <vt:lpstr>TCB progress updated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1</cp:revision>
  <dcterms:modified xsi:type="dcterms:W3CDTF">2026-06-08T21:37:31Z</dcterms:modified>
</cp:coreProperties>
</file>